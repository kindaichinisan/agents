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Default Extension="rels" ContentType="application/vnd.openxmlformats-package.relationshi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1" r:id="rId3"/>
    <p:sldId id="272" r:id="rId4"/>
    <p:sldId id="273" r:id="rId5"/>
    <p:sldId id="274" r:id="rId6"/>
    <p:sldId id="275" r:id="rId7"/>
    <p:sldId id="259" r:id="rId8"/>
    <p:sldId id="260" r:id="rId9"/>
    <p:sldId id="261" r:id="rId10"/>
    <p:sldId id="262" r:id="rId11"/>
    <p:sldId id="276" r:id="rId12"/>
    <p:sldId id="277" r:id="rId13"/>
    <p:sldId id="263" r:id="rId14"/>
    <p:sldId id="265" r:id="rId15"/>
    <p:sldId id="266" r:id="rId16"/>
    <p:sldId id="267" r:id="rId17"/>
    <p:sldId id="268" r:id="rId18"/>
    <p:sldId id="269" r:id="rId19"/>
    <p:sldId id="278" r:id="rId20"/>
    <p:sldId id="279" r:id="rId21"/>
    <p:sldId id="280" r:id="rId22"/>
    <p:sldId id="281" r:id="rId23"/>
    <p:sldId id="282" r:id="rId24"/>
    <p:sldId id="283" r:id="rId25"/>
    <p:sldId id="284" r:id="rId26"/>
    <p:sldId id="270" r:id="rId27"/>
    <p:sldId id="285" r:id="rId28"/>
    <p:sldId id="286" r:id="rId29"/>
    <p:sldId id="287" r:id="rId30"/>
    <p:sldId id="288" r:id="rId31"/>
    <p:sldId id="289" r:id="rId32"/>
    <p:sldId id="290" r:id="rId33"/>
    <p:sldId id="291" r:id="rId34"/>
    <p:sldId id="292" r:id="rId35"/>
    <p:sldId id="293" r:id="rId36"/>
    <p:sldId id="264"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9" r:id="rId52"/>
    <p:sldId id="310" r:id="rId53"/>
    <p:sldId id="308" r:id="rId54"/>
    <p:sldId id="311" r:id="rId55"/>
    <p:sldId id="312" r:id="rId56"/>
    <p:sldId id="313" r:id="rId57"/>
    <p:sldId id="314" r:id="rId58"/>
    <p:sldId id="315" r:id="rId59"/>
    <p:sldId id="316" r:id="rId60"/>
    <p:sldId id="317" r:id="rId61"/>
    <p:sldId id="318" r:id="rId62"/>
    <p:sldId id="325" r:id="rId63"/>
    <p:sldId id="319" r:id="rId64"/>
    <p:sldId id="326" r:id="rId65"/>
    <p:sldId id="320" r:id="rId66"/>
    <p:sldId id="321" r:id="rId67"/>
    <p:sldId id="322" r:id="rId68"/>
    <p:sldId id="323" r:id="rId69"/>
    <p:sldId id="324" r:id="rId70"/>
    <p:sldId id="327" r:id="rId71"/>
    <p:sldId id="328" r:id="rId72"/>
    <p:sldId id="329" r:id="rId73"/>
    <p:sldId id="330" r:id="rId74"/>
    <p:sldId id="331" r:id="rId75"/>
    <p:sldId id="332" r:id="rId76"/>
    <p:sldId id="333" r:id="rId77"/>
    <p:sldId id="334" r:id="rId78"/>
    <p:sldId id="335" r:id="rId79"/>
    <p:sldId id="336" r:id="rId80"/>
    <p:sldId id="337" r:id="rId81"/>
    <p:sldId id="338" r:id="rId82"/>
    <p:sldId id="339" r:id="rId83"/>
    <p:sldId id="340" r:id="rId84"/>
    <p:sldId id="341" r:id="rId85"/>
    <p:sldId id="342" r:id="rId86"/>
    <p:sldId id="343" r:id="rId87"/>
    <p:sldId id="344" r:id="rId88"/>
    <p:sldId id="345" r:id="rId89"/>
    <p:sldId id="346" r:id="rId9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987" autoAdjust="0"/>
    <p:restoredTop sz="94660"/>
  </p:normalViewPr>
  <p:slideViewPr>
    <p:cSldViewPr snapToGrid="0">
      <p:cViewPr>
        <p:scale>
          <a:sx n="50" d="100"/>
          <a:sy n="50" d="100"/>
        </p:scale>
        <p:origin x="132" y="-582"/>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5B3E28E-18CE-48AC-B6DC-8A8656CDEDB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xmlns="" id="{2B6A52DD-2FAB-4A70-B6D2-95F094A8B4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xmlns="" id="{04BAD745-F79C-4969-B66B-32EAF85AEB5D}"/>
              </a:ext>
            </a:extLst>
          </p:cNvPr>
          <p:cNvSpPr>
            <a:spLocks noGrp="1"/>
          </p:cNvSpPr>
          <p:nvPr>
            <p:ph type="dt" sz="half" idx="10"/>
          </p:nvPr>
        </p:nvSpPr>
        <p:spPr/>
        <p:txBody>
          <a:bodyPr/>
          <a:lstStyle/>
          <a:p>
            <a:fld id="{C9233E07-AC5D-4A66-9D8F-502DF1D54D74}" type="datetimeFigureOut">
              <a:rPr lang="en-SG" smtClean="0"/>
              <a:pPr/>
              <a:t>10/5/2026</a:t>
            </a:fld>
            <a:endParaRPr lang="en-SG"/>
          </a:p>
        </p:txBody>
      </p:sp>
      <p:sp>
        <p:nvSpPr>
          <p:cNvPr id="5" name="Footer Placeholder 4">
            <a:extLst>
              <a:ext uri="{FF2B5EF4-FFF2-40B4-BE49-F238E27FC236}">
                <a16:creationId xmlns:a16="http://schemas.microsoft.com/office/drawing/2014/main" xmlns="" id="{1C786EE0-F04B-4BBE-8583-F02BC47C4ADC}"/>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xmlns="" id="{9A99FA26-9A64-457F-8D29-D065353FF9F0}"/>
              </a:ext>
            </a:extLst>
          </p:cNvPr>
          <p:cNvSpPr>
            <a:spLocks noGrp="1"/>
          </p:cNvSpPr>
          <p:nvPr>
            <p:ph type="sldNum" sz="quarter" idx="12"/>
          </p:nvPr>
        </p:nvSpPr>
        <p:spPr/>
        <p:txBody>
          <a:bodyPr/>
          <a:lstStyle/>
          <a:p>
            <a:fld id="{9E464D15-4076-4753-9929-926202C46B32}" type="slidenum">
              <a:rPr lang="en-SG" smtClean="0"/>
              <a:pPr/>
              <a:t>‹#›</a:t>
            </a:fld>
            <a:endParaRPr lang="en-SG"/>
          </a:p>
        </p:txBody>
      </p:sp>
    </p:spTree>
    <p:extLst>
      <p:ext uri="{BB962C8B-B14F-4D97-AF65-F5344CB8AC3E}">
        <p14:creationId xmlns:p14="http://schemas.microsoft.com/office/powerpoint/2010/main" xmlns="" val="26679223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55AF50E-259D-4420-9188-F51DD2BAFD70}"/>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xmlns="" id="{A73F7E3F-7470-4510-A780-183E65AC186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xmlns="" id="{A54D4AD1-EA5B-4614-A5E6-D63FC76F3576}"/>
              </a:ext>
            </a:extLst>
          </p:cNvPr>
          <p:cNvSpPr>
            <a:spLocks noGrp="1"/>
          </p:cNvSpPr>
          <p:nvPr>
            <p:ph type="dt" sz="half" idx="10"/>
          </p:nvPr>
        </p:nvSpPr>
        <p:spPr/>
        <p:txBody>
          <a:bodyPr/>
          <a:lstStyle/>
          <a:p>
            <a:fld id="{C9233E07-AC5D-4A66-9D8F-502DF1D54D74}" type="datetimeFigureOut">
              <a:rPr lang="en-SG" smtClean="0"/>
              <a:pPr/>
              <a:t>10/5/2026</a:t>
            </a:fld>
            <a:endParaRPr lang="en-SG"/>
          </a:p>
        </p:txBody>
      </p:sp>
      <p:sp>
        <p:nvSpPr>
          <p:cNvPr id="5" name="Footer Placeholder 4">
            <a:extLst>
              <a:ext uri="{FF2B5EF4-FFF2-40B4-BE49-F238E27FC236}">
                <a16:creationId xmlns:a16="http://schemas.microsoft.com/office/drawing/2014/main" xmlns="" id="{718FB14E-3AD2-47F4-A1D1-E1C9AC988571}"/>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xmlns="" id="{A17876F6-21A2-4792-B530-0A93D3DBC805}"/>
              </a:ext>
            </a:extLst>
          </p:cNvPr>
          <p:cNvSpPr>
            <a:spLocks noGrp="1"/>
          </p:cNvSpPr>
          <p:nvPr>
            <p:ph type="sldNum" sz="quarter" idx="12"/>
          </p:nvPr>
        </p:nvSpPr>
        <p:spPr/>
        <p:txBody>
          <a:bodyPr/>
          <a:lstStyle/>
          <a:p>
            <a:fld id="{9E464D15-4076-4753-9929-926202C46B32}" type="slidenum">
              <a:rPr lang="en-SG" smtClean="0"/>
              <a:pPr/>
              <a:t>‹#›</a:t>
            </a:fld>
            <a:endParaRPr lang="en-SG"/>
          </a:p>
        </p:txBody>
      </p:sp>
    </p:spTree>
    <p:extLst>
      <p:ext uri="{BB962C8B-B14F-4D97-AF65-F5344CB8AC3E}">
        <p14:creationId xmlns:p14="http://schemas.microsoft.com/office/powerpoint/2010/main" xmlns="" val="29934519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6B6865F-0872-4848-9520-4A864C60242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xmlns="" id="{F0AC7D33-E69A-4B17-A1A3-EE468AAB63B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xmlns="" id="{072E0E53-7128-4B7B-A804-96C3DFBB3B3D}"/>
              </a:ext>
            </a:extLst>
          </p:cNvPr>
          <p:cNvSpPr>
            <a:spLocks noGrp="1"/>
          </p:cNvSpPr>
          <p:nvPr>
            <p:ph type="dt" sz="half" idx="10"/>
          </p:nvPr>
        </p:nvSpPr>
        <p:spPr/>
        <p:txBody>
          <a:bodyPr/>
          <a:lstStyle/>
          <a:p>
            <a:fld id="{C9233E07-AC5D-4A66-9D8F-502DF1D54D74}" type="datetimeFigureOut">
              <a:rPr lang="en-SG" smtClean="0"/>
              <a:pPr/>
              <a:t>10/5/2026</a:t>
            </a:fld>
            <a:endParaRPr lang="en-SG"/>
          </a:p>
        </p:txBody>
      </p:sp>
      <p:sp>
        <p:nvSpPr>
          <p:cNvPr id="5" name="Footer Placeholder 4">
            <a:extLst>
              <a:ext uri="{FF2B5EF4-FFF2-40B4-BE49-F238E27FC236}">
                <a16:creationId xmlns:a16="http://schemas.microsoft.com/office/drawing/2014/main" xmlns="" id="{5B6BECC3-1CCF-43E3-958B-064CE362C516}"/>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xmlns="" id="{120A9F1B-A0D5-4299-91F8-A52B32E0FC0F}"/>
              </a:ext>
            </a:extLst>
          </p:cNvPr>
          <p:cNvSpPr>
            <a:spLocks noGrp="1"/>
          </p:cNvSpPr>
          <p:nvPr>
            <p:ph type="sldNum" sz="quarter" idx="12"/>
          </p:nvPr>
        </p:nvSpPr>
        <p:spPr/>
        <p:txBody>
          <a:bodyPr/>
          <a:lstStyle/>
          <a:p>
            <a:fld id="{9E464D15-4076-4753-9929-926202C46B32}" type="slidenum">
              <a:rPr lang="en-SG" smtClean="0"/>
              <a:pPr/>
              <a:t>‹#›</a:t>
            </a:fld>
            <a:endParaRPr lang="en-SG"/>
          </a:p>
        </p:txBody>
      </p:sp>
    </p:spTree>
    <p:extLst>
      <p:ext uri="{BB962C8B-B14F-4D97-AF65-F5344CB8AC3E}">
        <p14:creationId xmlns:p14="http://schemas.microsoft.com/office/powerpoint/2010/main" xmlns="" val="39599360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F9F2B6E-2A11-419C-9C74-50A409504119}"/>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xmlns="" id="{D4E0461F-DECA-4D9E-B39B-D6350255325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xmlns="" id="{ED21C229-1E37-4349-B92D-45D80279648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xmlns="" id="{9CF20FF1-9E73-47C2-841C-37A7861B813B}"/>
              </a:ext>
            </a:extLst>
          </p:cNvPr>
          <p:cNvSpPr>
            <a:spLocks noGrp="1"/>
          </p:cNvSpPr>
          <p:nvPr>
            <p:ph type="dt" sz="half" idx="10"/>
          </p:nvPr>
        </p:nvSpPr>
        <p:spPr/>
        <p:txBody>
          <a:bodyPr/>
          <a:lstStyle/>
          <a:p>
            <a:fld id="{C9233E07-AC5D-4A66-9D8F-502DF1D54D74}" type="datetimeFigureOut">
              <a:rPr lang="en-SG" smtClean="0"/>
              <a:pPr/>
              <a:t>10/5/2026</a:t>
            </a:fld>
            <a:endParaRPr lang="en-SG"/>
          </a:p>
        </p:txBody>
      </p:sp>
      <p:sp>
        <p:nvSpPr>
          <p:cNvPr id="6" name="Footer Placeholder 5">
            <a:extLst>
              <a:ext uri="{FF2B5EF4-FFF2-40B4-BE49-F238E27FC236}">
                <a16:creationId xmlns:a16="http://schemas.microsoft.com/office/drawing/2014/main" xmlns="" id="{2F30EA0D-F4E5-4D2C-A310-EBF53519CA8C}"/>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xmlns="" id="{CF787CF5-3FEA-4D0A-9F31-87D4A8BFAFF3}"/>
              </a:ext>
            </a:extLst>
          </p:cNvPr>
          <p:cNvSpPr>
            <a:spLocks noGrp="1"/>
          </p:cNvSpPr>
          <p:nvPr>
            <p:ph type="sldNum" sz="quarter" idx="12"/>
          </p:nvPr>
        </p:nvSpPr>
        <p:spPr/>
        <p:txBody>
          <a:bodyPr/>
          <a:lstStyle/>
          <a:p>
            <a:fld id="{9E464D15-4076-4753-9929-926202C46B32}" type="slidenum">
              <a:rPr lang="en-SG" smtClean="0"/>
              <a:pPr/>
              <a:t>‹#›</a:t>
            </a:fld>
            <a:endParaRPr lang="en-SG"/>
          </a:p>
        </p:txBody>
      </p:sp>
    </p:spTree>
    <p:extLst>
      <p:ext uri="{BB962C8B-B14F-4D97-AF65-F5344CB8AC3E}">
        <p14:creationId xmlns:p14="http://schemas.microsoft.com/office/powerpoint/2010/main" xmlns="" val="35211831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F64066D-E371-4B98-91E9-0205C29A38D5}"/>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xmlns="" id="{6D291F3E-6BB8-40EA-9642-81AC285756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xmlns="" id="{E3D71627-C43B-41B9-93D1-AC127EDF175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xmlns="" id="{5729F57F-2C4A-426A-B528-A9A6B27490E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xmlns="" id="{108BBCD7-113F-42D8-808C-51BE80459DA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xmlns="" id="{5F58795B-42BC-4C90-9D35-999C22D27263}"/>
              </a:ext>
            </a:extLst>
          </p:cNvPr>
          <p:cNvSpPr>
            <a:spLocks noGrp="1"/>
          </p:cNvSpPr>
          <p:nvPr>
            <p:ph type="dt" sz="half" idx="10"/>
          </p:nvPr>
        </p:nvSpPr>
        <p:spPr/>
        <p:txBody>
          <a:bodyPr/>
          <a:lstStyle/>
          <a:p>
            <a:fld id="{C9233E07-AC5D-4A66-9D8F-502DF1D54D74}" type="datetimeFigureOut">
              <a:rPr lang="en-SG" smtClean="0"/>
              <a:pPr/>
              <a:t>10/5/2026</a:t>
            </a:fld>
            <a:endParaRPr lang="en-SG"/>
          </a:p>
        </p:txBody>
      </p:sp>
      <p:sp>
        <p:nvSpPr>
          <p:cNvPr id="8" name="Footer Placeholder 7">
            <a:extLst>
              <a:ext uri="{FF2B5EF4-FFF2-40B4-BE49-F238E27FC236}">
                <a16:creationId xmlns:a16="http://schemas.microsoft.com/office/drawing/2014/main" xmlns="" id="{861A241B-A482-4DAF-AD71-BA7868572B34}"/>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xmlns="" id="{0C6BBAEC-4E21-45B9-BBFD-9985DE6368B9}"/>
              </a:ext>
            </a:extLst>
          </p:cNvPr>
          <p:cNvSpPr>
            <a:spLocks noGrp="1"/>
          </p:cNvSpPr>
          <p:nvPr>
            <p:ph type="sldNum" sz="quarter" idx="12"/>
          </p:nvPr>
        </p:nvSpPr>
        <p:spPr/>
        <p:txBody>
          <a:bodyPr/>
          <a:lstStyle/>
          <a:p>
            <a:fld id="{9E464D15-4076-4753-9929-926202C46B32}" type="slidenum">
              <a:rPr lang="en-SG" smtClean="0"/>
              <a:pPr/>
              <a:t>‹#›</a:t>
            </a:fld>
            <a:endParaRPr lang="en-SG"/>
          </a:p>
        </p:txBody>
      </p:sp>
    </p:spTree>
    <p:extLst>
      <p:ext uri="{BB962C8B-B14F-4D97-AF65-F5344CB8AC3E}">
        <p14:creationId xmlns:p14="http://schemas.microsoft.com/office/powerpoint/2010/main" xmlns="" val="914358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F449E6-7ECD-49C3-BBCA-72C0674AABB4}"/>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xmlns="" id="{14BF4CAD-2675-48FF-8155-9287FBE772A4}"/>
              </a:ext>
            </a:extLst>
          </p:cNvPr>
          <p:cNvSpPr>
            <a:spLocks noGrp="1"/>
          </p:cNvSpPr>
          <p:nvPr>
            <p:ph type="dt" sz="half" idx="10"/>
          </p:nvPr>
        </p:nvSpPr>
        <p:spPr/>
        <p:txBody>
          <a:bodyPr/>
          <a:lstStyle/>
          <a:p>
            <a:fld id="{C9233E07-AC5D-4A66-9D8F-502DF1D54D74}" type="datetimeFigureOut">
              <a:rPr lang="en-SG" smtClean="0"/>
              <a:pPr/>
              <a:t>10/5/2026</a:t>
            </a:fld>
            <a:endParaRPr lang="en-SG"/>
          </a:p>
        </p:txBody>
      </p:sp>
      <p:sp>
        <p:nvSpPr>
          <p:cNvPr id="4" name="Footer Placeholder 3">
            <a:extLst>
              <a:ext uri="{FF2B5EF4-FFF2-40B4-BE49-F238E27FC236}">
                <a16:creationId xmlns:a16="http://schemas.microsoft.com/office/drawing/2014/main" xmlns="" id="{8FFBF989-35FF-4401-A869-05969EAB717D}"/>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xmlns="" id="{EA4B274A-A165-4443-9574-895CE8597DD6}"/>
              </a:ext>
            </a:extLst>
          </p:cNvPr>
          <p:cNvSpPr>
            <a:spLocks noGrp="1"/>
          </p:cNvSpPr>
          <p:nvPr>
            <p:ph type="sldNum" sz="quarter" idx="12"/>
          </p:nvPr>
        </p:nvSpPr>
        <p:spPr/>
        <p:txBody>
          <a:bodyPr/>
          <a:lstStyle/>
          <a:p>
            <a:fld id="{9E464D15-4076-4753-9929-926202C46B32}" type="slidenum">
              <a:rPr lang="en-SG" smtClean="0"/>
              <a:pPr/>
              <a:t>‹#›</a:t>
            </a:fld>
            <a:endParaRPr lang="en-SG"/>
          </a:p>
        </p:txBody>
      </p:sp>
    </p:spTree>
    <p:extLst>
      <p:ext uri="{BB962C8B-B14F-4D97-AF65-F5344CB8AC3E}">
        <p14:creationId xmlns:p14="http://schemas.microsoft.com/office/powerpoint/2010/main" xmlns="" val="12042352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3636E2EB-85F6-469D-914B-2EDEB5DC10E3}"/>
              </a:ext>
            </a:extLst>
          </p:cNvPr>
          <p:cNvSpPr>
            <a:spLocks noGrp="1"/>
          </p:cNvSpPr>
          <p:nvPr>
            <p:ph type="dt" sz="half" idx="10"/>
          </p:nvPr>
        </p:nvSpPr>
        <p:spPr/>
        <p:txBody>
          <a:bodyPr/>
          <a:lstStyle/>
          <a:p>
            <a:fld id="{C9233E07-AC5D-4A66-9D8F-502DF1D54D74}" type="datetimeFigureOut">
              <a:rPr lang="en-SG" smtClean="0"/>
              <a:pPr/>
              <a:t>10/5/2026</a:t>
            </a:fld>
            <a:endParaRPr lang="en-SG"/>
          </a:p>
        </p:txBody>
      </p:sp>
      <p:sp>
        <p:nvSpPr>
          <p:cNvPr id="3" name="Footer Placeholder 2">
            <a:extLst>
              <a:ext uri="{FF2B5EF4-FFF2-40B4-BE49-F238E27FC236}">
                <a16:creationId xmlns:a16="http://schemas.microsoft.com/office/drawing/2014/main" xmlns="" id="{6871A4C5-FEB3-494D-8286-AFA5B25B8D9D}"/>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xmlns="" id="{C7C7AE82-9387-4C55-89BB-24A45AD5059A}"/>
              </a:ext>
            </a:extLst>
          </p:cNvPr>
          <p:cNvSpPr>
            <a:spLocks noGrp="1"/>
          </p:cNvSpPr>
          <p:nvPr>
            <p:ph type="sldNum" sz="quarter" idx="12"/>
          </p:nvPr>
        </p:nvSpPr>
        <p:spPr/>
        <p:txBody>
          <a:bodyPr/>
          <a:lstStyle/>
          <a:p>
            <a:fld id="{9E464D15-4076-4753-9929-926202C46B32}" type="slidenum">
              <a:rPr lang="en-SG" smtClean="0"/>
              <a:pPr/>
              <a:t>‹#›</a:t>
            </a:fld>
            <a:endParaRPr lang="en-SG"/>
          </a:p>
        </p:txBody>
      </p:sp>
    </p:spTree>
    <p:extLst>
      <p:ext uri="{BB962C8B-B14F-4D97-AF65-F5344CB8AC3E}">
        <p14:creationId xmlns:p14="http://schemas.microsoft.com/office/powerpoint/2010/main" xmlns="" val="3013825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23E936D-8829-4BB8-A867-54E0457C0D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xmlns="" id="{88A3C72F-CEE9-48FB-9F11-D0586F2ED1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xmlns="" id="{C4C40591-FB62-4D16-8640-1C1A1B5E6D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xmlns="" id="{E7838D76-9F15-4280-9050-14326E6BFB07}"/>
              </a:ext>
            </a:extLst>
          </p:cNvPr>
          <p:cNvSpPr>
            <a:spLocks noGrp="1"/>
          </p:cNvSpPr>
          <p:nvPr>
            <p:ph type="dt" sz="half" idx="10"/>
          </p:nvPr>
        </p:nvSpPr>
        <p:spPr/>
        <p:txBody>
          <a:bodyPr/>
          <a:lstStyle/>
          <a:p>
            <a:fld id="{C9233E07-AC5D-4A66-9D8F-502DF1D54D74}" type="datetimeFigureOut">
              <a:rPr lang="en-SG" smtClean="0"/>
              <a:pPr/>
              <a:t>10/5/2026</a:t>
            </a:fld>
            <a:endParaRPr lang="en-SG"/>
          </a:p>
        </p:txBody>
      </p:sp>
      <p:sp>
        <p:nvSpPr>
          <p:cNvPr id="6" name="Footer Placeholder 5">
            <a:extLst>
              <a:ext uri="{FF2B5EF4-FFF2-40B4-BE49-F238E27FC236}">
                <a16:creationId xmlns:a16="http://schemas.microsoft.com/office/drawing/2014/main" xmlns="" id="{76F20088-3883-4889-97AF-802D607B17EE}"/>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xmlns="" id="{0734916A-9F25-4A31-8882-DBF7DB057B3F}"/>
              </a:ext>
            </a:extLst>
          </p:cNvPr>
          <p:cNvSpPr>
            <a:spLocks noGrp="1"/>
          </p:cNvSpPr>
          <p:nvPr>
            <p:ph type="sldNum" sz="quarter" idx="12"/>
          </p:nvPr>
        </p:nvSpPr>
        <p:spPr/>
        <p:txBody>
          <a:bodyPr/>
          <a:lstStyle/>
          <a:p>
            <a:fld id="{9E464D15-4076-4753-9929-926202C46B32}" type="slidenum">
              <a:rPr lang="en-SG" smtClean="0"/>
              <a:pPr/>
              <a:t>‹#›</a:t>
            </a:fld>
            <a:endParaRPr lang="en-SG"/>
          </a:p>
        </p:txBody>
      </p:sp>
    </p:spTree>
    <p:extLst>
      <p:ext uri="{BB962C8B-B14F-4D97-AF65-F5344CB8AC3E}">
        <p14:creationId xmlns:p14="http://schemas.microsoft.com/office/powerpoint/2010/main" xmlns="" val="18825920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B2AB50C-175F-4F42-A189-809867FA96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xmlns="" id="{8E890ACF-AFD2-4AB2-821E-F00C5F31A5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xmlns="" id="{60043709-C786-4B05-99B9-88AEC37D96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xmlns="" id="{D22D6C43-B6F1-408C-8A0F-770601C25F55}"/>
              </a:ext>
            </a:extLst>
          </p:cNvPr>
          <p:cNvSpPr>
            <a:spLocks noGrp="1"/>
          </p:cNvSpPr>
          <p:nvPr>
            <p:ph type="dt" sz="half" idx="10"/>
          </p:nvPr>
        </p:nvSpPr>
        <p:spPr/>
        <p:txBody>
          <a:bodyPr/>
          <a:lstStyle/>
          <a:p>
            <a:fld id="{C9233E07-AC5D-4A66-9D8F-502DF1D54D74}" type="datetimeFigureOut">
              <a:rPr lang="en-SG" smtClean="0"/>
              <a:pPr/>
              <a:t>10/5/2026</a:t>
            </a:fld>
            <a:endParaRPr lang="en-SG"/>
          </a:p>
        </p:txBody>
      </p:sp>
      <p:sp>
        <p:nvSpPr>
          <p:cNvPr id="6" name="Footer Placeholder 5">
            <a:extLst>
              <a:ext uri="{FF2B5EF4-FFF2-40B4-BE49-F238E27FC236}">
                <a16:creationId xmlns:a16="http://schemas.microsoft.com/office/drawing/2014/main" xmlns="" id="{0678BD1D-21CC-4DE7-BEE1-D623B02A553F}"/>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xmlns="" id="{FEA3AE7A-6AFE-4DC8-8036-9C9684DA8273}"/>
              </a:ext>
            </a:extLst>
          </p:cNvPr>
          <p:cNvSpPr>
            <a:spLocks noGrp="1"/>
          </p:cNvSpPr>
          <p:nvPr>
            <p:ph type="sldNum" sz="quarter" idx="12"/>
          </p:nvPr>
        </p:nvSpPr>
        <p:spPr/>
        <p:txBody>
          <a:bodyPr/>
          <a:lstStyle/>
          <a:p>
            <a:fld id="{9E464D15-4076-4753-9929-926202C46B32}" type="slidenum">
              <a:rPr lang="en-SG" smtClean="0"/>
              <a:pPr/>
              <a:t>‹#›</a:t>
            </a:fld>
            <a:endParaRPr lang="en-SG"/>
          </a:p>
        </p:txBody>
      </p:sp>
    </p:spTree>
    <p:extLst>
      <p:ext uri="{BB962C8B-B14F-4D97-AF65-F5344CB8AC3E}">
        <p14:creationId xmlns:p14="http://schemas.microsoft.com/office/powerpoint/2010/main" xmlns="" val="12591846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AAA867B-006D-4CFD-B0EC-6278F9C6F395}"/>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xmlns="" id="{6B68286A-F7B1-4E68-85D2-589B8E6EB3D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xmlns="" id="{0ABE87C5-816E-492F-A0B6-37580D37F936}"/>
              </a:ext>
            </a:extLst>
          </p:cNvPr>
          <p:cNvSpPr>
            <a:spLocks noGrp="1"/>
          </p:cNvSpPr>
          <p:nvPr>
            <p:ph type="dt" sz="half" idx="10"/>
          </p:nvPr>
        </p:nvSpPr>
        <p:spPr/>
        <p:txBody>
          <a:bodyPr/>
          <a:lstStyle/>
          <a:p>
            <a:fld id="{C9233E07-AC5D-4A66-9D8F-502DF1D54D74}" type="datetimeFigureOut">
              <a:rPr lang="en-SG" smtClean="0"/>
              <a:pPr/>
              <a:t>10/5/2026</a:t>
            </a:fld>
            <a:endParaRPr lang="en-SG"/>
          </a:p>
        </p:txBody>
      </p:sp>
      <p:sp>
        <p:nvSpPr>
          <p:cNvPr id="5" name="Footer Placeholder 4">
            <a:extLst>
              <a:ext uri="{FF2B5EF4-FFF2-40B4-BE49-F238E27FC236}">
                <a16:creationId xmlns:a16="http://schemas.microsoft.com/office/drawing/2014/main" xmlns="" id="{CCCB506B-7592-40AA-96EF-65E8E107D9C8}"/>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xmlns="" id="{60B3A27B-7FBB-4800-A8DA-288A2A7FA3B4}"/>
              </a:ext>
            </a:extLst>
          </p:cNvPr>
          <p:cNvSpPr>
            <a:spLocks noGrp="1"/>
          </p:cNvSpPr>
          <p:nvPr>
            <p:ph type="sldNum" sz="quarter" idx="12"/>
          </p:nvPr>
        </p:nvSpPr>
        <p:spPr/>
        <p:txBody>
          <a:bodyPr/>
          <a:lstStyle/>
          <a:p>
            <a:fld id="{9E464D15-4076-4753-9929-926202C46B32}" type="slidenum">
              <a:rPr lang="en-SG" smtClean="0"/>
              <a:pPr/>
              <a:t>‹#›</a:t>
            </a:fld>
            <a:endParaRPr lang="en-SG"/>
          </a:p>
        </p:txBody>
      </p:sp>
    </p:spTree>
    <p:extLst>
      <p:ext uri="{BB962C8B-B14F-4D97-AF65-F5344CB8AC3E}">
        <p14:creationId xmlns:p14="http://schemas.microsoft.com/office/powerpoint/2010/main" xmlns="" val="17899930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E3CAE2E0-E6B1-495D-AC76-5924F353B30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xmlns="" id="{14D381DB-6117-4A94-B30D-F35754825875}"/>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xmlns="" id="{D9F0CC51-792E-4BE0-B368-1BAD7EC3054B}"/>
              </a:ext>
            </a:extLst>
          </p:cNvPr>
          <p:cNvSpPr>
            <a:spLocks noGrp="1"/>
          </p:cNvSpPr>
          <p:nvPr>
            <p:ph type="dt" sz="half" idx="10"/>
          </p:nvPr>
        </p:nvSpPr>
        <p:spPr/>
        <p:txBody>
          <a:bodyPr/>
          <a:lstStyle/>
          <a:p>
            <a:fld id="{C9233E07-AC5D-4A66-9D8F-502DF1D54D74}" type="datetimeFigureOut">
              <a:rPr lang="en-SG" smtClean="0"/>
              <a:pPr/>
              <a:t>10/5/2026</a:t>
            </a:fld>
            <a:endParaRPr lang="en-SG"/>
          </a:p>
        </p:txBody>
      </p:sp>
      <p:sp>
        <p:nvSpPr>
          <p:cNvPr id="5" name="Footer Placeholder 4">
            <a:extLst>
              <a:ext uri="{FF2B5EF4-FFF2-40B4-BE49-F238E27FC236}">
                <a16:creationId xmlns:a16="http://schemas.microsoft.com/office/drawing/2014/main" xmlns="" id="{671D2F8B-58E9-4E4B-BAE5-CFEBD5297B5F}"/>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xmlns="" id="{B7291426-4EDB-4891-B650-32D85684F47B}"/>
              </a:ext>
            </a:extLst>
          </p:cNvPr>
          <p:cNvSpPr>
            <a:spLocks noGrp="1"/>
          </p:cNvSpPr>
          <p:nvPr>
            <p:ph type="sldNum" sz="quarter" idx="12"/>
          </p:nvPr>
        </p:nvSpPr>
        <p:spPr/>
        <p:txBody>
          <a:bodyPr/>
          <a:lstStyle/>
          <a:p>
            <a:fld id="{9E464D15-4076-4753-9929-926202C46B32}" type="slidenum">
              <a:rPr lang="en-SG" smtClean="0"/>
              <a:pPr/>
              <a:t>‹#›</a:t>
            </a:fld>
            <a:endParaRPr lang="en-SG"/>
          </a:p>
        </p:txBody>
      </p:sp>
    </p:spTree>
    <p:extLst>
      <p:ext uri="{BB962C8B-B14F-4D97-AF65-F5344CB8AC3E}">
        <p14:creationId xmlns:p14="http://schemas.microsoft.com/office/powerpoint/2010/main" xmlns="" val="22646616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565E2B54-3CD0-4C6D-91BB-5B801A35BF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xmlns="" id="{7E131115-64CF-40C8-98C8-CCA45F6254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xmlns="" id="{335DEB0A-461F-440E-B604-1DF75527DA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233E07-AC5D-4A66-9D8F-502DF1D54D74}" type="datetimeFigureOut">
              <a:rPr lang="en-SG" smtClean="0"/>
              <a:pPr/>
              <a:t>10/5/2026</a:t>
            </a:fld>
            <a:endParaRPr lang="en-SG"/>
          </a:p>
        </p:txBody>
      </p:sp>
      <p:sp>
        <p:nvSpPr>
          <p:cNvPr id="5" name="Footer Placeholder 4">
            <a:extLst>
              <a:ext uri="{FF2B5EF4-FFF2-40B4-BE49-F238E27FC236}">
                <a16:creationId xmlns:a16="http://schemas.microsoft.com/office/drawing/2014/main" xmlns="" id="{3A0B83EB-4DE8-4EB6-BBCA-61BE02C9F4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a:extLst>
              <a:ext uri="{FF2B5EF4-FFF2-40B4-BE49-F238E27FC236}">
                <a16:creationId xmlns:a16="http://schemas.microsoft.com/office/drawing/2014/main" xmlns="" id="{AF537C43-4A9B-4640-A015-7289708691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464D15-4076-4753-9929-926202C46B32}" type="slidenum">
              <a:rPr lang="en-SG" smtClean="0"/>
              <a:pPr/>
              <a:t>‹#›</a:t>
            </a:fld>
            <a:endParaRPr lang="en-SG"/>
          </a:p>
        </p:txBody>
      </p:sp>
    </p:spTree>
    <p:extLst>
      <p:ext uri="{BB962C8B-B14F-4D97-AF65-F5344CB8AC3E}">
        <p14:creationId xmlns:p14="http://schemas.microsoft.com/office/powerpoint/2010/main" xmlns="" val="32896851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docs.astral.sh/uv/" TargetMode="External"/><Relationship Id="rId2" Type="http://schemas.openxmlformats.org/officeDocument/2006/relationships/hyperlink" Target="https://cursor.com/download"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platform.deepseek.com/api_keys" TargetMode="External"/><Relationship Id="rId2" Type="http://schemas.openxmlformats.org/officeDocument/2006/relationships/hyperlink" Target="https://aistudio.google.com/api-keys?project=test-441309"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http://pushover.net/"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localhost:11434/" TargetMode="Externa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4DF952D-8CBE-44DE-B2A1-0F588A324935}"/>
              </a:ext>
            </a:extLst>
          </p:cNvPr>
          <p:cNvSpPr>
            <a:spLocks noGrp="1"/>
          </p:cNvSpPr>
          <p:nvPr>
            <p:ph type="ctrTitle"/>
          </p:nvPr>
        </p:nvSpPr>
        <p:spPr/>
        <p:txBody>
          <a:bodyPr/>
          <a:lstStyle/>
          <a:p>
            <a:r>
              <a:rPr lang="en-US" dirty="0"/>
              <a:t>AI Engineer Agentic Track</a:t>
            </a:r>
            <a:endParaRPr lang="en-SG" dirty="0"/>
          </a:p>
        </p:txBody>
      </p:sp>
      <p:sp>
        <p:nvSpPr>
          <p:cNvPr id="3" name="Subtitle 2">
            <a:extLst>
              <a:ext uri="{FF2B5EF4-FFF2-40B4-BE49-F238E27FC236}">
                <a16:creationId xmlns:a16="http://schemas.microsoft.com/office/drawing/2014/main" xmlns="" id="{1AA444F2-998C-4660-B8E0-DBD77EAC7996}"/>
              </a:ext>
            </a:extLst>
          </p:cNvPr>
          <p:cNvSpPr>
            <a:spLocks noGrp="1"/>
          </p:cNvSpPr>
          <p:nvPr>
            <p:ph type="subTitle" idx="1"/>
          </p:nvPr>
        </p:nvSpPr>
        <p:spPr/>
        <p:txBody>
          <a:bodyPr/>
          <a:lstStyle/>
          <a:p>
            <a:endParaRPr lang="en-SG"/>
          </a:p>
        </p:txBody>
      </p:sp>
    </p:spTree>
    <p:extLst>
      <p:ext uri="{BB962C8B-B14F-4D97-AF65-F5344CB8AC3E}">
        <p14:creationId xmlns:p14="http://schemas.microsoft.com/office/powerpoint/2010/main" xmlns="" val="3032532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n8n</a:t>
            </a:r>
            <a:endParaRPr lang="en-US" dirty="0"/>
          </a:p>
        </p:txBody>
      </p:sp>
      <p:sp>
        <p:nvSpPr>
          <p:cNvPr id="3" name="Content Placeholder 2"/>
          <p:cNvSpPr>
            <a:spLocks noGrp="1"/>
          </p:cNvSpPr>
          <p:nvPr>
            <p:ph idx="1"/>
          </p:nvPr>
        </p:nvSpPr>
        <p:spPr/>
        <p:txBody>
          <a:bodyPr/>
          <a:lstStyle/>
          <a:p>
            <a:r>
              <a:rPr lang="en-SG" dirty="0" smtClean="0"/>
              <a:t>Open source workflow automation tool</a:t>
            </a:r>
          </a:p>
          <a:p>
            <a:r>
              <a:rPr lang="en-SG" dirty="0" smtClean="0"/>
              <a:t>No code/lo-code</a:t>
            </a:r>
          </a:p>
          <a:p>
            <a:r>
              <a:rPr lang="en-SG" dirty="0" smtClean="0"/>
              <a:t>Agent</a:t>
            </a:r>
          </a:p>
          <a:p>
            <a:pPr lvl="1"/>
            <a:r>
              <a:rPr lang="en-SG" dirty="0" smtClean="0"/>
              <a:t>Chat model (API key)</a:t>
            </a:r>
          </a:p>
          <a:p>
            <a:pPr lvl="2"/>
            <a:r>
              <a:rPr lang="en-SG" dirty="0" smtClean="0"/>
              <a:t>Gpt-4o-mini</a:t>
            </a:r>
          </a:p>
          <a:p>
            <a:pPr lvl="1"/>
            <a:r>
              <a:rPr lang="en-SG" dirty="0" smtClean="0"/>
              <a:t>Tool</a:t>
            </a:r>
          </a:p>
          <a:p>
            <a:pPr lvl="2"/>
            <a:r>
              <a:rPr lang="en-SG" dirty="0" smtClean="0"/>
              <a:t>Philip Hue </a:t>
            </a:r>
            <a:r>
              <a:rPr lang="en-SG" dirty="0" err="1" smtClean="0"/>
              <a:t>lightbulb</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Course intro</a:t>
            </a:r>
            <a:endParaRPr lang="en-US" dirty="0"/>
          </a:p>
        </p:txBody>
      </p:sp>
      <p:sp>
        <p:nvSpPr>
          <p:cNvPr id="3" name="Content Placeholder 2"/>
          <p:cNvSpPr>
            <a:spLocks noGrp="1"/>
          </p:cNvSpPr>
          <p:nvPr>
            <p:ph idx="1"/>
          </p:nvPr>
        </p:nvSpPr>
        <p:spPr/>
        <p:txBody>
          <a:bodyPr/>
          <a:lstStyle/>
          <a:p>
            <a:r>
              <a:rPr lang="en-SG" dirty="0" smtClean="0"/>
              <a:t>Theory</a:t>
            </a:r>
          </a:p>
          <a:p>
            <a:r>
              <a:rPr lang="en-SG" dirty="0" smtClean="0"/>
              <a:t>Frameworks</a:t>
            </a:r>
          </a:p>
          <a:p>
            <a:r>
              <a:rPr lang="en-SG" dirty="0" smtClean="0"/>
              <a:t>Projects</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Lesson Plan</a:t>
            </a:r>
            <a:endParaRPr lang="en-US" dirty="0"/>
          </a:p>
        </p:txBody>
      </p:sp>
      <p:sp>
        <p:nvSpPr>
          <p:cNvPr id="3" name="Content Placeholder 2"/>
          <p:cNvSpPr>
            <a:spLocks noGrp="1"/>
          </p:cNvSpPr>
          <p:nvPr>
            <p:ph idx="1"/>
          </p:nvPr>
        </p:nvSpPr>
        <p:spPr/>
        <p:txBody>
          <a:bodyPr/>
          <a:lstStyle/>
          <a:p>
            <a:r>
              <a:rPr lang="en-SG" dirty="0" smtClean="0"/>
              <a:t>Week1 Foundations</a:t>
            </a:r>
          </a:p>
          <a:p>
            <a:r>
              <a:rPr lang="en-SG" dirty="0" smtClean="0"/>
              <a:t>Week2 </a:t>
            </a:r>
            <a:r>
              <a:rPr lang="en-SG" dirty="0" err="1" smtClean="0"/>
              <a:t>OpenAI</a:t>
            </a:r>
            <a:r>
              <a:rPr lang="en-SG" dirty="0" smtClean="0"/>
              <a:t> Agents SDK</a:t>
            </a:r>
          </a:p>
          <a:p>
            <a:r>
              <a:rPr lang="en-SG" dirty="0" smtClean="0"/>
              <a:t>Week3 Crew AI</a:t>
            </a:r>
          </a:p>
          <a:p>
            <a:r>
              <a:rPr lang="en-SG" dirty="0" smtClean="0"/>
              <a:t>Week4 </a:t>
            </a:r>
            <a:r>
              <a:rPr lang="en-SG" dirty="0" err="1" smtClean="0"/>
              <a:t>LangGraph</a:t>
            </a:r>
            <a:endParaRPr lang="en-SG" dirty="0" smtClean="0"/>
          </a:p>
          <a:p>
            <a:r>
              <a:rPr lang="en-SG" dirty="0" smtClean="0"/>
              <a:t>Week5 MS </a:t>
            </a:r>
            <a:r>
              <a:rPr lang="en-SG" dirty="0" err="1" smtClean="0"/>
              <a:t>AutoGen</a:t>
            </a:r>
            <a:endParaRPr lang="en-SG" dirty="0" smtClean="0"/>
          </a:p>
          <a:p>
            <a:r>
              <a:rPr lang="en-SG" dirty="0" smtClean="0"/>
              <a:t>Week6 MCP</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SG" dirty="0" smtClean="0"/>
              <a:t>Blue box: New</a:t>
            </a:r>
          </a:p>
          <a:p>
            <a:r>
              <a:rPr lang="en-SG" dirty="0" smtClean="0"/>
              <a:t>Yellow: Project</a:t>
            </a:r>
          </a:p>
          <a:p>
            <a:r>
              <a:rPr lang="en-SG" dirty="0" smtClean="0"/>
              <a:t>Bright yellow: Major project</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3CE9E01-EB1A-4CB8-AC8A-A20D0D14182C}"/>
              </a:ext>
            </a:extLst>
          </p:cNvPr>
          <p:cNvSpPr>
            <a:spLocks noGrp="1"/>
          </p:cNvSpPr>
          <p:nvPr>
            <p:ph type="title"/>
          </p:nvPr>
        </p:nvSpPr>
        <p:spPr/>
        <p:txBody>
          <a:bodyPr/>
          <a:lstStyle/>
          <a:p>
            <a:r>
              <a:rPr lang="en-US" dirty="0"/>
              <a:t>For who</a:t>
            </a:r>
            <a:endParaRPr lang="en-SG" dirty="0"/>
          </a:p>
        </p:txBody>
      </p:sp>
      <p:sp>
        <p:nvSpPr>
          <p:cNvPr id="3" name="Content Placeholder 2">
            <a:extLst>
              <a:ext uri="{FF2B5EF4-FFF2-40B4-BE49-F238E27FC236}">
                <a16:creationId xmlns:a16="http://schemas.microsoft.com/office/drawing/2014/main" xmlns="" id="{84D92A84-0FF1-4808-81BF-3058E2244DC5}"/>
              </a:ext>
            </a:extLst>
          </p:cNvPr>
          <p:cNvSpPr>
            <a:spLocks noGrp="1"/>
          </p:cNvSpPr>
          <p:nvPr>
            <p:ph idx="1"/>
          </p:nvPr>
        </p:nvSpPr>
        <p:spPr/>
        <p:txBody>
          <a:bodyPr/>
          <a:lstStyle/>
          <a:p>
            <a:r>
              <a:rPr lang="en-US" dirty="0"/>
              <a:t>Python coder</a:t>
            </a:r>
          </a:p>
          <a:p>
            <a:r>
              <a:rPr lang="en-US" dirty="0"/>
              <a:t>Ai engineer</a:t>
            </a:r>
          </a:p>
          <a:p>
            <a:r>
              <a:rPr lang="en-US" dirty="0"/>
              <a:t>Agent </a:t>
            </a:r>
            <a:r>
              <a:rPr lang="en-US" dirty="0" smtClean="0"/>
              <a:t>engineer</a:t>
            </a:r>
          </a:p>
          <a:p>
            <a:pPr>
              <a:buNone/>
            </a:pPr>
            <a:endParaRPr lang="en-SG" dirty="0" smtClean="0"/>
          </a:p>
          <a:p>
            <a:pPr>
              <a:buNone/>
            </a:pPr>
            <a:r>
              <a:rPr lang="en-SG" dirty="0" smtClean="0"/>
              <a:t>Using </a:t>
            </a:r>
            <a:r>
              <a:rPr lang="en-SG" dirty="0" err="1" smtClean="0"/>
              <a:t>py</a:t>
            </a:r>
            <a:r>
              <a:rPr lang="en-SG" dirty="0" smtClean="0"/>
              <a:t> and </a:t>
            </a:r>
            <a:r>
              <a:rPr lang="en-SG" dirty="0" err="1" smtClean="0"/>
              <a:t>ipynb</a:t>
            </a:r>
            <a:r>
              <a:rPr lang="en-SG" dirty="0" smtClean="0"/>
              <a:t> in this course</a:t>
            </a:r>
            <a:endParaRPr lang="en-US" dirty="0"/>
          </a:p>
          <a:p>
            <a:endParaRPr lang="en-US" dirty="0"/>
          </a:p>
          <a:p>
            <a:pPr marL="0" indent="0">
              <a:buNone/>
            </a:pPr>
            <a:r>
              <a:rPr lang="en-US" dirty="0"/>
              <a:t>Can take LLM engineering course</a:t>
            </a:r>
            <a:endParaRPr lang="en-SG" dirty="0"/>
          </a:p>
        </p:txBody>
      </p:sp>
    </p:spTree>
    <p:extLst>
      <p:ext uri="{BB962C8B-B14F-4D97-AF65-F5344CB8AC3E}">
        <p14:creationId xmlns:p14="http://schemas.microsoft.com/office/powerpoint/2010/main" xmlns="" val="7746290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FF0256A-0B1A-4081-911D-42235E9E03A1}"/>
              </a:ext>
            </a:extLst>
          </p:cNvPr>
          <p:cNvSpPr>
            <a:spLocks noGrp="1"/>
          </p:cNvSpPr>
          <p:nvPr>
            <p:ph type="title"/>
          </p:nvPr>
        </p:nvSpPr>
        <p:spPr/>
        <p:txBody>
          <a:bodyPr/>
          <a:lstStyle/>
          <a:p>
            <a:r>
              <a:rPr lang="en-US" dirty="0"/>
              <a:t>Tools</a:t>
            </a:r>
            <a:endParaRPr lang="en-SG" dirty="0"/>
          </a:p>
        </p:txBody>
      </p:sp>
      <p:sp>
        <p:nvSpPr>
          <p:cNvPr id="3" name="Content Placeholder 2">
            <a:extLst>
              <a:ext uri="{FF2B5EF4-FFF2-40B4-BE49-F238E27FC236}">
                <a16:creationId xmlns:a16="http://schemas.microsoft.com/office/drawing/2014/main" xmlns="" id="{9EAC19C5-838A-474B-A502-EABC580DB223}"/>
              </a:ext>
            </a:extLst>
          </p:cNvPr>
          <p:cNvSpPr>
            <a:spLocks noGrp="1"/>
          </p:cNvSpPr>
          <p:nvPr>
            <p:ph idx="1"/>
          </p:nvPr>
        </p:nvSpPr>
        <p:spPr/>
        <p:txBody>
          <a:bodyPr/>
          <a:lstStyle/>
          <a:p>
            <a:r>
              <a:rPr lang="en-US" dirty="0"/>
              <a:t>Cursor is AI platform powered by </a:t>
            </a:r>
            <a:r>
              <a:rPr lang="en-US" dirty="0" smtClean="0"/>
              <a:t>LLM</a:t>
            </a:r>
          </a:p>
          <a:p>
            <a:pPr lvl="1"/>
            <a:r>
              <a:rPr lang="en-SG" dirty="0" smtClean="0"/>
              <a:t>Build on top of </a:t>
            </a:r>
            <a:r>
              <a:rPr lang="en-SG" dirty="0" err="1" smtClean="0"/>
              <a:t>VSCode</a:t>
            </a:r>
            <a:endParaRPr lang="en-SG" dirty="0" smtClean="0"/>
          </a:p>
          <a:p>
            <a:pPr lvl="1"/>
            <a:r>
              <a:rPr lang="en-SG" dirty="0" smtClean="0"/>
              <a:t>AI features</a:t>
            </a:r>
            <a:endParaRPr lang="en-US" dirty="0"/>
          </a:p>
          <a:p>
            <a:r>
              <a:rPr lang="en-US" dirty="0" smtClean="0"/>
              <a:t>UV</a:t>
            </a:r>
          </a:p>
          <a:p>
            <a:pPr lvl="1"/>
            <a:r>
              <a:rPr lang="en-SG" dirty="0" err="1" smtClean="0"/>
              <a:t>CrewAI</a:t>
            </a:r>
            <a:r>
              <a:rPr lang="en-SG" dirty="0" smtClean="0"/>
              <a:t> is built on UV</a:t>
            </a:r>
            <a:endParaRPr lang="en-SG" dirty="0"/>
          </a:p>
        </p:txBody>
      </p:sp>
    </p:spTree>
    <p:extLst>
      <p:ext uri="{BB962C8B-B14F-4D97-AF65-F5344CB8AC3E}">
        <p14:creationId xmlns:p14="http://schemas.microsoft.com/office/powerpoint/2010/main" xmlns="" val="34916951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3D7ADA-595E-423D-A86D-6F06E6DECF43}"/>
              </a:ext>
            </a:extLst>
          </p:cNvPr>
          <p:cNvSpPr>
            <a:spLocks noGrp="1"/>
          </p:cNvSpPr>
          <p:nvPr>
            <p:ph type="title"/>
          </p:nvPr>
        </p:nvSpPr>
        <p:spPr/>
        <p:txBody>
          <a:bodyPr/>
          <a:lstStyle/>
          <a:p>
            <a:r>
              <a:rPr lang="en-US" dirty="0"/>
              <a:t>API cost</a:t>
            </a:r>
            <a:endParaRPr lang="en-SG" dirty="0"/>
          </a:p>
        </p:txBody>
      </p:sp>
      <p:sp>
        <p:nvSpPr>
          <p:cNvPr id="3" name="Content Placeholder 2">
            <a:extLst>
              <a:ext uri="{FF2B5EF4-FFF2-40B4-BE49-F238E27FC236}">
                <a16:creationId xmlns:a16="http://schemas.microsoft.com/office/drawing/2014/main" xmlns="" id="{781F4E2E-B83A-4464-915E-BEFF38D8A329}"/>
              </a:ext>
            </a:extLst>
          </p:cNvPr>
          <p:cNvSpPr>
            <a:spLocks noGrp="1"/>
          </p:cNvSpPr>
          <p:nvPr>
            <p:ph idx="1"/>
          </p:nvPr>
        </p:nvSpPr>
        <p:spPr/>
        <p:txBody>
          <a:bodyPr/>
          <a:lstStyle/>
          <a:p>
            <a:r>
              <a:rPr lang="en-US" dirty="0" err="1"/>
              <a:t>Deepseek</a:t>
            </a:r>
            <a:r>
              <a:rPr lang="en-US" dirty="0"/>
              <a:t> lower cost than </a:t>
            </a:r>
            <a:r>
              <a:rPr lang="en-US" dirty="0" err="1"/>
              <a:t>OpenAI</a:t>
            </a:r>
            <a:endParaRPr lang="en-US" dirty="0"/>
          </a:p>
          <a:p>
            <a:r>
              <a:rPr lang="en-US" dirty="0" err="1"/>
              <a:t>Ollama</a:t>
            </a:r>
            <a:r>
              <a:rPr lang="en-US" dirty="0"/>
              <a:t> for 0 cost but with trade-offs</a:t>
            </a:r>
          </a:p>
          <a:p>
            <a:r>
              <a:rPr lang="en-US" dirty="0"/>
              <a:t>For this course, &lt; $25.</a:t>
            </a:r>
          </a:p>
          <a:p>
            <a:r>
              <a:rPr lang="en-US" dirty="0"/>
              <a:t>Cost is actually quite low comparing the need to maintain the hardware.</a:t>
            </a:r>
            <a:endParaRPr lang="en-SG" dirty="0"/>
          </a:p>
        </p:txBody>
      </p:sp>
    </p:spTree>
    <p:extLst>
      <p:ext uri="{BB962C8B-B14F-4D97-AF65-F5344CB8AC3E}">
        <p14:creationId xmlns:p14="http://schemas.microsoft.com/office/powerpoint/2010/main" xmlns="" val="2974420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45983A-AE9C-4F80-BAD5-C87458E8EF08}"/>
              </a:ext>
            </a:extLst>
          </p:cNvPr>
          <p:cNvSpPr>
            <a:spLocks noGrp="1"/>
          </p:cNvSpPr>
          <p:nvPr>
            <p:ph type="title"/>
          </p:nvPr>
        </p:nvSpPr>
        <p:spPr/>
        <p:txBody>
          <a:bodyPr/>
          <a:lstStyle/>
          <a:p>
            <a:r>
              <a:rPr lang="en-US" dirty="0"/>
              <a:t>Ed Donner </a:t>
            </a:r>
            <a:r>
              <a:rPr lang="en-US" dirty="0" err="1"/>
              <a:t>github</a:t>
            </a:r>
            <a:endParaRPr lang="en-SG" dirty="0"/>
          </a:p>
        </p:txBody>
      </p:sp>
      <p:sp>
        <p:nvSpPr>
          <p:cNvPr id="3" name="Content Placeholder 2">
            <a:extLst>
              <a:ext uri="{FF2B5EF4-FFF2-40B4-BE49-F238E27FC236}">
                <a16:creationId xmlns:a16="http://schemas.microsoft.com/office/drawing/2014/main" xmlns="" id="{CCC6298C-5613-4B3B-B4DF-1038AEFB409D}"/>
              </a:ext>
            </a:extLst>
          </p:cNvPr>
          <p:cNvSpPr>
            <a:spLocks noGrp="1"/>
          </p:cNvSpPr>
          <p:nvPr>
            <p:ph idx="1"/>
          </p:nvPr>
        </p:nvSpPr>
        <p:spPr/>
        <p:txBody>
          <a:bodyPr/>
          <a:lstStyle/>
          <a:p>
            <a:r>
              <a:rPr lang="en-SG" dirty="0" smtClean="0"/>
              <a:t>MP Morgan</a:t>
            </a:r>
          </a:p>
          <a:p>
            <a:r>
              <a:rPr lang="en-SG" dirty="0" smtClean="0"/>
              <a:t>London -&gt; Tokyo -&gt; New York</a:t>
            </a:r>
          </a:p>
          <a:p>
            <a:r>
              <a:rPr lang="en-SG" dirty="0" smtClean="0"/>
              <a:t>Company Nebula</a:t>
            </a:r>
          </a:p>
          <a:p>
            <a:r>
              <a:rPr lang="en-SG" dirty="0" smtClean="0"/>
              <a:t>Company </a:t>
            </a:r>
            <a:r>
              <a:rPr lang="en-SG" dirty="0" err="1" smtClean="0"/>
              <a:t>nTech</a:t>
            </a:r>
            <a:r>
              <a:rPr lang="en-SG" dirty="0" smtClean="0"/>
              <a:t> acquired.</a:t>
            </a:r>
          </a:p>
          <a:p>
            <a:r>
              <a:rPr lang="en-SG" dirty="0" smtClean="0"/>
              <a:t>LLM Engineering Course</a:t>
            </a:r>
          </a:p>
          <a:p>
            <a:r>
              <a:rPr lang="en-SG" dirty="0" smtClean="0"/>
              <a:t>Connect </a:t>
            </a:r>
            <a:r>
              <a:rPr lang="en-SG" dirty="0"/>
              <a:t>via </a:t>
            </a:r>
            <a:r>
              <a:rPr lang="en-SG" dirty="0" err="1"/>
              <a:t>linkedin</a:t>
            </a:r>
            <a:endParaRPr lang="en-SG" dirty="0"/>
          </a:p>
          <a:p>
            <a:r>
              <a:rPr lang="en-SG" dirty="0"/>
              <a:t>https://github.com/ed-donner/agents</a:t>
            </a:r>
          </a:p>
        </p:txBody>
      </p:sp>
    </p:spTree>
    <p:extLst>
      <p:ext uri="{BB962C8B-B14F-4D97-AF65-F5344CB8AC3E}">
        <p14:creationId xmlns:p14="http://schemas.microsoft.com/office/powerpoint/2010/main" xmlns="" val="10116394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961C0A3-BC63-465F-B6DD-DC8A661193A1}"/>
              </a:ext>
            </a:extLst>
          </p:cNvPr>
          <p:cNvSpPr>
            <a:spLocks noGrp="1"/>
          </p:cNvSpPr>
          <p:nvPr>
            <p:ph type="title"/>
          </p:nvPr>
        </p:nvSpPr>
        <p:spPr/>
        <p:txBody>
          <a:bodyPr/>
          <a:lstStyle/>
          <a:p>
            <a:r>
              <a:rPr lang="en-US" dirty="0"/>
              <a:t>Setup on Windows</a:t>
            </a:r>
            <a:endParaRPr lang="en-SG" dirty="0"/>
          </a:p>
        </p:txBody>
      </p:sp>
      <p:sp>
        <p:nvSpPr>
          <p:cNvPr id="3" name="Content Placeholder 2">
            <a:extLst>
              <a:ext uri="{FF2B5EF4-FFF2-40B4-BE49-F238E27FC236}">
                <a16:creationId xmlns:a16="http://schemas.microsoft.com/office/drawing/2014/main" xmlns="" id="{94779657-1A4C-475F-A0A0-2765B8EB38DE}"/>
              </a:ext>
            </a:extLst>
          </p:cNvPr>
          <p:cNvSpPr>
            <a:spLocks noGrp="1"/>
          </p:cNvSpPr>
          <p:nvPr>
            <p:ph idx="1"/>
          </p:nvPr>
        </p:nvSpPr>
        <p:spPr/>
        <p:txBody>
          <a:bodyPr>
            <a:normAutofit fontScale="70000" lnSpcReduction="20000"/>
          </a:bodyPr>
          <a:lstStyle/>
          <a:p>
            <a:r>
              <a:rPr lang="en-US" dirty="0" err="1" smtClean="0"/>
              <a:t>Gotchas</a:t>
            </a:r>
            <a:r>
              <a:rPr lang="en-US" dirty="0" smtClean="0"/>
              <a:t> for Windows</a:t>
            </a:r>
          </a:p>
          <a:p>
            <a:pPr lvl="1"/>
            <a:r>
              <a:rPr lang="en-US" dirty="0" smtClean="0"/>
              <a:t>Filename length limit</a:t>
            </a:r>
          </a:p>
          <a:p>
            <a:pPr lvl="1"/>
            <a:r>
              <a:rPr lang="en-SG" dirty="0" smtClean="0"/>
              <a:t>Antivirus</a:t>
            </a:r>
            <a:endParaRPr lang="en-US" dirty="0" smtClean="0"/>
          </a:p>
          <a:p>
            <a:r>
              <a:rPr lang="en-US" dirty="0" err="1" smtClean="0"/>
              <a:t>Git</a:t>
            </a:r>
            <a:r>
              <a:rPr lang="en-US" dirty="0" smtClean="0"/>
              <a:t> </a:t>
            </a:r>
            <a:r>
              <a:rPr lang="en-US" dirty="0"/>
              <a:t>clone repo</a:t>
            </a:r>
          </a:p>
          <a:p>
            <a:r>
              <a:rPr lang="en-US" dirty="0"/>
              <a:t>Install cursor (</a:t>
            </a:r>
            <a:r>
              <a:rPr lang="en-US" dirty="0">
                <a:hlinkClick r:id="rId2"/>
              </a:rPr>
              <a:t>https://cursor.com/download</a:t>
            </a:r>
            <a:r>
              <a:rPr lang="en-US" dirty="0"/>
              <a:t>)</a:t>
            </a:r>
          </a:p>
          <a:p>
            <a:r>
              <a:rPr lang="en-US" dirty="0" err="1"/>
              <a:t>Uv</a:t>
            </a:r>
            <a:r>
              <a:rPr lang="en-US" dirty="0"/>
              <a:t> package manager </a:t>
            </a:r>
            <a:r>
              <a:rPr lang="en-US" dirty="0">
                <a:hlinkClick r:id="rId3"/>
              </a:rPr>
              <a:t>(https://docs.astral.sh/uv</a:t>
            </a:r>
            <a:r>
              <a:rPr lang="en-US" dirty="0" smtClean="0">
                <a:hlinkClick r:id="rId3"/>
              </a:rPr>
              <a:t>/</a:t>
            </a:r>
            <a:r>
              <a:rPr lang="en-US" dirty="0" smtClean="0"/>
              <a:t>)</a:t>
            </a:r>
          </a:p>
          <a:p>
            <a:pPr lvl="1"/>
            <a:r>
              <a:rPr lang="en-SG" dirty="0" smtClean="0"/>
              <a:t>Astral company</a:t>
            </a:r>
          </a:p>
          <a:p>
            <a:pPr lvl="1"/>
            <a:r>
              <a:rPr lang="en-SG" dirty="0" err="1" smtClean="0"/>
              <a:t>uv</a:t>
            </a:r>
            <a:r>
              <a:rPr lang="en-SG" dirty="0" smtClean="0"/>
              <a:t> –version to check if install.</a:t>
            </a:r>
            <a:endParaRPr lang="en-US" dirty="0"/>
          </a:p>
          <a:p>
            <a:pPr lvl="1"/>
            <a:r>
              <a:rPr lang="en-US" dirty="0" err="1"/>
              <a:t>uv</a:t>
            </a:r>
            <a:r>
              <a:rPr lang="en-US" dirty="0"/>
              <a:t> sync in Cursor Terminal </a:t>
            </a:r>
            <a:r>
              <a:rPr lang="en-US" dirty="0" smtClean="0"/>
              <a:t>(fast. Take much less than an hour)</a:t>
            </a:r>
          </a:p>
          <a:p>
            <a:pPr lvl="2"/>
            <a:r>
              <a:rPr lang="en-SG" dirty="0" smtClean="0"/>
              <a:t>It creates an virtual </a:t>
            </a:r>
            <a:r>
              <a:rPr lang="en-SG" dirty="0" err="1" smtClean="0"/>
              <a:t>env</a:t>
            </a:r>
            <a:r>
              <a:rPr lang="en-SG" dirty="0" smtClean="0"/>
              <a:t> (.</a:t>
            </a:r>
            <a:r>
              <a:rPr lang="en-SG" dirty="0" err="1" smtClean="0"/>
              <a:t>venv</a:t>
            </a:r>
            <a:r>
              <a:rPr lang="en-SG" dirty="0" smtClean="0"/>
              <a:t>)</a:t>
            </a:r>
          </a:p>
          <a:p>
            <a:pPr lvl="2"/>
            <a:r>
              <a:rPr lang="en-SG" dirty="0" smtClean="0"/>
              <a:t>Use </a:t>
            </a:r>
            <a:r>
              <a:rPr lang="en-SG" dirty="0" err="1" smtClean="0"/>
              <a:t>uv</a:t>
            </a:r>
            <a:r>
              <a:rPr lang="en-SG" dirty="0" smtClean="0"/>
              <a:t> run instead of python run</a:t>
            </a:r>
            <a:endParaRPr lang="en-US" dirty="0"/>
          </a:p>
          <a:p>
            <a:r>
              <a:rPr lang="en-US" dirty="0"/>
              <a:t>Get API key in Open-AI or other </a:t>
            </a:r>
            <a:r>
              <a:rPr lang="en-US" dirty="0" smtClean="0"/>
              <a:t>alternative</a:t>
            </a:r>
          </a:p>
          <a:p>
            <a:pPr lvl="1"/>
            <a:r>
              <a:rPr lang="en-SG" dirty="0" smtClean="0"/>
              <a:t>Billing</a:t>
            </a:r>
          </a:p>
          <a:p>
            <a:pPr lvl="1"/>
            <a:r>
              <a:rPr lang="en-SG" dirty="0" smtClean="0"/>
              <a:t>Secret key</a:t>
            </a:r>
          </a:p>
          <a:p>
            <a:r>
              <a:rPr lang="en-SG" dirty="0" smtClean="0"/>
              <a:t>Create .</a:t>
            </a:r>
            <a:r>
              <a:rPr lang="en-SG" dirty="0" err="1" smtClean="0"/>
              <a:t>env</a:t>
            </a:r>
            <a:r>
              <a:rPr lang="en-SG" dirty="0" smtClean="0"/>
              <a:t> file to put in secret key</a:t>
            </a:r>
            <a:endParaRPr lang="en-SG" dirty="0"/>
          </a:p>
        </p:txBody>
      </p:sp>
    </p:spTree>
    <p:extLst>
      <p:ext uri="{BB962C8B-B14F-4D97-AF65-F5344CB8AC3E}">
        <p14:creationId xmlns:p14="http://schemas.microsoft.com/office/powerpoint/2010/main" xmlns="" val="42480334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Use </a:t>
            </a:r>
            <a:r>
              <a:rPr lang="en-SG" dirty="0" err="1" smtClean="0"/>
              <a:t>ollama</a:t>
            </a:r>
            <a:r>
              <a:rPr lang="en-SG" dirty="0" smtClean="0"/>
              <a:t> instead of </a:t>
            </a:r>
            <a:r>
              <a:rPr lang="en-SG" dirty="0" err="1" smtClean="0"/>
              <a:t>OpenAI</a:t>
            </a:r>
            <a:endParaRPr lang="en-US" dirty="0"/>
          </a:p>
        </p:txBody>
      </p:sp>
      <p:sp>
        <p:nvSpPr>
          <p:cNvPr id="3" name="Content Placeholder 2"/>
          <p:cNvSpPr>
            <a:spLocks noGrp="1"/>
          </p:cNvSpPr>
          <p:nvPr>
            <p:ph idx="1"/>
          </p:nvPr>
        </p:nvSpPr>
        <p:spPr/>
        <p:txBody>
          <a:bodyPr/>
          <a:lstStyle/>
          <a:p>
            <a:r>
              <a:rPr lang="en-SG" dirty="0" err="1" smtClean="0"/>
              <a:t>Ollama</a:t>
            </a:r>
            <a:r>
              <a:rPr lang="en-SG" dirty="0" smtClean="0"/>
              <a:t> –version: check if installed</a:t>
            </a:r>
          </a:p>
          <a:p>
            <a:r>
              <a:rPr lang="en-SG" dirty="0" err="1" smtClean="0"/>
              <a:t>Ollama</a:t>
            </a:r>
            <a:r>
              <a:rPr lang="en-SG" dirty="0" smtClean="0"/>
              <a:t> run llama3.2: download model to your computer</a:t>
            </a:r>
          </a:p>
          <a:p>
            <a:r>
              <a:rPr lang="en-SG" dirty="0" err="1" smtClean="0"/>
              <a:t>Ollama</a:t>
            </a:r>
            <a:r>
              <a:rPr lang="en-SG" dirty="0" smtClean="0"/>
              <a:t> </a:t>
            </a:r>
          </a:p>
          <a:p>
            <a:pPr lvl="1"/>
            <a:r>
              <a:rPr lang="en-SG" dirty="0" smtClean="0"/>
              <a:t>llama3.2: (2GB)</a:t>
            </a:r>
          </a:p>
          <a:p>
            <a:pPr lvl="2"/>
            <a:r>
              <a:rPr lang="en-SG" dirty="0" smtClean="0"/>
              <a:t>3B parameters</a:t>
            </a:r>
          </a:p>
          <a:p>
            <a:pPr lvl="1"/>
            <a:r>
              <a:rPr lang="en-SG" dirty="0" smtClean="0"/>
              <a:t>Llama3.2:1b (1.3GB)</a:t>
            </a:r>
          </a:p>
          <a:p>
            <a:pPr lvl="2"/>
            <a:r>
              <a:rPr lang="en-SG" dirty="0" smtClean="0"/>
              <a:t>1B parameters</a:t>
            </a:r>
          </a:p>
          <a:p>
            <a:r>
              <a:rPr lang="en-SG" dirty="0" smtClean="0"/>
              <a:t>Model=mistral (by Mistral AI)</a:t>
            </a:r>
          </a:p>
          <a:p>
            <a:pPr lvl="1"/>
            <a:r>
              <a:rPr lang="en-SG" dirty="0" smtClean="0"/>
              <a:t>Mistral (4.4GB)</a:t>
            </a:r>
          </a:p>
          <a:p>
            <a:pPr lvl="2"/>
            <a:r>
              <a:rPr lang="en-SG" dirty="0" smtClean="0"/>
              <a:t>7B parameters</a:t>
            </a:r>
          </a:p>
          <a:p>
            <a:endParaRPr lang="en-SG" dirty="0" smtClean="0"/>
          </a:p>
          <a:p>
            <a:pPr>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SG" dirty="0" smtClean="0"/>
              <a:t>Cursor has issues opening </a:t>
            </a:r>
            <a:r>
              <a:rPr lang="en-SG" dirty="0" err="1" smtClean="0"/>
              <a:t>ipynb</a:t>
            </a:r>
            <a:r>
              <a:rPr lang="en-SG" dirty="0" smtClean="0"/>
              <a:t>, Terminal. Use VSC instead.</a:t>
            </a:r>
          </a:p>
          <a:p>
            <a:r>
              <a:rPr lang="en-SG" dirty="0" smtClean="0"/>
              <a:t>Install </a:t>
            </a:r>
            <a:r>
              <a:rPr lang="en-SG" dirty="0" err="1" smtClean="0"/>
              <a:t>Jupyter</a:t>
            </a:r>
            <a:r>
              <a:rPr lang="en-SG" dirty="0" smtClean="0"/>
              <a:t> extension for VSC for </a:t>
            </a:r>
            <a:r>
              <a:rPr lang="en-SG" dirty="0" err="1" smtClean="0"/>
              <a:t>ipynb</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9E2218F-540B-47C2-9786-8508B41A6C42}"/>
              </a:ext>
            </a:extLst>
          </p:cNvPr>
          <p:cNvSpPr>
            <a:spLocks noGrp="1"/>
          </p:cNvSpPr>
          <p:nvPr>
            <p:ph type="title"/>
          </p:nvPr>
        </p:nvSpPr>
        <p:spPr/>
        <p:txBody>
          <a:bodyPr/>
          <a:lstStyle/>
          <a:p>
            <a:r>
              <a:rPr lang="en-US" dirty="0"/>
              <a:t>Agentic AI framework</a:t>
            </a:r>
            <a:endParaRPr lang="en-SG" dirty="0"/>
          </a:p>
        </p:txBody>
      </p:sp>
      <p:graphicFrame>
        <p:nvGraphicFramePr>
          <p:cNvPr id="4" name="Content Placeholder 3">
            <a:extLst>
              <a:ext uri="{FF2B5EF4-FFF2-40B4-BE49-F238E27FC236}">
                <a16:creationId xmlns:a16="http://schemas.microsoft.com/office/drawing/2014/main" xmlns="" id="{FAD2DB17-1942-4E63-A5CC-02C3F178B165}"/>
              </a:ext>
            </a:extLst>
          </p:cNvPr>
          <p:cNvGraphicFramePr>
            <a:graphicFrameLocks noGrp="1"/>
          </p:cNvGraphicFramePr>
          <p:nvPr>
            <p:ph idx="1"/>
            <p:extLst>
              <p:ext uri="{D42A27DB-BD31-4B8C-83A1-F6EECF244321}">
                <p14:modId xmlns:p14="http://schemas.microsoft.com/office/powerpoint/2010/main" xmlns="" val="4023378947"/>
              </p:ext>
            </p:extLst>
          </p:nvPr>
        </p:nvGraphicFramePr>
        <p:xfrm>
          <a:off x="838200" y="1825625"/>
          <a:ext cx="10515600" cy="175260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xmlns="" val="1942258773"/>
                    </a:ext>
                  </a:extLst>
                </a:gridCol>
                <a:gridCol w="5257800">
                  <a:extLst>
                    <a:ext uri="{9D8B030D-6E8A-4147-A177-3AD203B41FA5}">
                      <a16:colId xmlns:a16="http://schemas.microsoft.com/office/drawing/2014/main" xmlns="" val="904048141"/>
                    </a:ext>
                  </a:extLst>
                </a:gridCol>
              </a:tblGrid>
              <a:tr h="370840">
                <a:tc>
                  <a:txBody>
                    <a:bodyPr/>
                    <a:lstStyle/>
                    <a:p>
                      <a:endParaRPr lang="en-SG" dirty="0"/>
                    </a:p>
                  </a:txBody>
                  <a:tcPr/>
                </a:tc>
                <a:tc>
                  <a:txBody>
                    <a:bodyPr/>
                    <a:lstStyle/>
                    <a:p>
                      <a:endParaRPr lang="en-SG" dirty="0"/>
                    </a:p>
                  </a:txBody>
                  <a:tcPr/>
                </a:tc>
                <a:extLst>
                  <a:ext uri="{0D108BD9-81ED-4DB2-BD59-A6C34878D82A}">
                    <a16:rowId xmlns:a16="http://schemas.microsoft.com/office/drawing/2014/main" xmlns="" val="845308460"/>
                  </a:ext>
                </a:extLst>
              </a:tr>
              <a:tr h="370840">
                <a:tc>
                  <a:txBody>
                    <a:bodyPr/>
                    <a:lstStyle/>
                    <a:p>
                      <a:r>
                        <a:rPr lang="en-US" dirty="0"/>
                        <a:t>No </a:t>
                      </a:r>
                      <a:r>
                        <a:rPr lang="en-US" dirty="0" smtClean="0"/>
                        <a:t>framework (Week1)</a:t>
                      </a:r>
                      <a:endParaRPr lang="en-SG" dirty="0"/>
                    </a:p>
                  </a:txBody>
                  <a:tcPr/>
                </a:tc>
                <a:tc>
                  <a:txBody>
                    <a:bodyPr/>
                    <a:lstStyle/>
                    <a:p>
                      <a:r>
                        <a:rPr lang="en-US" dirty="0" err="1" smtClean="0"/>
                        <a:t>Anthropic</a:t>
                      </a:r>
                      <a:r>
                        <a:rPr lang="en-US" baseline="0" dirty="0" smtClean="0"/>
                        <a:t> </a:t>
                      </a:r>
                      <a:r>
                        <a:rPr lang="en-US" dirty="0" smtClean="0"/>
                        <a:t>MCP (Week6)</a:t>
                      </a:r>
                    </a:p>
                    <a:p>
                      <a:r>
                        <a:rPr lang="en-SG" dirty="0" err="1" smtClean="0"/>
                        <a:t>Opensource</a:t>
                      </a:r>
                      <a:r>
                        <a:rPr lang="en-SG" dirty="0" smtClean="0"/>
                        <a:t>. Standard interface</a:t>
                      </a:r>
                      <a:endParaRPr lang="en-SG" dirty="0"/>
                    </a:p>
                  </a:txBody>
                  <a:tcPr/>
                </a:tc>
                <a:extLst>
                  <a:ext uri="{0D108BD9-81ED-4DB2-BD59-A6C34878D82A}">
                    <a16:rowId xmlns:a16="http://schemas.microsoft.com/office/drawing/2014/main" xmlns="" val="862806687"/>
                  </a:ext>
                </a:extLst>
              </a:tr>
              <a:tr h="370840">
                <a:tc>
                  <a:txBody>
                    <a:bodyPr/>
                    <a:lstStyle/>
                    <a:p>
                      <a:r>
                        <a:rPr lang="en-US" dirty="0" err="1"/>
                        <a:t>OpenAI</a:t>
                      </a:r>
                      <a:r>
                        <a:rPr lang="en-US" dirty="0"/>
                        <a:t> Agents </a:t>
                      </a:r>
                      <a:r>
                        <a:rPr lang="en-US" dirty="0" smtClean="0"/>
                        <a:t>SDK (Week2)</a:t>
                      </a:r>
                      <a:endParaRPr lang="en-SG" dirty="0"/>
                    </a:p>
                  </a:txBody>
                  <a:tcPr/>
                </a:tc>
                <a:tc>
                  <a:txBody>
                    <a:bodyPr/>
                    <a:lstStyle/>
                    <a:p>
                      <a:r>
                        <a:rPr lang="en-US" dirty="0"/>
                        <a:t>Crew </a:t>
                      </a:r>
                      <a:r>
                        <a:rPr lang="en-US" dirty="0" smtClean="0"/>
                        <a:t>AI (Week3)</a:t>
                      </a:r>
                      <a:endParaRPr lang="en-SG" dirty="0"/>
                    </a:p>
                  </a:txBody>
                  <a:tcPr/>
                </a:tc>
                <a:extLst>
                  <a:ext uri="{0D108BD9-81ED-4DB2-BD59-A6C34878D82A}">
                    <a16:rowId xmlns:a16="http://schemas.microsoft.com/office/drawing/2014/main" xmlns="" val="1166041253"/>
                  </a:ext>
                </a:extLst>
              </a:tr>
              <a:tr h="370840">
                <a:tc>
                  <a:txBody>
                    <a:bodyPr/>
                    <a:lstStyle/>
                    <a:p>
                      <a:r>
                        <a:rPr lang="en-US" dirty="0" err="1" smtClean="0"/>
                        <a:t>LangGraph</a:t>
                      </a:r>
                      <a:r>
                        <a:rPr lang="en-US" dirty="0" smtClean="0"/>
                        <a:t> (Week4)</a:t>
                      </a:r>
                      <a:endParaRPr lang="en-SG" dirty="0"/>
                    </a:p>
                  </a:txBody>
                  <a:tcPr/>
                </a:tc>
                <a:tc>
                  <a:txBody>
                    <a:bodyPr/>
                    <a:lstStyle/>
                    <a:p>
                      <a:r>
                        <a:rPr lang="en-US" dirty="0" smtClean="0"/>
                        <a:t>MS </a:t>
                      </a:r>
                      <a:r>
                        <a:rPr lang="en-US" dirty="0" err="1" smtClean="0"/>
                        <a:t>AutoGen</a:t>
                      </a:r>
                      <a:r>
                        <a:rPr lang="en-US" dirty="0" smtClean="0"/>
                        <a:t> (Week5)</a:t>
                      </a:r>
                      <a:endParaRPr lang="en-SG" dirty="0"/>
                    </a:p>
                  </a:txBody>
                  <a:tcPr/>
                </a:tc>
                <a:extLst>
                  <a:ext uri="{0D108BD9-81ED-4DB2-BD59-A6C34878D82A}">
                    <a16:rowId xmlns:a16="http://schemas.microsoft.com/office/drawing/2014/main" xmlns="" val="1995986874"/>
                  </a:ext>
                </a:extLst>
              </a:tr>
            </a:tbl>
          </a:graphicData>
        </a:graphic>
      </p:graphicFrame>
    </p:spTree>
    <p:extLst>
      <p:ext uri="{BB962C8B-B14F-4D97-AF65-F5344CB8AC3E}">
        <p14:creationId xmlns:p14="http://schemas.microsoft.com/office/powerpoint/2010/main" xmlns="" val="38196354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3F2270C-C64A-4468-8C76-CD7C162A3E4D}"/>
              </a:ext>
            </a:extLst>
          </p:cNvPr>
          <p:cNvSpPr>
            <a:spLocks noGrp="1"/>
          </p:cNvSpPr>
          <p:nvPr>
            <p:ph type="title"/>
          </p:nvPr>
        </p:nvSpPr>
        <p:spPr/>
        <p:txBody>
          <a:bodyPr/>
          <a:lstStyle/>
          <a:p>
            <a:endParaRPr lang="en-SG" dirty="0"/>
          </a:p>
        </p:txBody>
      </p:sp>
      <p:sp>
        <p:nvSpPr>
          <p:cNvPr id="3" name="Content Placeholder 2">
            <a:extLst>
              <a:ext uri="{FF2B5EF4-FFF2-40B4-BE49-F238E27FC236}">
                <a16:creationId xmlns:a16="http://schemas.microsoft.com/office/drawing/2014/main" xmlns="" id="{56F7D9D1-F7C9-431A-9F2F-D27874872FC3}"/>
              </a:ext>
            </a:extLst>
          </p:cNvPr>
          <p:cNvSpPr>
            <a:spLocks noGrp="1"/>
          </p:cNvSpPr>
          <p:nvPr>
            <p:ph idx="1"/>
          </p:nvPr>
        </p:nvSpPr>
        <p:spPr/>
        <p:txBody>
          <a:bodyPr/>
          <a:lstStyle/>
          <a:p>
            <a:r>
              <a:rPr lang="en-US" dirty="0"/>
              <a:t>Tools is just json</a:t>
            </a:r>
          </a:p>
          <a:p>
            <a:r>
              <a:rPr lang="en-US" dirty="0"/>
              <a:t>Use for loop and if statements to handle different tools</a:t>
            </a:r>
            <a:endParaRPr lang="en-SG" dirty="0"/>
          </a:p>
        </p:txBody>
      </p:sp>
    </p:spTree>
    <p:extLst>
      <p:ext uri="{BB962C8B-B14F-4D97-AF65-F5344CB8AC3E}">
        <p14:creationId xmlns:p14="http://schemas.microsoft.com/office/powerpoint/2010/main" xmlns="" val="3459050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err="1" smtClean="0"/>
              <a:t>AutoGen</a:t>
            </a:r>
            <a:r>
              <a:rPr lang="en-SG" dirty="0" smtClean="0"/>
              <a:t> (AG)</a:t>
            </a:r>
            <a:endParaRPr lang="en-US" dirty="0"/>
          </a:p>
        </p:txBody>
      </p:sp>
      <p:sp>
        <p:nvSpPr>
          <p:cNvPr id="3" name="Content Placeholder 2"/>
          <p:cNvSpPr>
            <a:spLocks noGrp="1"/>
          </p:cNvSpPr>
          <p:nvPr>
            <p:ph idx="1"/>
          </p:nvPr>
        </p:nvSpPr>
        <p:spPr/>
        <p:txBody>
          <a:bodyPr/>
          <a:lstStyle/>
          <a:p>
            <a:r>
              <a:rPr lang="en-SG" dirty="0" smtClean="0"/>
              <a:t>From Microsoft</a:t>
            </a:r>
          </a:p>
          <a:p>
            <a:r>
              <a:rPr lang="en-SG" dirty="0" smtClean="0"/>
              <a:t>Solve issue with </a:t>
            </a:r>
            <a:r>
              <a:rPr lang="en-SG" dirty="0" err="1" smtClean="0"/>
              <a:t>observability</a:t>
            </a:r>
            <a:r>
              <a:rPr lang="en-SG" dirty="0" smtClean="0"/>
              <a:t> (do u know what is going on)</a:t>
            </a:r>
          </a:p>
          <a:p>
            <a:r>
              <a:rPr lang="en-SG" dirty="0" smtClean="0"/>
              <a:t>Version: 0.2 -&gt; 0.4 (Jan2025) -&gt; 0.5.1</a:t>
            </a:r>
          </a:p>
          <a:p>
            <a:r>
              <a:rPr lang="en-SG" dirty="0" smtClean="0"/>
              <a:t>Drama:</a:t>
            </a:r>
          </a:p>
          <a:p>
            <a:pPr lvl="1"/>
            <a:r>
              <a:rPr lang="en-SG" dirty="0" smtClean="0"/>
              <a:t>MS engineer left and join Google.</a:t>
            </a:r>
          </a:p>
          <a:p>
            <a:pPr lvl="1"/>
            <a:r>
              <a:rPr lang="en-SG" dirty="0" smtClean="0"/>
              <a:t>Create AG2 (</a:t>
            </a:r>
            <a:r>
              <a:rPr lang="en-SG" dirty="0" err="1" smtClean="0"/>
              <a:t>AgentOS</a:t>
            </a:r>
            <a:r>
              <a:rPr lang="en-SG" dirty="0" smtClean="0"/>
              <a:t> 2 compatible with </a:t>
            </a:r>
            <a:r>
              <a:rPr lang="en-SG" dirty="0" err="1" smtClean="0"/>
              <a:t>AutoGen</a:t>
            </a:r>
            <a:r>
              <a:rPr lang="en-SG" dirty="0" smtClean="0"/>
              <a:t> 0.2)</a:t>
            </a:r>
          </a:p>
          <a:p>
            <a:pPr lvl="1"/>
            <a:r>
              <a:rPr lang="en-SG" dirty="0" smtClean="0"/>
              <a:t>Discord, many forum, pip install </a:t>
            </a:r>
            <a:r>
              <a:rPr lang="en-SG" dirty="0" err="1" smtClean="0"/>
              <a:t>autogen</a:t>
            </a:r>
            <a:r>
              <a:rPr lang="en-SG" dirty="0" smtClean="0"/>
              <a:t> is AG2</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SG" dirty="0" err="1" smtClean="0"/>
              <a:t>AutoGen</a:t>
            </a:r>
            <a:r>
              <a:rPr lang="en-SG" dirty="0" smtClean="0"/>
              <a:t> Core (runtime) -&gt; focus on these 2</a:t>
            </a:r>
          </a:p>
          <a:p>
            <a:r>
              <a:rPr lang="en-SG" dirty="0" err="1" smtClean="0"/>
              <a:t>AutoGen</a:t>
            </a:r>
            <a:r>
              <a:rPr lang="en-SG" dirty="0" smtClean="0"/>
              <a:t> </a:t>
            </a:r>
            <a:r>
              <a:rPr lang="en-SG" dirty="0" err="1" smtClean="0"/>
              <a:t>AgentChat</a:t>
            </a:r>
            <a:r>
              <a:rPr lang="en-SG" dirty="0" smtClean="0"/>
              <a:t> (lightweight) -&gt; focus on this more</a:t>
            </a:r>
          </a:p>
          <a:p>
            <a:r>
              <a:rPr lang="en-SG" dirty="0" smtClean="0"/>
              <a:t>Studio (research, </a:t>
            </a:r>
            <a:r>
              <a:rPr lang="en-SG" dirty="0" err="1" smtClean="0"/>
              <a:t>opensource</a:t>
            </a:r>
            <a:r>
              <a:rPr lang="en-SG" dirty="0" smtClean="0"/>
              <a:t> contribution)</a:t>
            </a:r>
          </a:p>
          <a:p>
            <a:r>
              <a:rPr lang="en-SG" dirty="0" err="1" smtClean="0"/>
              <a:t>Magentic</a:t>
            </a:r>
            <a:r>
              <a:rPr lang="en-SG" dirty="0" smtClean="0"/>
              <a:t> One CLI</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SG" dirty="0" smtClean="0"/>
              <a:t>Models: LLM</a:t>
            </a:r>
          </a:p>
          <a:p>
            <a:r>
              <a:rPr lang="en-SG" dirty="0" smtClean="0"/>
              <a:t>Messages: events, </a:t>
            </a:r>
            <a:r>
              <a:rPr lang="en-SG" dirty="0" err="1" smtClean="0"/>
              <a:t>msg</a:t>
            </a:r>
            <a:r>
              <a:rPr lang="en-SG" dirty="0" smtClean="0"/>
              <a:t> bet LLM</a:t>
            </a:r>
          </a:p>
          <a:p>
            <a:r>
              <a:rPr lang="en-SG" dirty="0" smtClean="0"/>
              <a:t>Agents: carry out task</a:t>
            </a:r>
          </a:p>
          <a:p>
            <a:r>
              <a:rPr lang="en-SG" dirty="0" smtClean="0"/>
              <a:t>Teams: group of agent</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Model Control Protocol (MCP)</a:t>
            </a:r>
            <a:endParaRPr lang="en-US" dirty="0"/>
          </a:p>
        </p:txBody>
      </p:sp>
      <p:sp>
        <p:nvSpPr>
          <p:cNvPr id="3" name="Content Placeholder 2"/>
          <p:cNvSpPr>
            <a:spLocks noGrp="1"/>
          </p:cNvSpPr>
          <p:nvPr>
            <p:ph idx="1"/>
          </p:nvPr>
        </p:nvSpPr>
        <p:spPr/>
        <p:txBody>
          <a:bodyPr/>
          <a:lstStyle/>
          <a:p>
            <a:r>
              <a:rPr lang="en-SG" dirty="0" smtClean="0"/>
              <a:t>From </a:t>
            </a:r>
            <a:r>
              <a:rPr lang="en-SG" dirty="0" err="1" smtClean="0"/>
              <a:t>Anthropic</a:t>
            </a:r>
            <a:endParaRPr lang="en-SG" dirty="0" smtClean="0"/>
          </a:p>
          <a:p>
            <a:r>
              <a:rPr lang="en-SG" dirty="0" smtClean="0"/>
              <a:t>Agreement instead of code.</a:t>
            </a:r>
          </a:p>
          <a:p>
            <a:r>
              <a:rPr lang="en-SG" dirty="0" smtClean="0"/>
              <a:t>Similar in concept to </a:t>
            </a:r>
            <a:r>
              <a:rPr lang="en-SG" smtClean="0"/>
              <a:t>LangChain</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SG" dirty="0" smtClean="0"/>
              <a:t>Trying to use VSC instead of Cursor (more AI integration, but may be buggy).</a:t>
            </a: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1_lab1</a:t>
            </a:r>
            <a:endParaRPr lang="en-US" dirty="0"/>
          </a:p>
        </p:txBody>
      </p:sp>
      <p:sp>
        <p:nvSpPr>
          <p:cNvPr id="3" name="Content Placeholder 2"/>
          <p:cNvSpPr>
            <a:spLocks noGrp="1"/>
          </p:cNvSpPr>
          <p:nvPr>
            <p:ph idx="1"/>
          </p:nvPr>
        </p:nvSpPr>
        <p:spPr/>
        <p:txBody>
          <a:bodyPr/>
          <a:lstStyle/>
          <a:p>
            <a:r>
              <a:rPr lang="en-US" dirty="0" err="1" smtClean="0"/>
              <a:t>load_dotenv</a:t>
            </a:r>
            <a:r>
              <a:rPr lang="en-US" dirty="0" smtClean="0"/>
              <a:t>(override=True): load .</a:t>
            </a:r>
            <a:r>
              <a:rPr lang="en-US" dirty="0" err="1" smtClean="0"/>
              <a:t>env</a:t>
            </a:r>
            <a:r>
              <a:rPr lang="en-US" dirty="0" smtClean="0"/>
              <a:t> which has the </a:t>
            </a:r>
            <a:r>
              <a:rPr lang="en-US" dirty="0" err="1" smtClean="0"/>
              <a:t>api_key</a:t>
            </a:r>
            <a:endParaRPr lang="en-US" dirty="0" smtClean="0"/>
          </a:p>
          <a:p>
            <a:r>
              <a:rPr lang="en-SG" dirty="0" err="1" smtClean="0"/>
              <a:t>OpenAI</a:t>
            </a:r>
            <a:r>
              <a:rPr lang="en-SG" dirty="0" smtClean="0"/>
              <a:t>() is a generic function provided by </a:t>
            </a:r>
            <a:r>
              <a:rPr lang="en-SG" dirty="0" err="1" smtClean="0"/>
              <a:t>OpenAI</a:t>
            </a:r>
            <a:r>
              <a:rPr lang="en-SG" dirty="0" smtClean="0"/>
              <a:t>. Can use it to call other AI platform like </a:t>
            </a:r>
            <a:r>
              <a:rPr lang="en-SG" dirty="0" err="1" smtClean="0"/>
              <a:t>ollama</a:t>
            </a:r>
            <a:r>
              <a:rPr lang="en-SG" dirty="0" smtClean="0"/>
              <a:t>.</a:t>
            </a:r>
          </a:p>
          <a:p>
            <a:r>
              <a:rPr lang="en-SG" dirty="0" smtClean="0"/>
              <a:t>Messages is a list of </a:t>
            </a:r>
            <a:r>
              <a:rPr lang="en-SG" dirty="0" err="1" smtClean="0"/>
              <a:t>dict</a:t>
            </a:r>
            <a:r>
              <a:rPr lang="en-SG" dirty="0" smtClean="0"/>
              <a:t> with role (user) and content (question)</a:t>
            </a:r>
            <a:endParaRPr lang="en-US" dirty="0" smtClean="0"/>
          </a:p>
          <a:p>
            <a:r>
              <a:rPr lang="en-SG" dirty="0" smtClean="0"/>
              <a:t>Display(Markdown()) to display nicely.</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6 week course</a:t>
            </a:r>
            <a:endParaRPr lang="en-US" dirty="0"/>
          </a:p>
        </p:txBody>
      </p:sp>
      <p:pic>
        <p:nvPicPr>
          <p:cNvPr id="1026" name="Picture 2" descr="C:\Users\kinda\Downloads\learncsc.udemy.com_course_the-complete-agentic-ai-engineering-course_learn_lecture_49770895.png"/>
          <p:cNvPicPr>
            <a:picLocks noGrp="1" noChangeAspect="1" noChangeArrowheads="1"/>
          </p:cNvPicPr>
          <p:nvPr>
            <p:ph idx="1"/>
          </p:nvPr>
        </p:nvPicPr>
        <p:blipFill>
          <a:blip r:embed="rId2"/>
          <a:srcRect/>
          <a:stretch>
            <a:fillRect/>
          </a:stretch>
        </p:blipFill>
        <p:spPr bwMode="auto">
          <a:xfrm>
            <a:off x="2673087" y="1825625"/>
            <a:ext cx="6845825" cy="4351338"/>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What is Agents</a:t>
            </a:r>
            <a:endParaRPr lang="en-US" dirty="0"/>
          </a:p>
        </p:txBody>
      </p:sp>
      <p:sp>
        <p:nvSpPr>
          <p:cNvPr id="3" name="Content Placeholder 2"/>
          <p:cNvSpPr>
            <a:spLocks noGrp="1"/>
          </p:cNvSpPr>
          <p:nvPr>
            <p:ph idx="1"/>
          </p:nvPr>
        </p:nvSpPr>
        <p:spPr/>
        <p:txBody>
          <a:bodyPr/>
          <a:lstStyle/>
          <a:p>
            <a:r>
              <a:rPr lang="en-SG" dirty="0" smtClean="0"/>
              <a:t>AI Agents are programs where LLM outputs control the workflow.</a:t>
            </a:r>
          </a:p>
          <a:p>
            <a:r>
              <a:rPr lang="en-SG" dirty="0" err="1" smtClean="0"/>
              <a:t>Anthropic</a:t>
            </a:r>
            <a:r>
              <a:rPr lang="en-SG" dirty="0" smtClean="0"/>
              <a:t>:</a:t>
            </a:r>
          </a:p>
          <a:p>
            <a:pPr lvl="1"/>
            <a:r>
              <a:rPr lang="en-SG" dirty="0" smtClean="0"/>
              <a:t>Workflows</a:t>
            </a:r>
          </a:p>
          <a:p>
            <a:pPr lvl="1"/>
            <a:r>
              <a:rPr lang="en-SG" dirty="0" smtClean="0"/>
              <a:t>Agents</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Workflow</a:t>
            </a:r>
            <a:endParaRPr lang="en-US" dirty="0"/>
          </a:p>
        </p:txBody>
      </p:sp>
      <p:sp>
        <p:nvSpPr>
          <p:cNvPr id="3" name="Content Placeholder 2"/>
          <p:cNvSpPr>
            <a:spLocks noGrp="1"/>
          </p:cNvSpPr>
          <p:nvPr>
            <p:ph idx="1"/>
          </p:nvPr>
        </p:nvSpPr>
        <p:spPr/>
        <p:txBody>
          <a:bodyPr/>
          <a:lstStyle/>
          <a:p>
            <a:r>
              <a:rPr lang="en-SG" dirty="0" smtClean="0"/>
              <a:t>Prompt chaining</a:t>
            </a:r>
          </a:p>
          <a:p>
            <a:pPr lvl="1"/>
            <a:r>
              <a:rPr lang="en-SG" dirty="0" smtClean="0"/>
              <a:t>Work on each task very specific and very well.</a:t>
            </a:r>
          </a:p>
          <a:p>
            <a:r>
              <a:rPr lang="en-SG" dirty="0" smtClean="0"/>
              <a:t>Routing</a:t>
            </a:r>
          </a:p>
          <a:p>
            <a:r>
              <a:rPr lang="en-SG" dirty="0" smtClean="0"/>
              <a:t>Parallelization</a:t>
            </a:r>
          </a:p>
          <a:p>
            <a:r>
              <a:rPr lang="en-SG" dirty="0" smtClean="0"/>
              <a:t>Orchestrator-worker</a:t>
            </a:r>
          </a:p>
          <a:p>
            <a:r>
              <a:rPr lang="en-SG" dirty="0" smtClean="0"/>
              <a:t>Evaluator-optimizer</a:t>
            </a:r>
          </a:p>
          <a:p>
            <a:endParaRPr lang="en-SG" dirty="0" smtClean="0"/>
          </a:p>
          <a:p>
            <a:r>
              <a:rPr lang="en-SG" dirty="0" smtClean="0"/>
              <a:t>NB: Blue is our code, Yellow is LLM model</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Agents </a:t>
            </a:r>
            <a:r>
              <a:rPr lang="en-SG" dirty="0" err="1" smtClean="0"/>
              <a:t>vs</a:t>
            </a:r>
            <a:r>
              <a:rPr lang="en-SG" dirty="0" smtClean="0"/>
              <a:t> workflow</a:t>
            </a:r>
            <a:endParaRPr lang="en-US" dirty="0"/>
          </a:p>
        </p:txBody>
      </p:sp>
      <p:sp>
        <p:nvSpPr>
          <p:cNvPr id="3" name="Content Placeholder 2"/>
          <p:cNvSpPr>
            <a:spLocks noGrp="1"/>
          </p:cNvSpPr>
          <p:nvPr>
            <p:ph idx="1"/>
          </p:nvPr>
        </p:nvSpPr>
        <p:spPr/>
        <p:txBody>
          <a:bodyPr/>
          <a:lstStyle/>
          <a:p>
            <a:r>
              <a:rPr lang="en-SG" dirty="0" smtClean="0"/>
              <a:t>Agents is more flexible, more loose, more uncertainty, to solve more complex problem</a:t>
            </a:r>
          </a:p>
          <a:p>
            <a:pPr lvl="1"/>
            <a:r>
              <a:rPr lang="en-SG" dirty="0" smtClean="0"/>
              <a:t>How long it will take</a:t>
            </a:r>
          </a:p>
          <a:p>
            <a:pPr lvl="1"/>
            <a:r>
              <a:rPr lang="en-SG" dirty="0" smtClean="0"/>
              <a:t>How much it will cost in term of API call</a:t>
            </a:r>
          </a:p>
          <a:p>
            <a:pPr lvl="1"/>
            <a:r>
              <a:rPr lang="en-SG" dirty="0" smtClean="0"/>
              <a:t>Quality of output</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Lesson 11</a:t>
            </a:r>
            <a:endParaRPr lang="en-US" dirty="0"/>
          </a:p>
        </p:txBody>
      </p:sp>
      <p:sp>
        <p:nvSpPr>
          <p:cNvPr id="3" name="Content Placeholder 2"/>
          <p:cNvSpPr>
            <a:spLocks noGrp="1"/>
          </p:cNvSpPr>
          <p:nvPr>
            <p:ph idx="1"/>
          </p:nvPr>
        </p:nvSpPr>
        <p:spPr/>
        <p:txBody>
          <a:bodyPr/>
          <a:lstStyle/>
          <a:p>
            <a:r>
              <a:rPr lang="en-SG" dirty="0" err="1" smtClean="0"/>
              <a:t>Grok</a:t>
            </a:r>
            <a:r>
              <a:rPr lang="en-SG" dirty="0" smtClean="0"/>
              <a:t>: from X</a:t>
            </a:r>
          </a:p>
          <a:p>
            <a:r>
              <a:rPr lang="en-SG" dirty="0" err="1" smtClean="0"/>
              <a:t>Deepseek</a:t>
            </a:r>
            <a:r>
              <a:rPr lang="en-SG" dirty="0" smtClean="0"/>
              <a:t>: use 30% resources than other with similar results. Innovation. Not necessarily the best results.</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Vellum </a:t>
            </a:r>
            <a:r>
              <a:rPr lang="en-SG" dirty="0" err="1" smtClean="0"/>
              <a:t>leaderboard</a:t>
            </a:r>
            <a:endParaRPr lang="en-US" dirty="0"/>
          </a:p>
        </p:txBody>
      </p:sp>
      <p:sp>
        <p:nvSpPr>
          <p:cNvPr id="3" name="Content Placeholder 2"/>
          <p:cNvSpPr>
            <a:spLocks noGrp="1"/>
          </p:cNvSpPr>
          <p:nvPr>
            <p:ph idx="1"/>
          </p:nvPr>
        </p:nvSpPr>
        <p:spPr/>
        <p:txBody>
          <a:bodyPr/>
          <a:lstStyle/>
          <a:p>
            <a:r>
              <a:rPr lang="en-US" dirty="0" smtClean="0"/>
              <a:t>https://www.vellum.ai/llm-leaderboard</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Set up API key from vendor</a:t>
            </a:r>
            <a:endParaRPr lang="en-US" dirty="0"/>
          </a:p>
        </p:txBody>
      </p:sp>
      <p:sp>
        <p:nvSpPr>
          <p:cNvPr id="3" name="Content Placeholder 2"/>
          <p:cNvSpPr>
            <a:spLocks noGrp="1"/>
          </p:cNvSpPr>
          <p:nvPr>
            <p:ph idx="1"/>
          </p:nvPr>
        </p:nvSpPr>
        <p:spPr/>
        <p:txBody>
          <a:bodyPr/>
          <a:lstStyle/>
          <a:p>
            <a:r>
              <a:rPr lang="en-SG" dirty="0" smtClean="0"/>
              <a:t>Google: Google AI Studio: </a:t>
            </a:r>
            <a:r>
              <a:rPr lang="en-SG" dirty="0" smtClean="0">
                <a:hlinkClick r:id="rId2"/>
              </a:rPr>
              <a:t>https://aistudio.google.com/api-keys?project=test-441309</a:t>
            </a:r>
            <a:endParaRPr lang="en-SG" dirty="0" smtClean="0"/>
          </a:p>
          <a:p>
            <a:r>
              <a:rPr lang="en-SG" dirty="0" err="1" smtClean="0"/>
              <a:t>Anthropic</a:t>
            </a:r>
            <a:r>
              <a:rPr lang="en-SG" dirty="0" smtClean="0"/>
              <a:t>: Claude Console: https://platform.claude.com/dashboard</a:t>
            </a:r>
          </a:p>
          <a:p>
            <a:r>
              <a:rPr lang="en-SG" dirty="0" err="1" smtClean="0"/>
              <a:t>Deepseek</a:t>
            </a:r>
            <a:r>
              <a:rPr lang="en-SG" dirty="0" smtClean="0"/>
              <a:t>: </a:t>
            </a:r>
            <a:r>
              <a:rPr lang="en-SG" dirty="0" err="1" smtClean="0"/>
              <a:t>Deepseek</a:t>
            </a:r>
            <a:r>
              <a:rPr lang="en-SG" dirty="0" smtClean="0"/>
              <a:t> Platform: </a:t>
            </a:r>
            <a:r>
              <a:rPr lang="en-SG" dirty="0" smtClean="0">
                <a:hlinkClick r:id="rId3"/>
              </a:rPr>
              <a:t>https://platform.deepseek.com/api_keys</a:t>
            </a:r>
            <a:endParaRPr lang="en-SG" dirty="0" smtClean="0"/>
          </a:p>
          <a:p>
            <a:r>
              <a:rPr lang="en-SG" dirty="0" err="1" smtClean="0"/>
              <a:t>Groq</a:t>
            </a:r>
            <a:r>
              <a:rPr lang="en-SG" dirty="0" smtClean="0"/>
              <a:t>: </a:t>
            </a:r>
            <a:r>
              <a:rPr lang="en-SG" dirty="0" err="1" smtClean="0"/>
              <a:t>Groq</a:t>
            </a:r>
            <a:r>
              <a:rPr lang="en-SG" dirty="0" smtClean="0"/>
              <a:t> Cloud: https://console.groq.com/dashboard/metrics</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Where to use role=system </a:t>
            </a:r>
            <a:r>
              <a:rPr lang="en-SG" dirty="0" err="1" smtClean="0"/>
              <a:t>vs</a:t>
            </a:r>
            <a:r>
              <a:rPr lang="en-SG" dirty="0" smtClean="0"/>
              <a:t> user</a:t>
            </a:r>
            <a:endParaRPr lang="en-US" dirty="0"/>
          </a:p>
        </p:txBody>
      </p:sp>
      <p:sp>
        <p:nvSpPr>
          <p:cNvPr id="3" name="Content Placeholder 2"/>
          <p:cNvSpPr>
            <a:spLocks noGrp="1"/>
          </p:cNvSpPr>
          <p:nvPr>
            <p:ph idx="1"/>
          </p:nvPr>
        </p:nvSpPr>
        <p:spPr/>
        <p:txBody>
          <a:bodyPr/>
          <a:lstStyle/>
          <a:p>
            <a:r>
              <a:rPr lang="en-SG" dirty="0" smtClean="0"/>
              <a:t>Use system to define the rules of the game </a:t>
            </a:r>
            <a:r>
              <a:rPr lang="en-US" dirty="0" smtClean="0"/>
              <a:t>define </a:t>
            </a:r>
            <a:r>
              <a:rPr lang="en-US" b="1" dirty="0" smtClean="0"/>
              <a:t>how the model should behave overall</a:t>
            </a:r>
            <a:r>
              <a:rPr lang="en-US" dirty="0" smtClean="0"/>
              <a:t>. Set overall context.</a:t>
            </a:r>
          </a:p>
          <a:p>
            <a:r>
              <a:rPr lang="en-SG" dirty="0" smtClean="0"/>
              <a:t>Use user for </a:t>
            </a:r>
            <a:r>
              <a:rPr lang="en-US" dirty="0" smtClean="0"/>
              <a:t>This is what the human asks.</a:t>
            </a:r>
          </a:p>
          <a:p>
            <a:r>
              <a:rPr lang="en-SG" dirty="0" smtClean="0"/>
              <a:t>Set constraints for system such as Do not give an explanation; reply with the selected email only.</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SG" dirty="0" smtClean="0"/>
              <a:t>Claude did not use </a:t>
            </a:r>
            <a:r>
              <a:rPr lang="en-SG" dirty="0" err="1" smtClean="0"/>
              <a:t>OpenAI</a:t>
            </a:r>
            <a:r>
              <a:rPr lang="en-SG" dirty="0" smtClean="0"/>
              <a:t>() call</a:t>
            </a:r>
          </a:p>
          <a:p>
            <a:r>
              <a:rPr lang="en-SG" dirty="0" err="1" smtClean="0"/>
              <a:t>OpenAI</a:t>
            </a:r>
            <a:r>
              <a:rPr lang="en-SG" dirty="0" smtClean="0"/>
              <a:t>() is a lightweight library wrapper that issues http call.</a:t>
            </a:r>
          </a:p>
          <a:p>
            <a:r>
              <a:rPr lang="en-SG" dirty="0" smtClean="0"/>
              <a:t>Other vendor just need to switch endpoint (</a:t>
            </a:r>
            <a:r>
              <a:rPr lang="en-SG" dirty="0" err="1" smtClean="0"/>
              <a:t>base_url</a:t>
            </a:r>
            <a:r>
              <a:rPr lang="en-SG" dirty="0" smtClean="0"/>
              <a:t>=)</a:t>
            </a:r>
          </a:p>
          <a:p>
            <a:r>
              <a:rPr lang="en-SG" dirty="0" smtClean="0"/>
              <a:t>Ollama3.3 is too large for home computer (70B)</a:t>
            </a:r>
          </a:p>
          <a:p>
            <a:r>
              <a:rPr lang="en-SG" dirty="0" smtClean="0"/>
              <a:t>Ollama3.2 gives an incomplete answer.</a:t>
            </a:r>
          </a:p>
          <a:p>
            <a:r>
              <a:rPr lang="en-SG" dirty="0" smtClean="0"/>
              <a:t>F””” for multiple lines.</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err="1" smtClean="0"/>
              <a:t>Agentic</a:t>
            </a:r>
            <a:r>
              <a:rPr lang="en-SG" dirty="0" smtClean="0"/>
              <a:t> AI </a:t>
            </a:r>
            <a:r>
              <a:rPr lang="en-SG" dirty="0" err="1" smtClean="0"/>
              <a:t>fw</a:t>
            </a:r>
            <a:endParaRPr lang="en-US" dirty="0"/>
          </a:p>
        </p:txBody>
      </p:sp>
      <p:sp>
        <p:nvSpPr>
          <p:cNvPr id="3" name="Content Placeholder 2"/>
          <p:cNvSpPr>
            <a:spLocks noGrp="1"/>
          </p:cNvSpPr>
          <p:nvPr>
            <p:ph idx="1"/>
          </p:nvPr>
        </p:nvSpPr>
        <p:spPr/>
        <p:txBody>
          <a:bodyPr/>
          <a:lstStyle/>
          <a:p>
            <a:r>
              <a:rPr lang="en-SG" dirty="0" err="1" smtClean="0"/>
              <a:t>Langgraph</a:t>
            </a:r>
            <a:r>
              <a:rPr lang="en-SG" dirty="0" smtClean="0"/>
              <a:t> and </a:t>
            </a:r>
            <a:r>
              <a:rPr lang="en-SG" dirty="0" err="1" smtClean="0"/>
              <a:t>autogen</a:t>
            </a:r>
            <a:r>
              <a:rPr lang="en-SG" dirty="0" smtClean="0"/>
              <a:t> is more heavyweight. Steeper learning curve</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resources</a:t>
            </a:r>
            <a:endParaRPr lang="en-US" dirty="0"/>
          </a:p>
        </p:txBody>
      </p:sp>
      <p:sp>
        <p:nvSpPr>
          <p:cNvPr id="3" name="Content Placeholder 2"/>
          <p:cNvSpPr>
            <a:spLocks noGrp="1"/>
          </p:cNvSpPr>
          <p:nvPr>
            <p:ph idx="1"/>
          </p:nvPr>
        </p:nvSpPr>
        <p:spPr/>
        <p:txBody>
          <a:bodyPr/>
          <a:lstStyle/>
          <a:p>
            <a:r>
              <a:rPr lang="en-SG" dirty="0" smtClean="0"/>
              <a:t>Extra data</a:t>
            </a:r>
          </a:p>
          <a:p>
            <a:r>
              <a:rPr lang="en-SG" dirty="0" smtClean="0"/>
              <a:t>Technique like RAG (LLM course)</a:t>
            </a:r>
          </a:p>
          <a:p>
            <a:pPr>
              <a:buNone/>
            </a:pP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tool</a:t>
            </a:r>
            <a:endParaRPr lang="en-US" dirty="0"/>
          </a:p>
        </p:txBody>
      </p:sp>
      <p:sp>
        <p:nvSpPr>
          <p:cNvPr id="3" name="Content Placeholder 2"/>
          <p:cNvSpPr>
            <a:spLocks noGrp="1"/>
          </p:cNvSpPr>
          <p:nvPr>
            <p:ph idx="1"/>
          </p:nvPr>
        </p:nvSpPr>
        <p:spPr/>
        <p:txBody>
          <a:bodyPr/>
          <a:lstStyle/>
          <a:p>
            <a:r>
              <a:rPr lang="en-SG" dirty="0" smtClean="0"/>
              <a:t>Query database</a:t>
            </a:r>
          </a:p>
          <a:p>
            <a:r>
              <a:rPr lang="en-SG" dirty="0" smtClean="0"/>
              <a:t>Message other LLM</a:t>
            </a:r>
          </a:p>
          <a:p>
            <a:r>
              <a:rPr lang="en-SG" dirty="0" smtClean="0"/>
              <a:t>Access computer stuff</a:t>
            </a:r>
          </a:p>
          <a:p>
            <a:r>
              <a:rPr lang="en-SG" dirty="0" smtClean="0"/>
              <a:t>Actually is u give LLM a set of tool. They will reply which tool they want to use.</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SG" dirty="0" err="1" smtClean="0"/>
              <a:t>Gradio</a:t>
            </a:r>
            <a:r>
              <a:rPr lang="en-SG" dirty="0" smtClean="0"/>
              <a:t> is for frontend engineer. Nice frontend tool</a:t>
            </a:r>
          </a:p>
          <a:p>
            <a:r>
              <a:rPr lang="en-SG" dirty="0" smtClean="0"/>
              <a:t>Take longer to load library.</a:t>
            </a:r>
          </a:p>
          <a:p>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err="1" smtClean="0"/>
              <a:t>Pydantic</a:t>
            </a:r>
            <a:r>
              <a:rPr lang="en-SG" dirty="0" smtClean="0"/>
              <a:t> model</a:t>
            </a:r>
            <a:endParaRPr lang="en-US" dirty="0"/>
          </a:p>
        </p:txBody>
      </p:sp>
      <p:sp>
        <p:nvSpPr>
          <p:cNvPr id="3" name="Content Placeholder 2"/>
          <p:cNvSpPr>
            <a:spLocks noGrp="1"/>
          </p:cNvSpPr>
          <p:nvPr>
            <p:ph idx="1"/>
          </p:nvPr>
        </p:nvSpPr>
        <p:spPr/>
        <p:txBody>
          <a:bodyPr/>
          <a:lstStyle/>
          <a:p>
            <a:r>
              <a:rPr lang="en-SG" dirty="0" smtClean="0"/>
              <a:t>Use class to describe a model</a:t>
            </a:r>
          </a:p>
          <a:p>
            <a:r>
              <a:rPr lang="en-SG" dirty="0" smtClean="0"/>
              <a:t>Structured output: require LLM to return output of that form</a:t>
            </a:r>
          </a:p>
          <a:p>
            <a:pPr lvl="1"/>
            <a:r>
              <a:rPr lang="en-SG" dirty="0" err="1" smtClean="0"/>
              <a:t>Response_format</a:t>
            </a:r>
            <a:r>
              <a:rPr lang="en-SG" dirty="0" smtClean="0"/>
              <a:t>=Evaluation class</a:t>
            </a:r>
          </a:p>
          <a:p>
            <a:pPr lvl="1"/>
            <a:r>
              <a:rPr lang="en-SG" dirty="0" smtClean="0"/>
              <a:t>parse</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Pig </a:t>
            </a:r>
            <a:r>
              <a:rPr lang="en-SG" dirty="0" err="1" smtClean="0"/>
              <a:t>latin</a:t>
            </a:r>
            <a:endParaRPr lang="en-US" dirty="0"/>
          </a:p>
        </p:txBody>
      </p:sp>
      <p:sp>
        <p:nvSpPr>
          <p:cNvPr id="3" name="Content Placeholder 2"/>
          <p:cNvSpPr>
            <a:spLocks noGrp="1"/>
          </p:cNvSpPr>
          <p:nvPr>
            <p:ph idx="1"/>
          </p:nvPr>
        </p:nvSpPr>
        <p:spPr/>
        <p:txBody>
          <a:bodyPr/>
          <a:lstStyle/>
          <a:p>
            <a:r>
              <a:rPr lang="en-SG" dirty="0" smtClean="0"/>
              <a:t>Word with letters rearranged. Most likely </a:t>
            </a:r>
            <a:r>
              <a:rPr lang="en-SG" smtClean="0"/>
              <a:t>cannot understand.</a:t>
            </a: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03C4D14-E308-479D-B763-229C75940C83}"/>
              </a:ext>
            </a:extLst>
          </p:cNvPr>
          <p:cNvSpPr>
            <a:spLocks noGrp="1"/>
          </p:cNvSpPr>
          <p:nvPr>
            <p:ph type="title"/>
          </p:nvPr>
        </p:nvSpPr>
        <p:spPr/>
        <p:txBody>
          <a:bodyPr/>
          <a:lstStyle/>
          <a:p>
            <a:r>
              <a:rPr lang="en-US" dirty="0"/>
              <a:t>Pushover Tool</a:t>
            </a:r>
            <a:endParaRPr lang="en-SG" dirty="0"/>
          </a:p>
        </p:txBody>
      </p:sp>
      <p:sp>
        <p:nvSpPr>
          <p:cNvPr id="3" name="Content Placeholder 2">
            <a:extLst>
              <a:ext uri="{FF2B5EF4-FFF2-40B4-BE49-F238E27FC236}">
                <a16:creationId xmlns:a16="http://schemas.microsoft.com/office/drawing/2014/main" xmlns="" id="{523E285D-BFF9-413F-B3A7-50236E960A17}"/>
              </a:ext>
            </a:extLst>
          </p:cNvPr>
          <p:cNvSpPr>
            <a:spLocks noGrp="1"/>
          </p:cNvSpPr>
          <p:nvPr>
            <p:ph idx="1"/>
          </p:nvPr>
        </p:nvSpPr>
        <p:spPr/>
        <p:txBody>
          <a:bodyPr/>
          <a:lstStyle/>
          <a:p>
            <a:r>
              <a:rPr lang="en-US" dirty="0">
                <a:hlinkClick r:id="rId2"/>
              </a:rPr>
              <a:t>http://pushover.net</a:t>
            </a:r>
            <a:endParaRPr lang="en-US" dirty="0"/>
          </a:p>
          <a:p>
            <a:r>
              <a:rPr lang="en-US" dirty="0"/>
              <a:t>Free</a:t>
            </a:r>
          </a:p>
          <a:p>
            <a:r>
              <a:rPr lang="en-US" dirty="0"/>
              <a:t>Send </a:t>
            </a:r>
            <a:r>
              <a:rPr lang="en-US" dirty="0" err="1"/>
              <a:t>sms</a:t>
            </a:r>
            <a:r>
              <a:rPr lang="en-US" dirty="0"/>
              <a:t> to </a:t>
            </a:r>
            <a:r>
              <a:rPr lang="en-US" dirty="0" err="1"/>
              <a:t>ur</a:t>
            </a:r>
            <a:r>
              <a:rPr lang="en-US" dirty="0"/>
              <a:t> </a:t>
            </a:r>
            <a:r>
              <a:rPr lang="en-US" dirty="0" smtClean="0"/>
              <a:t>phone</a:t>
            </a:r>
          </a:p>
          <a:p>
            <a:r>
              <a:rPr lang="en-SG" dirty="0" smtClean="0"/>
              <a:t>Need to install a app on </a:t>
            </a:r>
            <a:r>
              <a:rPr lang="en-SG" dirty="0" err="1" smtClean="0"/>
              <a:t>ur</a:t>
            </a:r>
            <a:r>
              <a:rPr lang="en-SG" dirty="0" smtClean="0"/>
              <a:t> phone. 30 day trials</a:t>
            </a:r>
          </a:p>
          <a:p>
            <a:r>
              <a:rPr lang="en-SG" dirty="0" smtClean="0"/>
              <a:t>Can send 10k message free per month</a:t>
            </a:r>
          </a:p>
        </p:txBody>
      </p:sp>
    </p:spTree>
    <p:extLst>
      <p:ext uri="{BB962C8B-B14F-4D97-AF65-F5344CB8AC3E}">
        <p14:creationId xmlns:p14="http://schemas.microsoft.com/office/powerpoint/2010/main" xmlns="" val="24672424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Week1 Day5</a:t>
            </a:r>
            <a:endParaRPr lang="en-US" dirty="0"/>
          </a:p>
        </p:txBody>
      </p:sp>
      <p:sp>
        <p:nvSpPr>
          <p:cNvPr id="3" name="Content Placeholder 2"/>
          <p:cNvSpPr>
            <a:spLocks noGrp="1"/>
          </p:cNvSpPr>
          <p:nvPr>
            <p:ph idx="1"/>
          </p:nvPr>
        </p:nvSpPr>
        <p:spPr/>
        <p:txBody>
          <a:bodyPr/>
          <a:lstStyle/>
          <a:p>
            <a:r>
              <a:rPr lang="en-SG" dirty="0" smtClean="0"/>
              <a:t>Create tool to be used.</a:t>
            </a:r>
          </a:p>
          <a:p>
            <a:r>
              <a:rPr lang="en-SG" dirty="0" smtClean="0"/>
              <a:t>Give LLM the ability to use tool. Passed in as list of </a:t>
            </a:r>
            <a:r>
              <a:rPr lang="en-SG" dirty="0" err="1" smtClean="0"/>
              <a:t>json</a:t>
            </a:r>
            <a:endParaRPr lang="en-SG" dirty="0" smtClean="0"/>
          </a:p>
          <a:p>
            <a:r>
              <a:rPr lang="en-US" dirty="0" smtClean="0"/>
              <a:t>Python shortcut: </a:t>
            </a:r>
            <a:r>
              <a:rPr lang="en-US" dirty="0" err="1" smtClean="0"/>
              <a:t>globals</a:t>
            </a:r>
            <a:r>
              <a:rPr lang="en-US" dirty="0" smtClean="0"/>
              <a:t>()["</a:t>
            </a:r>
            <a:r>
              <a:rPr lang="en-US" dirty="0" err="1" smtClean="0"/>
              <a:t>record_unknown_question</a:t>
            </a:r>
            <a:r>
              <a:rPr lang="en-US" dirty="0" smtClean="0"/>
              <a:t>"]("this is a really hard question")</a:t>
            </a:r>
          </a:p>
          <a:p>
            <a:pPr lvl="1"/>
            <a:r>
              <a:rPr lang="en-SG" dirty="0" smtClean="0"/>
              <a:t>Call the function </a:t>
            </a:r>
            <a:r>
              <a:rPr lang="en-SG" dirty="0" err="1" smtClean="0"/>
              <a:t>record_unknown_question</a:t>
            </a:r>
            <a:r>
              <a:rPr lang="en-SG" dirty="0" smtClean="0"/>
              <a:t> in global scope with the function argument </a:t>
            </a:r>
            <a:r>
              <a:rPr lang="en-US" dirty="0" smtClean="0"/>
              <a:t>"this is a really hard question")</a:t>
            </a:r>
          </a:p>
          <a:p>
            <a:pPr lvl="1"/>
            <a:r>
              <a:rPr lang="en-SG" dirty="0" smtClean="0"/>
              <a:t>Prevent the need for the if statement</a:t>
            </a:r>
          </a:p>
          <a:p>
            <a:r>
              <a:rPr lang="en-SG" dirty="0" smtClean="0"/>
              <a:t>Repetition in prompting is never a bad thing. Increase the chance of getting what u want.</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SG" dirty="0" smtClean="0"/>
              <a:t>Package the chat as app.py to be deployed to </a:t>
            </a:r>
            <a:r>
              <a:rPr lang="en-SG" dirty="0" err="1" smtClean="0"/>
              <a:t>HuggingFace</a:t>
            </a:r>
            <a:r>
              <a:rPr lang="en-SG" dirty="0" smtClean="0"/>
              <a:t> as </a:t>
            </a:r>
            <a:r>
              <a:rPr lang="en-SG" dirty="0" err="1" smtClean="0"/>
              <a:t>ur</a:t>
            </a:r>
            <a:r>
              <a:rPr lang="en-SG" dirty="0" smtClean="0"/>
              <a:t> assistant for other to chat with u.</a:t>
            </a:r>
          </a:p>
          <a:p>
            <a:r>
              <a:rPr lang="en-SG" dirty="0" err="1" smtClean="0"/>
              <a:t>Uv</a:t>
            </a:r>
            <a:r>
              <a:rPr lang="en-SG" dirty="0" smtClean="0"/>
              <a:t> run app.py</a:t>
            </a:r>
          </a:p>
          <a:p>
            <a:r>
              <a:rPr lang="en-SG" dirty="0" smtClean="0"/>
              <a:t>Deploy on </a:t>
            </a:r>
            <a:r>
              <a:rPr lang="en-SG" dirty="0" err="1" smtClean="0"/>
              <a:t>Huggingface</a:t>
            </a:r>
            <a:r>
              <a:rPr lang="en-SG" dirty="0" smtClean="0"/>
              <a:t>. Require </a:t>
            </a:r>
            <a:r>
              <a:rPr lang="en-SG" dirty="0" err="1" smtClean="0"/>
              <a:t>openai</a:t>
            </a:r>
            <a:r>
              <a:rPr lang="en-SG" dirty="0" smtClean="0"/>
              <a:t> </a:t>
            </a:r>
            <a:r>
              <a:rPr lang="en-SG" dirty="0" err="1" smtClean="0"/>
              <a:t>api</a:t>
            </a:r>
            <a:r>
              <a:rPr lang="en-SG" dirty="0" smtClean="0"/>
              <a:t> key as secret.</a:t>
            </a:r>
          </a:p>
          <a:p>
            <a:r>
              <a:rPr lang="en-SG" dirty="0" err="1" smtClean="0"/>
              <a:t>Gradio</a:t>
            </a:r>
            <a:r>
              <a:rPr lang="en-SG" dirty="0" smtClean="0"/>
              <a:t> deploy</a:t>
            </a:r>
          </a:p>
          <a:p>
            <a:pPr lvl="1"/>
            <a:r>
              <a:rPr lang="en-SG" dirty="0" err="1" smtClean="0"/>
              <a:t>Cpu</a:t>
            </a:r>
            <a:r>
              <a:rPr lang="en-SG" dirty="0" smtClean="0"/>
              <a:t>-basic as Spaces hardware (free for </a:t>
            </a:r>
            <a:r>
              <a:rPr lang="en-SG" dirty="0" err="1" smtClean="0"/>
              <a:t>HuggingFace</a:t>
            </a:r>
            <a:r>
              <a:rPr lang="en-SG" dirty="0" smtClean="0"/>
              <a:t>)</a:t>
            </a: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Week1 Day5 extra</a:t>
            </a:r>
            <a:endParaRPr lang="en-US" dirty="0"/>
          </a:p>
        </p:txBody>
      </p:sp>
      <p:sp>
        <p:nvSpPr>
          <p:cNvPr id="3" name="Content Placeholder 2"/>
          <p:cNvSpPr>
            <a:spLocks noGrp="1"/>
          </p:cNvSpPr>
          <p:nvPr>
            <p:ph idx="1"/>
          </p:nvPr>
        </p:nvSpPr>
        <p:spPr/>
        <p:txBody>
          <a:bodyPr/>
          <a:lstStyle/>
          <a:p>
            <a:r>
              <a:rPr lang="en-SG" dirty="0" smtClean="0"/>
              <a:t>For recent model like gpt-5.2, use </a:t>
            </a:r>
            <a:r>
              <a:rPr lang="en-SG" dirty="0" err="1" smtClean="0"/>
              <a:t>reasoning_efforts</a:t>
            </a:r>
            <a:r>
              <a:rPr lang="en-SG" dirty="0" smtClean="0"/>
              <a:t>=“none” for it not to </a:t>
            </a:r>
            <a:r>
              <a:rPr lang="en-SG" dirty="0" err="1" smtClean="0"/>
              <a:t>overthink</a:t>
            </a:r>
            <a:r>
              <a:rPr lang="en-SG" dirty="0" smtClean="0"/>
              <a:t> and use too much token.</a:t>
            </a:r>
          </a:p>
          <a:p>
            <a:r>
              <a:rPr lang="en-SG" dirty="0" smtClean="0"/>
              <a:t>Agent </a:t>
            </a:r>
            <a:r>
              <a:rPr lang="en-SG" dirty="0" err="1" smtClean="0"/>
              <a:t>ownself</a:t>
            </a:r>
            <a:r>
              <a:rPr lang="en-SG" dirty="0" smtClean="0"/>
              <a:t> plan to do list to perform a task, and strike off when it has completed.</a:t>
            </a:r>
          </a:p>
          <a:p>
            <a:r>
              <a:rPr lang="en-SG" dirty="0" smtClean="0"/>
              <a:t>Ollama-3.2 is not powerful to do this.</a:t>
            </a: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Week2</a:t>
            </a:r>
            <a:endParaRPr lang="en-US" dirty="0"/>
          </a:p>
        </p:txBody>
      </p:sp>
      <p:sp>
        <p:nvSpPr>
          <p:cNvPr id="3" name="Content Placeholder 2"/>
          <p:cNvSpPr>
            <a:spLocks noGrp="1"/>
          </p:cNvSpPr>
          <p:nvPr>
            <p:ph idx="1"/>
          </p:nvPr>
        </p:nvSpPr>
        <p:spPr/>
        <p:txBody>
          <a:bodyPr>
            <a:normAutofit fontScale="77500" lnSpcReduction="20000"/>
          </a:bodyPr>
          <a:lstStyle/>
          <a:p>
            <a:r>
              <a:rPr lang="en-SG" dirty="0" err="1" smtClean="0"/>
              <a:t>Aynchronous</a:t>
            </a:r>
            <a:r>
              <a:rPr lang="en-SG" dirty="0" smtClean="0"/>
              <a:t> python used by all agent </a:t>
            </a:r>
            <a:r>
              <a:rPr lang="en-SG" dirty="0" err="1" smtClean="0"/>
              <a:t>fw</a:t>
            </a:r>
            <a:r>
              <a:rPr lang="en-SG" dirty="0" smtClean="0"/>
              <a:t>. Need to wait for results from LLM</a:t>
            </a:r>
          </a:p>
          <a:p>
            <a:r>
              <a:rPr lang="en-SG" dirty="0" smtClean="0"/>
              <a:t>Understand to be better, comfortable</a:t>
            </a:r>
          </a:p>
          <a:p>
            <a:r>
              <a:rPr lang="en-SG" dirty="0" smtClean="0"/>
              <a:t>Define </a:t>
            </a:r>
            <a:r>
              <a:rPr lang="en-SG" dirty="0" err="1" smtClean="0"/>
              <a:t>async</a:t>
            </a:r>
            <a:r>
              <a:rPr lang="en-SG" dirty="0" smtClean="0"/>
              <a:t> function: </a:t>
            </a:r>
            <a:r>
              <a:rPr lang="en-SG" dirty="0" err="1" smtClean="0"/>
              <a:t>async</a:t>
            </a:r>
            <a:r>
              <a:rPr lang="en-SG" dirty="0" smtClean="0"/>
              <a:t> def fn():</a:t>
            </a:r>
          </a:p>
          <a:p>
            <a:r>
              <a:rPr lang="en-SG" dirty="0" smtClean="0"/>
              <a:t>Call </a:t>
            </a:r>
            <a:r>
              <a:rPr lang="en-SG" dirty="0" err="1" smtClean="0"/>
              <a:t>async</a:t>
            </a:r>
            <a:r>
              <a:rPr lang="en-SG" dirty="0" smtClean="0"/>
              <a:t> function: Result = await &lt;</a:t>
            </a:r>
            <a:r>
              <a:rPr lang="en-SG" dirty="0" err="1" smtClean="0"/>
              <a:t>async</a:t>
            </a:r>
            <a:r>
              <a:rPr lang="en-SG" dirty="0" smtClean="0"/>
              <a:t> fn&gt;</a:t>
            </a:r>
          </a:p>
          <a:p>
            <a:r>
              <a:rPr lang="en-SG" dirty="0" err="1" smtClean="0"/>
              <a:t>Async</a:t>
            </a:r>
            <a:r>
              <a:rPr lang="en-SG" dirty="0" smtClean="0"/>
              <a:t> function is not function, it is </a:t>
            </a:r>
            <a:r>
              <a:rPr lang="en-SG" dirty="0" err="1" smtClean="0"/>
              <a:t>coroutine</a:t>
            </a:r>
            <a:endParaRPr lang="en-SG" dirty="0" smtClean="0"/>
          </a:p>
          <a:p>
            <a:r>
              <a:rPr lang="en-SG" dirty="0" smtClean="0"/>
              <a:t>Calling without await: Calling </a:t>
            </a:r>
            <a:r>
              <a:rPr lang="en-SG" dirty="0" err="1" smtClean="0"/>
              <a:t>coroutine</a:t>
            </a:r>
            <a:r>
              <a:rPr lang="en-SG" dirty="0" smtClean="0"/>
              <a:t> does not execute it immediately. It returns a </a:t>
            </a:r>
            <a:r>
              <a:rPr lang="en-SG" dirty="0" err="1" smtClean="0"/>
              <a:t>coroutine</a:t>
            </a:r>
            <a:r>
              <a:rPr lang="en-SG" dirty="0" smtClean="0"/>
              <a:t> </a:t>
            </a:r>
            <a:r>
              <a:rPr lang="en-SG" dirty="0" err="1" smtClean="0"/>
              <a:t>obj</a:t>
            </a:r>
            <a:endParaRPr lang="en-SG" dirty="0" smtClean="0"/>
          </a:p>
          <a:p>
            <a:r>
              <a:rPr lang="en-SG" dirty="0" smtClean="0"/>
              <a:t>Calling with await: schedule it for execution within an event loop</a:t>
            </a:r>
          </a:p>
          <a:p>
            <a:r>
              <a:rPr lang="en-SG" dirty="0" smtClean="0"/>
              <a:t>Is sequential. Only can run 1 </a:t>
            </a:r>
            <a:r>
              <a:rPr lang="en-SG" dirty="0" err="1" smtClean="0"/>
              <a:t>coroutine</a:t>
            </a:r>
            <a:r>
              <a:rPr lang="en-SG" dirty="0" smtClean="0"/>
              <a:t> at a time (no threading). Manual way of doing threading. Hence lightweight. Can have thousand of these </a:t>
            </a:r>
            <a:r>
              <a:rPr lang="en-SG" dirty="0" err="1" smtClean="0"/>
              <a:t>coroutine</a:t>
            </a:r>
            <a:r>
              <a:rPr lang="en-SG" dirty="0" smtClean="0"/>
              <a:t>.</a:t>
            </a:r>
          </a:p>
          <a:p>
            <a:r>
              <a:rPr lang="en-SG" dirty="0" smtClean="0"/>
              <a:t>Event loop run other </a:t>
            </a:r>
            <a:r>
              <a:rPr lang="en-SG" dirty="0" err="1" smtClean="0"/>
              <a:t>coroutine</a:t>
            </a:r>
            <a:r>
              <a:rPr lang="en-SG" dirty="0" smtClean="0"/>
              <a:t> when a </a:t>
            </a:r>
            <a:r>
              <a:rPr lang="en-SG" dirty="0" err="1" smtClean="0"/>
              <a:t>coroutine</a:t>
            </a:r>
            <a:r>
              <a:rPr lang="en-SG" dirty="0" smtClean="0"/>
              <a:t> waiting (</a:t>
            </a:r>
            <a:r>
              <a:rPr lang="en-SG" dirty="0" err="1" smtClean="0"/>
              <a:t>eg</a:t>
            </a:r>
            <a:r>
              <a:rPr lang="en-SG" dirty="0" smtClean="0"/>
              <a:t>. for I/O)</a:t>
            </a:r>
          </a:p>
          <a:p>
            <a:r>
              <a:rPr lang="en-SG" dirty="0" smtClean="0"/>
              <a:t>Use results = await </a:t>
            </a:r>
            <a:r>
              <a:rPr lang="en-SG" dirty="0" err="1" smtClean="0"/>
              <a:t>asyncio.gather</a:t>
            </a:r>
            <a:r>
              <a:rPr lang="en-SG" dirty="0" smtClean="0"/>
              <a:t>(fn1(), fn2(), …) to schedule many </a:t>
            </a:r>
            <a:r>
              <a:rPr lang="en-SG" dirty="0" err="1" smtClean="0"/>
              <a:t>coroutines</a:t>
            </a:r>
            <a:r>
              <a:rPr lang="en-SG" dirty="0" smtClean="0"/>
              <a:t> for execution</a:t>
            </a:r>
          </a:p>
          <a:p>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err="1" smtClean="0"/>
              <a:t>OpenAI</a:t>
            </a:r>
            <a:r>
              <a:rPr lang="en-SG" dirty="0" smtClean="0"/>
              <a:t> Agents SDK</a:t>
            </a:r>
            <a:endParaRPr lang="en-US" dirty="0"/>
          </a:p>
        </p:txBody>
      </p:sp>
      <p:sp>
        <p:nvSpPr>
          <p:cNvPr id="3" name="Content Placeholder 2"/>
          <p:cNvSpPr>
            <a:spLocks noGrp="1"/>
          </p:cNvSpPr>
          <p:nvPr>
            <p:ph idx="1"/>
          </p:nvPr>
        </p:nvSpPr>
        <p:spPr/>
        <p:txBody>
          <a:bodyPr/>
          <a:lstStyle/>
          <a:p>
            <a:r>
              <a:rPr lang="en-SG" dirty="0" smtClean="0"/>
              <a:t>Not opinionated. Less prescriptive.</a:t>
            </a:r>
          </a:p>
          <a:p>
            <a:r>
              <a:rPr lang="en-SG" dirty="0" smtClean="0"/>
              <a:t>His favourite. Start favourite on Week2 and end on Week6 (</a:t>
            </a:r>
            <a:r>
              <a:rPr lang="en-SG" dirty="0" err="1" smtClean="0"/>
              <a:t>togther</a:t>
            </a:r>
            <a:r>
              <a:rPr lang="en-SG" dirty="0" smtClean="0"/>
              <a:t> with MCP)</a:t>
            </a:r>
          </a:p>
          <a:p>
            <a:r>
              <a:rPr lang="en-SG" dirty="0" smtClean="0"/>
              <a:t>3 concepts:</a:t>
            </a:r>
          </a:p>
          <a:p>
            <a:pPr lvl="1"/>
            <a:r>
              <a:rPr lang="en-SG" dirty="0" smtClean="0"/>
              <a:t>Agents: LLMs</a:t>
            </a:r>
          </a:p>
          <a:p>
            <a:pPr lvl="1"/>
            <a:r>
              <a:rPr lang="en-SG" dirty="0" smtClean="0"/>
              <a:t>Handoffs: interactions</a:t>
            </a:r>
          </a:p>
          <a:p>
            <a:pPr lvl="1"/>
            <a:r>
              <a:rPr lang="en-SG" dirty="0" smtClean="0"/>
              <a:t>Guardrails: controls</a:t>
            </a:r>
          </a:p>
          <a:p>
            <a:r>
              <a:rPr lang="en-SG" dirty="0" smtClean="0"/>
              <a:t>Read documentation: https://openai.github.io/openai-agents-python/</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Sample code to use </a:t>
            </a:r>
            <a:r>
              <a:rPr lang="en-SG" dirty="0" err="1" smtClean="0"/>
              <a:t>ollama</a:t>
            </a:r>
            <a:r>
              <a:rPr lang="en-SG" dirty="0" smtClean="0"/>
              <a:t> to do </a:t>
            </a:r>
            <a:r>
              <a:rPr lang="en-SG" dirty="0" err="1" smtClean="0"/>
              <a:t>OpenAI</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from </a:t>
            </a:r>
            <a:r>
              <a:rPr lang="en-US" dirty="0" err="1" smtClean="0"/>
              <a:t>openai</a:t>
            </a:r>
            <a:r>
              <a:rPr lang="en-US" dirty="0" smtClean="0"/>
              <a:t> import </a:t>
            </a:r>
            <a:r>
              <a:rPr lang="en-US" dirty="0" err="1" smtClean="0"/>
              <a:t>AsyncOpenAI</a:t>
            </a:r>
            <a:endParaRPr lang="en-US" dirty="0" smtClean="0"/>
          </a:p>
          <a:p>
            <a:r>
              <a:rPr lang="en-US" dirty="0" smtClean="0"/>
              <a:t>from agents import Agent, Runner, trace, </a:t>
            </a:r>
            <a:r>
              <a:rPr lang="en-US" dirty="0" err="1" smtClean="0"/>
              <a:t>function_tool</a:t>
            </a:r>
            <a:r>
              <a:rPr lang="en-US" dirty="0" smtClean="0"/>
              <a:t>, </a:t>
            </a:r>
            <a:r>
              <a:rPr lang="en-US" dirty="0" err="1" smtClean="0"/>
              <a:t>OpenAIChatCompletionsModel</a:t>
            </a:r>
            <a:r>
              <a:rPr lang="en-US" dirty="0" smtClean="0"/>
              <a:t>, </a:t>
            </a:r>
            <a:r>
              <a:rPr lang="en-US" dirty="0" err="1" smtClean="0"/>
              <a:t>input_guardrail</a:t>
            </a:r>
            <a:r>
              <a:rPr lang="en-US" dirty="0" smtClean="0"/>
              <a:t>, </a:t>
            </a:r>
            <a:r>
              <a:rPr lang="en-US" dirty="0" err="1" smtClean="0"/>
              <a:t>GuardrailFunctionOutput</a:t>
            </a:r>
            <a:endParaRPr lang="en-US" dirty="0" smtClean="0"/>
          </a:p>
          <a:p>
            <a:r>
              <a:rPr lang="en-US" dirty="0" smtClean="0"/>
              <a:t/>
            </a:r>
            <a:br>
              <a:rPr lang="en-US" dirty="0" smtClean="0"/>
            </a:br>
            <a:r>
              <a:rPr lang="en-US" dirty="0" smtClean="0"/>
              <a:t>OLLAMA_BASE_URL = "http://localhost:11434/v1"</a:t>
            </a:r>
          </a:p>
          <a:p>
            <a:r>
              <a:rPr lang="en-US" dirty="0" err="1" smtClean="0"/>
              <a:t>api_key</a:t>
            </a:r>
            <a:r>
              <a:rPr lang="en-US" dirty="0" smtClean="0"/>
              <a:t>="</a:t>
            </a:r>
            <a:r>
              <a:rPr lang="en-US" dirty="0" err="1" smtClean="0"/>
              <a:t>ollama</a:t>
            </a:r>
            <a:r>
              <a:rPr lang="en-US" dirty="0" smtClean="0"/>
              <a:t>"</a:t>
            </a:r>
          </a:p>
          <a:p>
            <a:r>
              <a:rPr lang="en-US" dirty="0" err="1" smtClean="0"/>
              <a:t>model_name</a:t>
            </a:r>
            <a:r>
              <a:rPr lang="en-US" dirty="0" smtClean="0"/>
              <a:t> = "llama3.2"</a:t>
            </a:r>
          </a:p>
          <a:p>
            <a:r>
              <a:rPr lang="en-US" dirty="0" err="1" smtClean="0"/>
              <a:t>ollama_client</a:t>
            </a:r>
            <a:r>
              <a:rPr lang="en-US" dirty="0" smtClean="0"/>
              <a:t> = </a:t>
            </a:r>
            <a:r>
              <a:rPr lang="en-US" dirty="0" err="1" smtClean="0"/>
              <a:t>AsyncOpenAI</a:t>
            </a:r>
            <a:r>
              <a:rPr lang="en-US" dirty="0" smtClean="0"/>
              <a:t>(</a:t>
            </a:r>
            <a:r>
              <a:rPr lang="en-US" dirty="0" err="1" smtClean="0"/>
              <a:t>base_url</a:t>
            </a:r>
            <a:r>
              <a:rPr lang="en-US" dirty="0" smtClean="0"/>
              <a:t>=OLLAMA_BASE_URL, </a:t>
            </a:r>
            <a:r>
              <a:rPr lang="en-US" dirty="0" err="1" smtClean="0"/>
              <a:t>api_key</a:t>
            </a:r>
            <a:r>
              <a:rPr lang="en-US" dirty="0" smtClean="0"/>
              <a:t>=</a:t>
            </a:r>
            <a:r>
              <a:rPr lang="en-US" dirty="0" err="1" smtClean="0"/>
              <a:t>api_key</a:t>
            </a:r>
            <a:r>
              <a:rPr lang="en-US" dirty="0" smtClean="0"/>
              <a:t>)</a:t>
            </a:r>
          </a:p>
          <a:p>
            <a:r>
              <a:rPr lang="en-US" dirty="0" smtClean="0"/>
              <a:t>llama3_3_model = </a:t>
            </a:r>
            <a:r>
              <a:rPr lang="en-US" dirty="0" err="1" smtClean="0"/>
              <a:t>OpenAIChatCompletionsModel</a:t>
            </a:r>
            <a:r>
              <a:rPr lang="en-US" dirty="0" smtClean="0"/>
              <a:t>(model=</a:t>
            </a:r>
            <a:r>
              <a:rPr lang="en-US" dirty="0" err="1" smtClean="0"/>
              <a:t>model_name</a:t>
            </a:r>
            <a:r>
              <a:rPr lang="en-US" dirty="0" smtClean="0"/>
              <a:t>, </a:t>
            </a:r>
            <a:r>
              <a:rPr lang="en-US" dirty="0" err="1" smtClean="0"/>
              <a:t>openai_client</a:t>
            </a:r>
            <a:r>
              <a:rPr lang="en-US" dirty="0" smtClean="0"/>
              <a:t>=</a:t>
            </a:r>
            <a:r>
              <a:rPr lang="en-US" dirty="0" err="1" smtClean="0"/>
              <a:t>ollama_client</a:t>
            </a:r>
            <a:r>
              <a:rPr lang="en-US" dirty="0" smtClean="0"/>
              <a:t>)</a:t>
            </a:r>
          </a:p>
          <a:p>
            <a:r>
              <a:rPr lang="en-US" dirty="0" smtClean="0"/>
              <a:t>agent  = Agent(name="Llama3.3 Sales </a:t>
            </a:r>
            <a:r>
              <a:rPr lang="en-US" dirty="0" err="1" smtClean="0"/>
              <a:t>Agent",instructions</a:t>
            </a:r>
            <a:r>
              <a:rPr lang="en-US" dirty="0" smtClean="0"/>
              <a:t>="You are a joke </a:t>
            </a:r>
            <a:r>
              <a:rPr lang="en-US" dirty="0" err="1" smtClean="0"/>
              <a:t>teller",model</a:t>
            </a:r>
            <a:r>
              <a:rPr lang="en-US" dirty="0" smtClean="0"/>
              <a:t>=llama3_3_model)</a:t>
            </a:r>
          </a:p>
          <a:p>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SG" dirty="0" smtClean="0"/>
              <a:t>With trace(“telling a joke”)</a:t>
            </a:r>
          </a:p>
          <a:p>
            <a:pPr lvl="1"/>
            <a:r>
              <a:rPr lang="en-SG" dirty="0" smtClean="0"/>
              <a:t>Log it with topic as “telling a joke”</a:t>
            </a:r>
          </a:p>
          <a:p>
            <a:r>
              <a:rPr lang="en-SG" dirty="0" smtClean="0"/>
              <a:t>Go and see the traces in </a:t>
            </a:r>
            <a:r>
              <a:rPr lang="en-SG" dirty="0" err="1" smtClean="0"/>
              <a:t>OpenAI</a:t>
            </a:r>
            <a:r>
              <a:rPr lang="en-SG" dirty="0" smtClean="0"/>
              <a:t> platform traces</a:t>
            </a: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Vibe coding</a:t>
            </a:r>
            <a:endParaRPr lang="en-US" dirty="0"/>
          </a:p>
        </p:txBody>
      </p:sp>
      <p:sp>
        <p:nvSpPr>
          <p:cNvPr id="3" name="Content Placeholder 2"/>
          <p:cNvSpPr>
            <a:spLocks noGrp="1"/>
          </p:cNvSpPr>
          <p:nvPr>
            <p:ph idx="1"/>
          </p:nvPr>
        </p:nvSpPr>
        <p:spPr/>
        <p:txBody>
          <a:bodyPr/>
          <a:lstStyle/>
          <a:p>
            <a:r>
              <a:rPr lang="en-SG" dirty="0" smtClean="0"/>
              <a:t>5 tips</a:t>
            </a:r>
          </a:p>
          <a:p>
            <a:pPr lvl="1"/>
            <a:r>
              <a:rPr lang="en-SG" dirty="0" smtClean="0"/>
              <a:t>Prompt well. Ask for short answers and latest API for today date</a:t>
            </a:r>
          </a:p>
          <a:p>
            <a:pPr lvl="1"/>
            <a:r>
              <a:rPr lang="en-SG" dirty="0" smtClean="0"/>
              <a:t>Verify: ask 2 LLM same </a:t>
            </a:r>
            <a:r>
              <a:rPr lang="en-SG" dirty="0" err="1" smtClean="0"/>
              <a:t>qn</a:t>
            </a:r>
            <a:endParaRPr lang="en-SG" dirty="0" smtClean="0"/>
          </a:p>
          <a:p>
            <a:pPr lvl="1"/>
            <a:r>
              <a:rPr lang="en-SG" dirty="0" smtClean="0"/>
              <a:t>Do this manually or ask  LLM to break down request into independently testable steps</a:t>
            </a:r>
          </a:p>
          <a:p>
            <a:pPr lvl="1"/>
            <a:r>
              <a:rPr lang="en-SG" dirty="0" smtClean="0"/>
              <a:t>Validate: ask LLM to check another LLM</a:t>
            </a:r>
          </a:p>
          <a:p>
            <a:pPr lvl="1"/>
            <a:r>
              <a:rPr lang="en-SG" dirty="0" smtClean="0"/>
              <a:t>Variety: Ask for 3 </a:t>
            </a:r>
            <a:r>
              <a:rPr lang="en-SG" dirty="0" err="1" smtClean="0"/>
              <a:t>soln</a:t>
            </a:r>
            <a:r>
              <a:rPr lang="en-SG" dirty="0" smtClean="0"/>
              <a:t> to same problem. Pick the best</a:t>
            </a:r>
          </a:p>
          <a:p>
            <a:pPr lvl="1"/>
            <a:r>
              <a:rPr lang="en-SG" dirty="0" smtClean="0"/>
              <a:t>Understand everything.</a:t>
            </a:r>
          </a:p>
          <a:p>
            <a:pPr lvl="1"/>
            <a:r>
              <a:rPr lang="en-SG" dirty="0" smtClean="0"/>
              <a:t>Understand everything. Ask LLM to explain until u understand.</a:t>
            </a: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W2D2: SDR (Sales Development Rep)</a:t>
            </a:r>
            <a:endParaRPr lang="en-US" dirty="0"/>
          </a:p>
        </p:txBody>
      </p:sp>
      <p:sp>
        <p:nvSpPr>
          <p:cNvPr id="3" name="Content Placeholder 2"/>
          <p:cNvSpPr>
            <a:spLocks noGrp="1"/>
          </p:cNvSpPr>
          <p:nvPr>
            <p:ph idx="1"/>
          </p:nvPr>
        </p:nvSpPr>
        <p:spPr/>
        <p:txBody>
          <a:bodyPr/>
          <a:lstStyle/>
          <a:p>
            <a:r>
              <a:rPr lang="en-SG" dirty="0" smtClean="0"/>
              <a:t>Treat agents as tools or use Handoffs</a:t>
            </a: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err="1" smtClean="0"/>
              <a:t>sendgrid</a:t>
            </a:r>
            <a:endParaRPr lang="en-US" dirty="0"/>
          </a:p>
        </p:txBody>
      </p:sp>
      <p:sp>
        <p:nvSpPr>
          <p:cNvPr id="3" name="Content Placeholder 2"/>
          <p:cNvSpPr>
            <a:spLocks noGrp="1"/>
          </p:cNvSpPr>
          <p:nvPr>
            <p:ph idx="1"/>
          </p:nvPr>
        </p:nvSpPr>
        <p:spPr/>
        <p:txBody>
          <a:bodyPr>
            <a:normAutofit fontScale="70000" lnSpcReduction="20000"/>
          </a:bodyPr>
          <a:lstStyle/>
          <a:p>
            <a:r>
              <a:rPr lang="en-SG" dirty="0" smtClean="0"/>
              <a:t>API key</a:t>
            </a:r>
          </a:p>
          <a:p>
            <a:r>
              <a:rPr lang="en-SG" dirty="0" smtClean="0"/>
              <a:t>Sender Authentication to send to a single email</a:t>
            </a:r>
          </a:p>
          <a:p>
            <a:r>
              <a:rPr lang="en-US" dirty="0" smtClean="0"/>
              <a:t>Hello,</a:t>
            </a:r>
          </a:p>
          <a:p>
            <a:r>
              <a:rPr lang="en-US" dirty="0" smtClean="0"/>
              <a:t>We appreciate your interest in </a:t>
            </a:r>
            <a:r>
              <a:rPr lang="en-US" dirty="0" err="1" smtClean="0"/>
              <a:t>Twilio</a:t>
            </a:r>
            <a:r>
              <a:rPr lang="en-US" dirty="0" smtClean="0"/>
              <a:t> </a:t>
            </a:r>
            <a:r>
              <a:rPr lang="en-US" dirty="0" err="1" smtClean="0"/>
              <a:t>SendGrid</a:t>
            </a:r>
            <a:r>
              <a:rPr lang="en-US" dirty="0" smtClean="0"/>
              <a:t> and your efforts in completing our account creation process. After a thorough review, we regret to inform you that we are unable to proceed with activating your account (unified_acct_USeb42f64a3566a8e07f4078c1a4cbec3b - 106638457) at this time.</a:t>
            </a:r>
          </a:p>
          <a:p>
            <a:r>
              <a:rPr lang="en-US" dirty="0" smtClean="0"/>
              <a:t>Ensuring the security and integrity of our platform is our top priority, and our vetting process is designed to detect potential risks. While we understand the importance of transparency, we are not able to provide the specifics of our vetting process.</a:t>
            </a:r>
          </a:p>
          <a:p>
            <a:r>
              <a:rPr lang="en-US" dirty="0" smtClean="0"/>
              <a:t>We want to emphasize that our decision is based on stringent security measures and our commitment to the safety of all our users.</a:t>
            </a:r>
          </a:p>
          <a:p>
            <a:r>
              <a:rPr lang="en-US" dirty="0" smtClean="0"/>
              <a:t>Thank you for considering </a:t>
            </a:r>
            <a:r>
              <a:rPr lang="en-US" dirty="0" err="1" smtClean="0"/>
              <a:t>Twilio</a:t>
            </a:r>
            <a:r>
              <a:rPr lang="en-US" dirty="0" smtClean="0"/>
              <a:t> </a:t>
            </a:r>
            <a:r>
              <a:rPr lang="en-US" dirty="0" err="1" smtClean="0"/>
              <a:t>SendGrid</a:t>
            </a:r>
            <a:r>
              <a:rPr lang="en-US" dirty="0" smtClean="0"/>
              <a:t>.</a:t>
            </a:r>
          </a:p>
          <a:p>
            <a:r>
              <a:rPr lang="en-US" dirty="0" smtClean="0"/>
              <a:t>Sincerely,</a:t>
            </a:r>
            <a:br>
              <a:rPr lang="en-US" dirty="0" smtClean="0"/>
            </a:br>
            <a:r>
              <a:rPr lang="en-US" dirty="0" err="1" smtClean="0"/>
              <a:t>Onboarding</a:t>
            </a:r>
            <a:r>
              <a:rPr lang="en-US" dirty="0" smtClean="0"/>
              <a:t> &amp; Compliance Operations</a:t>
            </a:r>
          </a:p>
          <a:p>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Difference between run and </a:t>
            </a:r>
            <a:r>
              <a:rPr lang="en-SG" dirty="0" err="1" smtClean="0"/>
              <a:t>run_streamed</a:t>
            </a:r>
            <a:endParaRPr lang="en-US" dirty="0"/>
          </a:p>
        </p:txBody>
      </p:sp>
      <p:graphicFrame>
        <p:nvGraphicFramePr>
          <p:cNvPr id="4" name="Content Placeholder 3"/>
          <p:cNvGraphicFramePr>
            <a:graphicFrameLocks noGrp="1"/>
          </p:cNvGraphicFramePr>
          <p:nvPr>
            <p:ph idx="1"/>
          </p:nvPr>
        </p:nvGraphicFramePr>
        <p:xfrm>
          <a:off x="838200" y="1825625"/>
          <a:ext cx="10515600" cy="4958080"/>
        </p:xfrm>
        <a:graphic>
          <a:graphicData uri="http://schemas.openxmlformats.org/drawingml/2006/table">
            <a:tbl>
              <a:tblPr firstRow="1" bandRow="1">
                <a:tableStyleId>{5C22544A-7EE6-4342-B048-85BDC9FD1C3A}</a:tableStyleId>
              </a:tblPr>
              <a:tblGrid>
                <a:gridCol w="5257800"/>
                <a:gridCol w="5257800"/>
              </a:tblGrid>
              <a:tr h="370840">
                <a:tc>
                  <a:txBody>
                    <a:bodyPr/>
                    <a:lstStyle/>
                    <a:p>
                      <a:r>
                        <a:rPr lang="en-SG" dirty="0" err="1" smtClean="0"/>
                        <a:t>Runner.run</a:t>
                      </a:r>
                      <a:endParaRPr lang="en-US" dirty="0"/>
                    </a:p>
                  </a:txBody>
                  <a:tcPr/>
                </a:tc>
                <a:tc>
                  <a:txBody>
                    <a:bodyPr/>
                    <a:lstStyle/>
                    <a:p>
                      <a:r>
                        <a:rPr lang="en-SG" dirty="0" err="1" smtClean="0"/>
                        <a:t>Runner.run_streamed</a:t>
                      </a:r>
                      <a:endParaRPr lang="en-US" dirty="0"/>
                    </a:p>
                  </a:txBody>
                  <a:tcPr/>
                </a:tc>
              </a:tr>
              <a:tr h="370840">
                <a:tc>
                  <a:txBody>
                    <a:bodyPr/>
                    <a:lstStyle/>
                    <a:p>
                      <a:r>
                        <a:rPr lang="en-SG" dirty="0" smtClean="0"/>
                        <a:t>Blocking/non-streaming</a:t>
                      </a:r>
                      <a:endParaRPr lang="en-US" dirty="0"/>
                    </a:p>
                  </a:txBody>
                  <a:tcPr/>
                </a:tc>
                <a:tc>
                  <a:txBody>
                    <a:bodyPr/>
                    <a:lstStyle/>
                    <a:p>
                      <a:r>
                        <a:rPr lang="en-SG" dirty="0" smtClean="0"/>
                        <a:t>Streaming/</a:t>
                      </a:r>
                      <a:r>
                        <a:rPr lang="en-SG" baseline="0" dirty="0" smtClean="0"/>
                        <a:t> incremental</a:t>
                      </a:r>
                      <a:endParaRPr lang="en-US" dirty="0"/>
                    </a:p>
                  </a:txBody>
                  <a:tcPr/>
                </a:tc>
              </a:tr>
              <a:tr h="370840">
                <a:tc>
                  <a:txBody>
                    <a:bodyPr/>
                    <a:lstStyle/>
                    <a:p>
                      <a:r>
                        <a:rPr lang="en-SG" dirty="0" smtClean="0"/>
                        <a:t>Wait until agent finish </a:t>
                      </a:r>
                      <a:r>
                        <a:rPr lang="en-SG" dirty="0" err="1" smtClean="0"/>
                        <a:t>evyth</a:t>
                      </a:r>
                      <a:endParaRPr lang="en-US" dirty="0"/>
                    </a:p>
                  </a:txBody>
                  <a:tcPr/>
                </a:tc>
                <a:tc>
                  <a:txBody>
                    <a:bodyPr/>
                    <a:lstStyle/>
                    <a:p>
                      <a:r>
                        <a:rPr lang="en-SG" dirty="0" smtClean="0"/>
                        <a:t>Yield event as agent runs</a:t>
                      </a:r>
                      <a:endParaRPr lang="en-US" dirty="0"/>
                    </a:p>
                  </a:txBody>
                  <a:tcPr/>
                </a:tc>
              </a:tr>
              <a:tr h="370840">
                <a:tc>
                  <a:txBody>
                    <a:bodyPr/>
                    <a:lstStyle/>
                    <a:p>
                      <a:r>
                        <a:rPr lang="en-SG" dirty="0" smtClean="0"/>
                        <a:t>Return final results only</a:t>
                      </a:r>
                      <a:endParaRPr lang="en-US" dirty="0"/>
                    </a:p>
                  </a:txBody>
                  <a:tcPr/>
                </a:tc>
                <a:tc>
                  <a:txBody>
                    <a:bodyPr/>
                    <a:lstStyle/>
                    <a:p>
                      <a:r>
                        <a:rPr lang="en-SG" dirty="0" smtClean="0"/>
                        <a:t>Observe step-by-step execution</a:t>
                      </a:r>
                      <a:endParaRPr lang="en-US" dirty="0"/>
                    </a:p>
                  </a:txBody>
                  <a:tcPr/>
                </a:tc>
              </a:tr>
              <a:tr h="370840">
                <a:tc>
                  <a:txBody>
                    <a:bodyPr/>
                    <a:lstStyle/>
                    <a:p>
                      <a:endParaRPr lang="en-US" dirty="0"/>
                    </a:p>
                  </a:txBody>
                  <a:tcPr/>
                </a:tc>
                <a:tc>
                  <a:txBody>
                    <a:bodyPr/>
                    <a:lstStyle/>
                    <a:p>
                      <a:r>
                        <a:rPr lang="en-SG" dirty="0" smtClean="0"/>
                        <a:t>Use with </a:t>
                      </a:r>
                      <a:r>
                        <a:rPr lang="en-SG" dirty="0" err="1" smtClean="0"/>
                        <a:t>async</a:t>
                      </a:r>
                      <a:r>
                        <a:rPr lang="en-SG" baseline="0" dirty="0" smtClean="0"/>
                        <a:t> for</a:t>
                      </a:r>
                    </a:p>
                    <a:p>
                      <a:r>
                        <a:rPr lang="en-SG" baseline="0" dirty="0" smtClean="0"/>
                        <a:t>Expose agent lifecycle:</a:t>
                      </a:r>
                    </a:p>
                    <a:p>
                      <a:pPr>
                        <a:buFontTx/>
                        <a:buChar char="-"/>
                      </a:pPr>
                      <a:r>
                        <a:rPr lang="en-SG" baseline="0" dirty="0" smtClean="0"/>
                        <a:t>Planning</a:t>
                      </a:r>
                    </a:p>
                    <a:p>
                      <a:pPr>
                        <a:buFontTx/>
                        <a:buChar char="-"/>
                      </a:pPr>
                      <a:r>
                        <a:rPr lang="en-SG" baseline="0" dirty="0" smtClean="0"/>
                        <a:t>Tool invocation</a:t>
                      </a:r>
                    </a:p>
                    <a:p>
                      <a:pPr>
                        <a:buFontTx/>
                        <a:buChar char="-"/>
                      </a:pPr>
                      <a:r>
                        <a:rPr lang="en-SG" baseline="0" dirty="0" smtClean="0"/>
                        <a:t>Intermediate output</a:t>
                      </a:r>
                    </a:p>
                    <a:p>
                      <a:pPr>
                        <a:buFontTx/>
                        <a:buNone/>
                      </a:pPr>
                      <a:r>
                        <a:rPr lang="en-SG" baseline="0" dirty="0" smtClean="0"/>
                        <a:t>More powerful for debugging and </a:t>
                      </a:r>
                      <a:r>
                        <a:rPr lang="en-SG" baseline="0" dirty="0" err="1" smtClean="0"/>
                        <a:t>observability</a:t>
                      </a:r>
                      <a:endParaRPr lang="en-US"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SG" dirty="0" smtClean="0"/>
                        <a:t>Need with trace to log in </a:t>
                      </a:r>
                      <a:r>
                        <a:rPr lang="en-SG" dirty="0" err="1" smtClean="0"/>
                        <a:t>OpenAI</a:t>
                      </a:r>
                      <a:r>
                        <a:rPr lang="en-SG" dirty="0" smtClean="0"/>
                        <a:t> Platform</a:t>
                      </a:r>
                      <a:r>
                        <a:rPr lang="en-SG" baseline="0" dirty="0" smtClean="0"/>
                        <a:t> trace</a:t>
                      </a:r>
                      <a:endParaRPr lang="en-US" dirty="0" smtClean="0"/>
                    </a:p>
                    <a:p>
                      <a:r>
                        <a:rPr lang="en-US" sz="1800" b="0" kern="1200" dirty="0" smtClean="0">
                          <a:solidFill>
                            <a:schemeClr val="dk1"/>
                          </a:solidFill>
                          <a:latin typeface="+mn-lt"/>
                          <a:ea typeface="+mn-ea"/>
                          <a:cs typeface="+mn-cs"/>
                        </a:rPr>
                        <a:t>with trace("Telling a joke"):</a:t>
                      </a:r>
                    </a:p>
                    <a:p>
                      <a:r>
                        <a:rPr lang="en-US" sz="1800" b="0" kern="1200" dirty="0" smtClean="0">
                          <a:solidFill>
                            <a:schemeClr val="dk1"/>
                          </a:solidFill>
                          <a:latin typeface="+mn-lt"/>
                          <a:ea typeface="+mn-ea"/>
                          <a:cs typeface="+mn-cs"/>
                        </a:rPr>
                        <a:t>    result = await </a:t>
                      </a:r>
                      <a:r>
                        <a:rPr lang="en-US" sz="1800" b="0" kern="1200" dirty="0" err="1" smtClean="0">
                          <a:solidFill>
                            <a:schemeClr val="dk1"/>
                          </a:solidFill>
                          <a:latin typeface="+mn-lt"/>
                          <a:ea typeface="+mn-ea"/>
                          <a:cs typeface="+mn-cs"/>
                        </a:rPr>
                        <a:t>Runner.run</a:t>
                      </a:r>
                      <a:r>
                        <a:rPr lang="en-US" sz="1800" b="0" kern="1200" dirty="0" smtClean="0">
                          <a:solidFill>
                            <a:schemeClr val="dk1"/>
                          </a:solidFill>
                          <a:latin typeface="+mn-lt"/>
                          <a:ea typeface="+mn-ea"/>
                          <a:cs typeface="+mn-cs"/>
                        </a:rPr>
                        <a:t>(agent, "Tell a joke about Autonomous AI Agents")</a:t>
                      </a:r>
                    </a:p>
                    <a:p>
                      <a:r>
                        <a:rPr lang="en-US" sz="1800" b="0" kern="1200" dirty="0" smtClean="0">
                          <a:solidFill>
                            <a:schemeClr val="dk1"/>
                          </a:solidFill>
                          <a:latin typeface="+mn-lt"/>
                          <a:ea typeface="+mn-ea"/>
                          <a:cs typeface="+mn-cs"/>
                        </a:rPr>
                        <a:t>    print(</a:t>
                      </a:r>
                      <a:r>
                        <a:rPr lang="en-US" sz="1800" b="0" kern="1200" dirty="0" err="1" smtClean="0">
                          <a:solidFill>
                            <a:schemeClr val="dk1"/>
                          </a:solidFill>
                          <a:latin typeface="+mn-lt"/>
                          <a:ea typeface="+mn-ea"/>
                          <a:cs typeface="+mn-cs"/>
                        </a:rPr>
                        <a:t>result.final_output</a:t>
                      </a:r>
                      <a:r>
                        <a:rPr lang="en-US" sz="1800" b="0" kern="1200" dirty="0" smtClean="0">
                          <a:solidFill>
                            <a:schemeClr val="dk1"/>
                          </a:solidFill>
                          <a:latin typeface="+mn-lt"/>
                          <a:ea typeface="+mn-ea"/>
                          <a:cs typeface="+mn-cs"/>
                        </a:rPr>
                        <a:t>)</a:t>
                      </a:r>
                    </a:p>
                    <a:p>
                      <a:endParaRPr lang="en-US" dirty="0"/>
                    </a:p>
                  </a:txBody>
                  <a:tcPr/>
                </a:tc>
                <a:tc>
                  <a:txBody>
                    <a:bodyPr/>
                    <a:lstStyle/>
                    <a:p>
                      <a:r>
                        <a:rPr lang="en-US" sz="1800" b="0" kern="1200" dirty="0" err="1" smtClean="0">
                          <a:solidFill>
                            <a:schemeClr val="dk1"/>
                          </a:solidFill>
                          <a:latin typeface="+mn-lt"/>
                          <a:ea typeface="+mn-ea"/>
                          <a:cs typeface="+mn-cs"/>
                        </a:rPr>
                        <a:t>async</a:t>
                      </a:r>
                      <a:r>
                        <a:rPr lang="en-US" sz="1800" b="0" kern="1200" dirty="0" smtClean="0">
                          <a:solidFill>
                            <a:schemeClr val="dk1"/>
                          </a:solidFill>
                          <a:latin typeface="+mn-lt"/>
                          <a:ea typeface="+mn-ea"/>
                          <a:cs typeface="+mn-cs"/>
                        </a:rPr>
                        <a:t> for event in </a:t>
                      </a:r>
                      <a:r>
                        <a:rPr lang="en-US" sz="1800" b="0" kern="1200" dirty="0" err="1" smtClean="0">
                          <a:solidFill>
                            <a:schemeClr val="dk1"/>
                          </a:solidFill>
                          <a:latin typeface="+mn-lt"/>
                          <a:ea typeface="+mn-ea"/>
                          <a:cs typeface="+mn-cs"/>
                        </a:rPr>
                        <a:t>result.stream_events</a:t>
                      </a:r>
                      <a:r>
                        <a:rPr lang="en-US" sz="1800" b="0" kern="1200" dirty="0" smtClean="0">
                          <a:solidFill>
                            <a:schemeClr val="dk1"/>
                          </a:solidFill>
                          <a:latin typeface="+mn-lt"/>
                          <a:ea typeface="+mn-ea"/>
                          <a:cs typeface="+mn-cs"/>
                        </a:rPr>
                        <a:t>():</a:t>
                      </a:r>
                    </a:p>
                    <a:p>
                      <a:r>
                        <a:rPr lang="en-US" sz="1800" b="0" kern="1200" dirty="0" smtClean="0">
                          <a:solidFill>
                            <a:schemeClr val="dk1"/>
                          </a:solidFill>
                          <a:latin typeface="+mn-lt"/>
                          <a:ea typeface="+mn-ea"/>
                          <a:cs typeface="+mn-cs"/>
                        </a:rPr>
                        <a:t>    if </a:t>
                      </a:r>
                      <a:r>
                        <a:rPr lang="en-US" sz="1800" b="0" kern="1200" dirty="0" err="1" smtClean="0">
                          <a:solidFill>
                            <a:schemeClr val="dk1"/>
                          </a:solidFill>
                          <a:latin typeface="+mn-lt"/>
                          <a:ea typeface="+mn-ea"/>
                          <a:cs typeface="+mn-cs"/>
                        </a:rPr>
                        <a:t>event.type</a:t>
                      </a:r>
                      <a:r>
                        <a:rPr lang="en-US" sz="1800" b="0" kern="1200" dirty="0" smtClean="0">
                          <a:solidFill>
                            <a:schemeClr val="dk1"/>
                          </a:solidFill>
                          <a:latin typeface="+mn-lt"/>
                          <a:ea typeface="+mn-ea"/>
                          <a:cs typeface="+mn-cs"/>
                        </a:rPr>
                        <a:t> == "</a:t>
                      </a:r>
                      <a:r>
                        <a:rPr lang="en-US" sz="1800" b="0" kern="1200" dirty="0" err="1" smtClean="0">
                          <a:solidFill>
                            <a:schemeClr val="dk1"/>
                          </a:solidFill>
                          <a:latin typeface="+mn-lt"/>
                          <a:ea typeface="+mn-ea"/>
                          <a:cs typeface="+mn-cs"/>
                        </a:rPr>
                        <a:t>raw_response_event</a:t>
                      </a:r>
                      <a:r>
                        <a:rPr lang="en-US" sz="1800" b="0" kern="1200" dirty="0" smtClean="0">
                          <a:solidFill>
                            <a:schemeClr val="dk1"/>
                          </a:solidFill>
                          <a:latin typeface="+mn-lt"/>
                          <a:ea typeface="+mn-ea"/>
                          <a:cs typeface="+mn-cs"/>
                        </a:rPr>
                        <a:t>" and </a:t>
                      </a:r>
                      <a:r>
                        <a:rPr lang="en-US" sz="1800" b="0" kern="1200" dirty="0" err="1" smtClean="0">
                          <a:solidFill>
                            <a:schemeClr val="dk1"/>
                          </a:solidFill>
                          <a:latin typeface="+mn-lt"/>
                          <a:ea typeface="+mn-ea"/>
                          <a:cs typeface="+mn-cs"/>
                        </a:rPr>
                        <a:t>isinstance</a:t>
                      </a:r>
                      <a:r>
                        <a:rPr lang="en-US" sz="1800" b="0" kern="1200" dirty="0" smtClean="0">
                          <a:solidFill>
                            <a:schemeClr val="dk1"/>
                          </a:solidFill>
                          <a:latin typeface="+mn-lt"/>
                          <a:ea typeface="+mn-ea"/>
                          <a:cs typeface="+mn-cs"/>
                        </a:rPr>
                        <a:t>(</a:t>
                      </a:r>
                      <a:r>
                        <a:rPr lang="en-US" sz="1800" b="0" kern="1200" dirty="0" err="1" smtClean="0">
                          <a:solidFill>
                            <a:schemeClr val="dk1"/>
                          </a:solidFill>
                          <a:latin typeface="+mn-lt"/>
                          <a:ea typeface="+mn-ea"/>
                          <a:cs typeface="+mn-cs"/>
                        </a:rPr>
                        <a:t>event.data</a:t>
                      </a:r>
                      <a:r>
                        <a:rPr lang="en-US" sz="1800" b="0" kern="1200" dirty="0" smtClean="0">
                          <a:solidFill>
                            <a:schemeClr val="dk1"/>
                          </a:solidFill>
                          <a:latin typeface="+mn-lt"/>
                          <a:ea typeface="+mn-ea"/>
                          <a:cs typeface="+mn-cs"/>
                        </a:rPr>
                        <a:t>, </a:t>
                      </a:r>
                      <a:r>
                        <a:rPr lang="en-US" sz="1800" b="0" kern="1200" dirty="0" err="1" smtClean="0">
                          <a:solidFill>
                            <a:schemeClr val="dk1"/>
                          </a:solidFill>
                          <a:latin typeface="+mn-lt"/>
                          <a:ea typeface="+mn-ea"/>
                          <a:cs typeface="+mn-cs"/>
                        </a:rPr>
                        <a:t>ResponseTextDeltaEvent</a:t>
                      </a:r>
                      <a:r>
                        <a:rPr lang="en-US" sz="1800" b="0" kern="1200" dirty="0" smtClean="0">
                          <a:solidFill>
                            <a:schemeClr val="dk1"/>
                          </a:solidFill>
                          <a:latin typeface="+mn-lt"/>
                          <a:ea typeface="+mn-ea"/>
                          <a:cs typeface="+mn-cs"/>
                        </a:rPr>
                        <a:t>):</a:t>
                      </a:r>
                    </a:p>
                    <a:p>
                      <a:r>
                        <a:rPr lang="en-US" sz="1800" b="0" kern="1200" dirty="0" smtClean="0">
                          <a:solidFill>
                            <a:schemeClr val="dk1"/>
                          </a:solidFill>
                          <a:latin typeface="+mn-lt"/>
                          <a:ea typeface="+mn-ea"/>
                          <a:cs typeface="+mn-cs"/>
                        </a:rPr>
                        <a:t>        print(</a:t>
                      </a:r>
                      <a:r>
                        <a:rPr lang="en-US" sz="1800" b="0" kern="1200" dirty="0" err="1" smtClean="0">
                          <a:solidFill>
                            <a:schemeClr val="dk1"/>
                          </a:solidFill>
                          <a:latin typeface="+mn-lt"/>
                          <a:ea typeface="+mn-ea"/>
                          <a:cs typeface="+mn-cs"/>
                        </a:rPr>
                        <a:t>event.data.delta</a:t>
                      </a:r>
                      <a:r>
                        <a:rPr lang="en-US" sz="1800" b="0" kern="1200" dirty="0" smtClean="0">
                          <a:solidFill>
                            <a:schemeClr val="dk1"/>
                          </a:solidFill>
                          <a:latin typeface="+mn-lt"/>
                          <a:ea typeface="+mn-ea"/>
                          <a:cs typeface="+mn-cs"/>
                        </a:rPr>
                        <a:t>, end="", flush=True)</a:t>
                      </a:r>
                    </a:p>
                    <a:p>
                      <a:pPr>
                        <a:buFontTx/>
                        <a:buNone/>
                      </a:pPr>
                      <a:endParaRPr lang="en-US" dirty="0"/>
                    </a:p>
                  </a:txBody>
                  <a:tcPr/>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r>
              <a:rPr lang="en-SG" dirty="0" smtClean="0"/>
              <a:t>@</a:t>
            </a:r>
            <a:r>
              <a:rPr lang="en-SG" dirty="0" err="1" smtClean="0"/>
              <a:t>function_tool</a:t>
            </a:r>
            <a:r>
              <a:rPr lang="en-SG" dirty="0" smtClean="0"/>
              <a:t> convert function into a tool</a:t>
            </a:r>
          </a:p>
          <a:p>
            <a:r>
              <a:rPr lang="en-SG" dirty="0" smtClean="0"/>
              <a:t>Turn agent into a tool: </a:t>
            </a:r>
            <a:r>
              <a:rPr lang="en-SG" dirty="0" err="1" smtClean="0"/>
              <a:t>agent_inst.as_tool</a:t>
            </a:r>
            <a:r>
              <a:rPr lang="en-SG" dirty="0" smtClean="0"/>
              <a:t>(</a:t>
            </a:r>
            <a:r>
              <a:rPr lang="en-SG" dirty="0" err="1" smtClean="0"/>
              <a:t>tool_name</a:t>
            </a:r>
            <a:r>
              <a:rPr lang="en-SG" dirty="0" smtClean="0"/>
              <a:t>=,</a:t>
            </a:r>
            <a:r>
              <a:rPr lang="en-SG" dirty="0" err="1" smtClean="0"/>
              <a:t>tool_description</a:t>
            </a:r>
            <a:r>
              <a:rPr lang="en-SG" dirty="0" smtClean="0"/>
              <a:t>=)</a:t>
            </a:r>
          </a:p>
          <a:p>
            <a:r>
              <a:rPr lang="en-SG" dirty="0" smtClean="0"/>
              <a:t>Agent (dark green) wrapped inside a tool (green) in </a:t>
            </a:r>
            <a:r>
              <a:rPr lang="en-SG" dirty="0" err="1" smtClean="0"/>
              <a:t>OpenAI</a:t>
            </a:r>
            <a:r>
              <a:rPr lang="en-SG" dirty="0" smtClean="0"/>
              <a:t> Platform trace</a:t>
            </a:r>
          </a:p>
          <a:p>
            <a:r>
              <a:rPr lang="en-SG" dirty="0" smtClean="0"/>
              <a:t>Agents accept </a:t>
            </a:r>
            <a:r>
              <a:rPr lang="en-SG" dirty="0" err="1" smtClean="0"/>
              <a:t>str</a:t>
            </a:r>
            <a:r>
              <a:rPr lang="en-SG" dirty="0" smtClean="0"/>
              <a:t> only as input. Cannot take in a </a:t>
            </a:r>
            <a:r>
              <a:rPr lang="en-SG" dirty="0" err="1" smtClean="0"/>
              <a:t>dict</a:t>
            </a:r>
            <a:r>
              <a:rPr lang="en-SG" dirty="0" smtClean="0"/>
              <a:t> or </a:t>
            </a:r>
            <a:r>
              <a:rPr lang="en-SG" dirty="0" err="1" smtClean="0"/>
              <a:t>json</a:t>
            </a:r>
            <a:endParaRPr lang="en-SG" dirty="0" smtClean="0"/>
          </a:p>
          <a:p>
            <a:r>
              <a:rPr lang="en-SG" dirty="0" smtClean="0"/>
              <a:t>Not sure how to enforce </a:t>
            </a:r>
            <a:r>
              <a:rPr lang="en-SG" dirty="0" err="1" smtClean="0"/>
              <a:t>str</a:t>
            </a:r>
            <a:r>
              <a:rPr lang="en-SG" dirty="0" smtClean="0"/>
              <a:t> only input now.</a:t>
            </a:r>
          </a:p>
          <a:p>
            <a:r>
              <a:rPr lang="en-SG" dirty="0" smtClean="0"/>
              <a:t>Try repeated prompting and output=</a:t>
            </a:r>
            <a:r>
              <a:rPr lang="en-SG" dirty="0" err="1" smtClean="0"/>
              <a:t>str</a:t>
            </a:r>
            <a:r>
              <a:rPr lang="en-SG" dirty="0" smtClean="0"/>
              <a:t> also does not help.</a:t>
            </a:r>
          </a:p>
          <a:p>
            <a:r>
              <a:rPr lang="en-SG" dirty="0" smtClean="0"/>
              <a:t>It also did not listen to instruction such as gather 3 different agents results. It will sometime use 2 same agents.</a:t>
            </a:r>
          </a:p>
          <a:p>
            <a:r>
              <a:rPr lang="en-SG" dirty="0" smtClean="0"/>
              <a:t>When 1 agent makes mistake, it will halt the rest of the system.</a:t>
            </a:r>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SG" dirty="0" smtClean="0"/>
              <a:t>Instead of using agent as tool, use Handoff.</a:t>
            </a:r>
          </a:p>
          <a:p>
            <a:r>
              <a:rPr lang="en-SG" dirty="0" smtClean="0"/>
              <a:t>Agent delegate to another agent, pass control to it</a:t>
            </a:r>
          </a:p>
          <a:p>
            <a:r>
              <a:rPr lang="en-SG" dirty="0" smtClean="0"/>
              <a:t>Handoff is the agent  being delegated task to.</a:t>
            </a:r>
            <a:endParaRPr lang="en-US" dirty="0"/>
          </a:p>
        </p:txBody>
      </p:sp>
      <p:graphicFrame>
        <p:nvGraphicFramePr>
          <p:cNvPr id="4" name="Table 3"/>
          <p:cNvGraphicFramePr>
            <a:graphicFrameLocks noGrp="1"/>
          </p:cNvGraphicFramePr>
          <p:nvPr/>
        </p:nvGraphicFramePr>
        <p:xfrm>
          <a:off x="2315028" y="4159551"/>
          <a:ext cx="8128000" cy="1854200"/>
        </p:xfrm>
        <a:graphic>
          <a:graphicData uri="http://schemas.openxmlformats.org/drawingml/2006/table">
            <a:tbl>
              <a:tblPr firstRow="1" bandRow="1">
                <a:tableStyleId>{5C22544A-7EE6-4342-B048-85BDC9FD1C3A}</a:tableStyleId>
              </a:tblPr>
              <a:tblGrid>
                <a:gridCol w="4064000"/>
                <a:gridCol w="4064000"/>
              </a:tblGrid>
              <a:tr h="370840">
                <a:tc>
                  <a:txBody>
                    <a:bodyPr/>
                    <a:lstStyle/>
                    <a:p>
                      <a:r>
                        <a:rPr lang="en-SG" dirty="0" smtClean="0"/>
                        <a:t>Agent as tool</a:t>
                      </a:r>
                      <a:endParaRPr lang="en-US" dirty="0"/>
                    </a:p>
                  </a:txBody>
                  <a:tcPr/>
                </a:tc>
                <a:tc>
                  <a:txBody>
                    <a:bodyPr/>
                    <a:lstStyle/>
                    <a:p>
                      <a:r>
                        <a:rPr lang="en-SG" dirty="0" smtClean="0"/>
                        <a:t>Agent</a:t>
                      </a:r>
                      <a:r>
                        <a:rPr lang="en-SG" baseline="0" dirty="0" smtClean="0"/>
                        <a:t> delegation via Handoff</a:t>
                      </a:r>
                      <a:endParaRPr lang="en-US" dirty="0"/>
                    </a:p>
                  </a:txBody>
                  <a:tcPr/>
                </a:tc>
              </a:tr>
              <a:tr h="370840">
                <a:tc>
                  <a:txBody>
                    <a:bodyPr/>
                    <a:lstStyle/>
                    <a:p>
                      <a:r>
                        <a:rPr lang="en-SG" dirty="0" smtClean="0"/>
                        <a:t>Agent1 use Agent2</a:t>
                      </a:r>
                      <a:r>
                        <a:rPr lang="en-SG" baseline="0" dirty="0" smtClean="0"/>
                        <a:t> as tool</a:t>
                      </a:r>
                      <a:endParaRPr lang="en-US" dirty="0"/>
                    </a:p>
                  </a:txBody>
                  <a:tcPr/>
                </a:tc>
                <a:tc>
                  <a:txBody>
                    <a:bodyPr/>
                    <a:lstStyle/>
                    <a:p>
                      <a:r>
                        <a:rPr lang="en-SG" dirty="0" smtClean="0"/>
                        <a:t>Agent1</a:t>
                      </a:r>
                      <a:r>
                        <a:rPr lang="en-SG" baseline="0" dirty="0" smtClean="0"/>
                        <a:t> pass control to Agent2</a:t>
                      </a:r>
                      <a:endParaRPr lang="en-US" dirty="0"/>
                    </a:p>
                  </a:txBody>
                  <a:tcPr/>
                </a:tc>
              </a:tr>
              <a:tr h="370840">
                <a:tc>
                  <a:txBody>
                    <a:bodyPr/>
                    <a:lstStyle/>
                    <a:p>
                      <a:r>
                        <a:rPr lang="en-SG" dirty="0" smtClean="0"/>
                        <a:t>Control pass back to Agent1</a:t>
                      </a:r>
                      <a:endParaRPr lang="en-US" dirty="0"/>
                    </a:p>
                  </a:txBody>
                  <a:tcPr/>
                </a:tc>
                <a:tc>
                  <a:txBody>
                    <a:bodyPr/>
                    <a:lstStyle/>
                    <a:p>
                      <a:r>
                        <a:rPr lang="en-SG" dirty="0" smtClean="0"/>
                        <a:t>Control pass to Agent2</a:t>
                      </a:r>
                      <a:endParaRPr lang="en-US" dirty="0"/>
                    </a:p>
                  </a:txBody>
                  <a:tcPr/>
                </a:tc>
              </a:tr>
              <a:tr h="370840">
                <a:tc>
                  <a:txBody>
                    <a:bodyPr/>
                    <a:lstStyle/>
                    <a:p>
                      <a:endParaRPr lang="en-US"/>
                    </a:p>
                  </a:txBody>
                  <a:tcPr/>
                </a:tc>
                <a:tc>
                  <a:txBody>
                    <a:bodyPr/>
                    <a:lstStyle/>
                    <a:p>
                      <a:endParaRPr lang="en-US"/>
                    </a:p>
                  </a:txBody>
                  <a:tcPr/>
                </a:tc>
              </a:tr>
              <a:tr h="370840">
                <a:tc>
                  <a:txBody>
                    <a:bodyPr/>
                    <a:lstStyle/>
                    <a:p>
                      <a:endParaRPr lang="en-US"/>
                    </a:p>
                  </a:txBody>
                  <a:tcPr/>
                </a:tc>
                <a:tc>
                  <a:txBody>
                    <a:bodyPr/>
                    <a:lstStyle/>
                    <a:p>
                      <a:endParaRPr lang="en-US" dirty="0"/>
                    </a:p>
                  </a:txBody>
                  <a:tcPr/>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Guardrail</a:t>
            </a:r>
            <a:endParaRPr lang="en-US" dirty="0"/>
          </a:p>
        </p:txBody>
      </p:sp>
      <p:sp>
        <p:nvSpPr>
          <p:cNvPr id="3" name="Content Placeholder 2"/>
          <p:cNvSpPr>
            <a:spLocks noGrp="1"/>
          </p:cNvSpPr>
          <p:nvPr>
            <p:ph idx="1"/>
          </p:nvPr>
        </p:nvSpPr>
        <p:spPr/>
        <p:txBody>
          <a:bodyPr/>
          <a:lstStyle/>
          <a:p>
            <a:r>
              <a:rPr lang="en-SG" dirty="0" smtClean="0"/>
              <a:t>Check</a:t>
            </a:r>
          </a:p>
          <a:p>
            <a:r>
              <a:rPr lang="en-SG" dirty="0" smtClean="0"/>
              <a:t>Can be LLM</a:t>
            </a:r>
          </a:p>
          <a:p>
            <a:r>
              <a:rPr lang="en-SG" dirty="0" smtClean="0"/>
              <a:t>Used on first agent input</a:t>
            </a:r>
          </a:p>
          <a:p>
            <a:r>
              <a:rPr lang="en-SG" dirty="0" smtClean="0"/>
              <a:t>Used on last agent output</a:t>
            </a:r>
          </a:p>
          <a:p>
            <a:r>
              <a:rPr lang="en-SG" dirty="0" smtClean="0"/>
              <a:t>@</a:t>
            </a:r>
            <a:r>
              <a:rPr lang="en-SG" dirty="0" err="1" smtClean="0"/>
              <a:t>input_guardrail</a:t>
            </a:r>
            <a:r>
              <a:rPr lang="en-SG" dirty="0" smtClean="0"/>
              <a:t> or @</a:t>
            </a:r>
            <a:r>
              <a:rPr lang="en-SG" dirty="0" err="1" smtClean="0"/>
              <a:t>output_guardrail</a:t>
            </a:r>
            <a:endParaRPr lang="en-SG" dirty="0" smtClean="0"/>
          </a:p>
          <a:p>
            <a:r>
              <a:rPr lang="en-SG" dirty="0" smtClean="0"/>
              <a:t>Return </a:t>
            </a:r>
            <a:r>
              <a:rPr lang="en-SG" dirty="0" err="1" smtClean="0"/>
              <a:t>GuardrailFunctionOutput</a:t>
            </a:r>
            <a:r>
              <a:rPr lang="en-SG" dirty="0" smtClean="0"/>
              <a:t>().</a:t>
            </a:r>
          </a:p>
          <a:p>
            <a:r>
              <a:rPr lang="en-SG" dirty="0" err="1" smtClean="0"/>
              <a:t>Tripwire_triggered</a:t>
            </a:r>
            <a:r>
              <a:rPr lang="en-SG" dirty="0" smtClean="0"/>
              <a:t>=true. Triggering of tripwire. Something bad has happened =&gt; trigger.</a:t>
            </a:r>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SG" dirty="0" smtClean="0"/>
              <a:t>Llama3.2 can work with </a:t>
            </a:r>
            <a:r>
              <a:rPr lang="en-SG" dirty="0" err="1" smtClean="0"/>
              <a:t>OpenAI</a:t>
            </a:r>
            <a:r>
              <a:rPr lang="en-SG" dirty="0" smtClean="0"/>
              <a:t> SDK but llama3.1 cannot.</a:t>
            </a:r>
          </a:p>
          <a:p>
            <a:r>
              <a:rPr lang="en-SG" dirty="0" smtClean="0"/>
              <a:t>Wrong</a:t>
            </a:r>
          </a:p>
          <a:p>
            <a:r>
              <a:rPr lang="en-SG" dirty="0" smtClean="0"/>
              <a:t>2_lab2 can work but 2_lab3 cannot. Need to find out why.</a:t>
            </a:r>
          </a:p>
          <a:p>
            <a:r>
              <a:rPr lang="en-SG" dirty="0" smtClean="0"/>
              <a:t>Find out the reason</a:t>
            </a:r>
          </a:p>
          <a:p>
            <a:r>
              <a:rPr lang="en-US" dirty="0" err="1" smtClean="0"/>
              <a:t>model_name</a:t>
            </a:r>
            <a:r>
              <a:rPr lang="en-US" dirty="0" smtClean="0"/>
              <a:t> = "llama3.1“</a:t>
            </a:r>
          </a:p>
          <a:p>
            <a:r>
              <a:rPr lang="en-US" dirty="0" err="1" smtClean="0"/>
              <a:t>ollama_client</a:t>
            </a:r>
            <a:r>
              <a:rPr lang="en-US" dirty="0" smtClean="0"/>
              <a:t> = </a:t>
            </a:r>
            <a:r>
              <a:rPr lang="en-US" dirty="0" err="1" smtClean="0"/>
              <a:t>AsyncOpenAI</a:t>
            </a:r>
            <a:r>
              <a:rPr lang="en-US" dirty="0" smtClean="0"/>
              <a:t>(</a:t>
            </a:r>
            <a:r>
              <a:rPr lang="en-US" dirty="0" err="1" smtClean="0"/>
              <a:t>base_url</a:t>
            </a:r>
            <a:r>
              <a:rPr lang="en-US" dirty="0" smtClean="0"/>
              <a:t>=OLLAMA_BASE_URL, </a:t>
            </a:r>
            <a:r>
              <a:rPr lang="en-US" dirty="0" err="1" smtClean="0"/>
              <a:t>api_key</a:t>
            </a:r>
            <a:r>
              <a:rPr lang="en-US" dirty="0" smtClean="0"/>
              <a:t>=</a:t>
            </a:r>
            <a:r>
              <a:rPr lang="en-US" dirty="0" err="1" smtClean="0"/>
              <a:t>api_key</a:t>
            </a:r>
            <a:r>
              <a:rPr lang="en-US" dirty="0" smtClean="0"/>
              <a:t>)</a:t>
            </a:r>
          </a:p>
          <a:p>
            <a:r>
              <a:rPr lang="en-US" dirty="0" smtClean="0"/>
              <a:t>llama3_2_model = </a:t>
            </a:r>
            <a:r>
              <a:rPr lang="en-US" dirty="0" err="1" smtClean="0"/>
              <a:t>OpenAIChatCompletionsModel</a:t>
            </a:r>
            <a:r>
              <a:rPr lang="en-US" dirty="0" smtClean="0"/>
              <a:t>(model=</a:t>
            </a:r>
            <a:r>
              <a:rPr lang="en-US" dirty="0" err="1" smtClean="0"/>
              <a:t>model_name</a:t>
            </a:r>
            <a:r>
              <a:rPr lang="en-US" dirty="0" smtClean="0"/>
              <a:t>, </a:t>
            </a:r>
            <a:r>
              <a:rPr lang="en-US" dirty="0" err="1" smtClean="0"/>
              <a:t>openai_client</a:t>
            </a:r>
            <a:r>
              <a:rPr lang="en-US" dirty="0" smtClean="0"/>
              <a:t>=</a:t>
            </a:r>
            <a:r>
              <a:rPr lang="en-US" dirty="0" err="1" smtClean="0"/>
              <a:t>ollama_client</a:t>
            </a:r>
            <a:r>
              <a:rPr lang="en-US" dirty="0" smtClean="0"/>
              <a:t>)</a:t>
            </a:r>
          </a:p>
          <a:p>
            <a:r>
              <a:rPr lang="en-US" dirty="0" smtClean="0"/>
              <a:t>sales_agent1 = Agent(name="</a:t>
            </a:r>
            <a:r>
              <a:rPr lang="en-US" dirty="0" err="1" smtClean="0"/>
              <a:t>DeepSeek</a:t>
            </a:r>
            <a:r>
              <a:rPr lang="en-US" dirty="0" smtClean="0"/>
              <a:t> Sales Agent", instructions=instructions1, model= </a:t>
            </a:r>
            <a:r>
              <a:rPr lang="en-US" dirty="0" err="1" smtClean="0"/>
              <a:t>model_name</a:t>
            </a:r>
            <a:r>
              <a:rPr lang="en-US" dirty="0" smtClean="0"/>
              <a:t>) </a:t>
            </a:r>
            <a:r>
              <a:rPr lang="en-SG" dirty="0" smtClean="0"/>
              <a:t>Is wrong</a:t>
            </a:r>
          </a:p>
          <a:p>
            <a:r>
              <a:rPr lang="en-US" dirty="0" smtClean="0"/>
              <a:t>sales_agent1 = Agent(name="</a:t>
            </a:r>
            <a:r>
              <a:rPr lang="en-US" dirty="0" err="1" smtClean="0"/>
              <a:t>DeepSeek</a:t>
            </a:r>
            <a:r>
              <a:rPr lang="en-US" dirty="0" smtClean="0"/>
              <a:t> Sales Agent", instructions=instructions1, model= llama3_2_model Is correct</a:t>
            </a:r>
          </a:p>
          <a:p>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SG" dirty="0" smtClean="0"/>
              <a:t>Guardrail fail to work reliably, maybe because email instruction does not tally with sending message instead of email.</a:t>
            </a:r>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W2D4: Deep research</a:t>
            </a:r>
            <a:endParaRPr lang="en-US" dirty="0"/>
          </a:p>
        </p:txBody>
      </p:sp>
      <p:sp>
        <p:nvSpPr>
          <p:cNvPr id="3" name="Content Placeholder 2"/>
          <p:cNvSpPr>
            <a:spLocks noGrp="1"/>
          </p:cNvSpPr>
          <p:nvPr>
            <p:ph idx="1"/>
          </p:nvPr>
        </p:nvSpPr>
        <p:spPr/>
        <p:txBody>
          <a:bodyPr/>
          <a:lstStyle/>
          <a:p>
            <a:r>
              <a:rPr lang="en-SG" dirty="0" err="1" smtClean="0"/>
              <a:t>OpenAI</a:t>
            </a:r>
            <a:r>
              <a:rPr lang="en-SG" dirty="0" smtClean="0"/>
              <a:t> hosted tools:</a:t>
            </a:r>
          </a:p>
          <a:p>
            <a:pPr lvl="1"/>
            <a:r>
              <a:rPr lang="en-SG" dirty="0" err="1" smtClean="0"/>
              <a:t>Websearch</a:t>
            </a:r>
            <a:r>
              <a:rPr lang="en-SG" dirty="0" smtClean="0"/>
              <a:t> tool (using this only) Quite expensive. 2.5cents per call.</a:t>
            </a:r>
          </a:p>
          <a:p>
            <a:pPr lvl="1"/>
            <a:r>
              <a:rPr lang="en-SG" dirty="0" err="1" smtClean="0"/>
              <a:t>Filesearch</a:t>
            </a:r>
            <a:r>
              <a:rPr lang="en-SG" dirty="0" smtClean="0"/>
              <a:t> tool</a:t>
            </a:r>
          </a:p>
          <a:p>
            <a:pPr lvl="1"/>
            <a:r>
              <a:rPr lang="en-SG" dirty="0" smtClean="0"/>
              <a:t>Computer tool</a:t>
            </a:r>
          </a:p>
          <a:p>
            <a:r>
              <a:rPr lang="en-SG" dirty="0" smtClean="0"/>
              <a:t>Important to put comment below field so AI knows the rationale?</a:t>
            </a:r>
          </a:p>
          <a:p>
            <a:r>
              <a:rPr lang="en-SG" dirty="0" smtClean="0"/>
              <a:t>Putting the reason b4 the query has better performance.</a:t>
            </a:r>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SG" dirty="0" smtClean="0"/>
              <a:t>From notebook (</a:t>
            </a:r>
            <a:r>
              <a:rPr lang="en-SG" dirty="0" err="1" smtClean="0"/>
              <a:t>ipynb</a:t>
            </a:r>
            <a:r>
              <a:rPr lang="en-SG" dirty="0" smtClean="0"/>
              <a:t>, experimental) to module (.</a:t>
            </a:r>
            <a:r>
              <a:rPr lang="en-SG" dirty="0" err="1" smtClean="0"/>
              <a:t>py</a:t>
            </a:r>
            <a:r>
              <a:rPr lang="en-SG" dirty="0" smtClean="0"/>
              <a:t>, deployable)</a:t>
            </a:r>
          </a:p>
          <a:p>
            <a:r>
              <a:rPr lang="en-US" dirty="0" smtClean="0"/>
              <a:t>tools=[</a:t>
            </a:r>
            <a:r>
              <a:rPr lang="en-US" dirty="0" err="1" smtClean="0"/>
              <a:t>WebSearchTool</a:t>
            </a:r>
            <a:r>
              <a:rPr lang="en-US" dirty="0" smtClean="0"/>
              <a:t>(</a:t>
            </a:r>
            <a:r>
              <a:rPr lang="en-US" dirty="0" err="1" smtClean="0"/>
              <a:t>search_context_size</a:t>
            </a:r>
            <a:r>
              <a:rPr lang="en-US" dirty="0" smtClean="0"/>
              <a:t>="low")],: to keep the cost of </a:t>
            </a:r>
            <a:r>
              <a:rPr lang="en-US" dirty="0" err="1" smtClean="0"/>
              <a:t>websearch</a:t>
            </a:r>
            <a:r>
              <a:rPr lang="en-US" dirty="0" smtClean="0"/>
              <a:t> low, use search context size as low</a:t>
            </a:r>
          </a:p>
          <a:p>
            <a:r>
              <a:rPr lang="en-SG" dirty="0" smtClean="0"/>
              <a:t>Use yield for generator.</a:t>
            </a:r>
          </a:p>
          <a:p>
            <a:r>
              <a:rPr lang="en-SG" dirty="0" err="1" smtClean="0"/>
              <a:t>Gradio</a:t>
            </a:r>
            <a:r>
              <a:rPr lang="en-SG" dirty="0" smtClean="0"/>
              <a:t> let data scientist build great UI.</a:t>
            </a:r>
          </a:p>
          <a:p>
            <a:r>
              <a:rPr lang="en-SG" dirty="0" smtClean="0"/>
              <a:t>Ask the AI to generate clarifying questions and use the clarifications to tune the search.</a:t>
            </a:r>
          </a:p>
          <a:p>
            <a:r>
              <a:rPr lang="en-SG" dirty="0" smtClean="0"/>
              <a:t>Make the manager </a:t>
            </a:r>
            <a:r>
              <a:rPr lang="en-SG" dirty="0" err="1" smtClean="0"/>
              <a:t>agentic</a:t>
            </a:r>
            <a:r>
              <a:rPr lang="en-SG" dirty="0" smtClean="0"/>
              <a:t> by giving it agents as tools or handoffs.</a:t>
            </a:r>
            <a:endParaRPr lang="en-US" dirty="0" smtClean="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Crew AI</a:t>
            </a:r>
            <a:endParaRPr lang="en-US" dirty="0"/>
          </a:p>
        </p:txBody>
      </p:sp>
      <p:sp>
        <p:nvSpPr>
          <p:cNvPr id="3" name="Content Placeholder 2"/>
          <p:cNvSpPr>
            <a:spLocks noGrp="1"/>
          </p:cNvSpPr>
          <p:nvPr>
            <p:ph idx="1"/>
          </p:nvPr>
        </p:nvSpPr>
        <p:spPr/>
        <p:txBody>
          <a:bodyPr/>
          <a:lstStyle/>
          <a:p>
            <a:r>
              <a:rPr lang="en-SG" dirty="0" err="1" smtClean="0"/>
              <a:t>CrewAI</a:t>
            </a:r>
            <a:r>
              <a:rPr lang="en-SG" dirty="0" smtClean="0"/>
              <a:t> Enterprise</a:t>
            </a:r>
          </a:p>
          <a:p>
            <a:r>
              <a:rPr lang="en-SG" dirty="0" err="1" smtClean="0"/>
              <a:t>CrewAI</a:t>
            </a:r>
            <a:r>
              <a:rPr lang="en-SG" dirty="0" smtClean="0"/>
              <a:t> UI Studio</a:t>
            </a:r>
          </a:p>
          <a:p>
            <a:r>
              <a:rPr lang="en-SG" dirty="0" err="1" smtClean="0"/>
              <a:t>CrewAI</a:t>
            </a:r>
            <a:r>
              <a:rPr lang="en-SG" dirty="0" smtClean="0"/>
              <a:t> open-source framework [we are using this]</a:t>
            </a:r>
          </a:p>
          <a:p>
            <a:r>
              <a:rPr lang="en-SG" dirty="0" err="1" smtClean="0"/>
              <a:t>CrewAI</a:t>
            </a:r>
            <a:r>
              <a:rPr lang="en-SG" dirty="0" smtClean="0"/>
              <a:t> needs a monetization strategy. </a:t>
            </a:r>
            <a:r>
              <a:rPr lang="en-SG" dirty="0" err="1" smtClean="0"/>
              <a:t>OpenAI</a:t>
            </a:r>
            <a:r>
              <a:rPr lang="en-SG" dirty="0" smtClean="0"/>
              <a:t> (</a:t>
            </a:r>
            <a:r>
              <a:rPr lang="en-SG" dirty="0" err="1" smtClean="0"/>
              <a:t>OpenAI</a:t>
            </a:r>
            <a:r>
              <a:rPr lang="en-SG" dirty="0" smtClean="0"/>
              <a:t> SDK) and </a:t>
            </a:r>
            <a:r>
              <a:rPr lang="en-SG" dirty="0" err="1" smtClean="0"/>
              <a:t>Anthropic</a:t>
            </a:r>
            <a:r>
              <a:rPr lang="en-SG" dirty="0" smtClean="0"/>
              <a:t> () does not need.</a:t>
            </a:r>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err="1" smtClean="0"/>
              <a:t>CrewAI</a:t>
            </a:r>
            <a:r>
              <a:rPr lang="en-SG" dirty="0" smtClean="0"/>
              <a:t> framework 2 flavours</a:t>
            </a:r>
            <a:endParaRPr lang="en-US" dirty="0"/>
          </a:p>
        </p:txBody>
      </p:sp>
      <p:graphicFrame>
        <p:nvGraphicFramePr>
          <p:cNvPr id="6" name="Content Placeholder 5"/>
          <p:cNvGraphicFramePr>
            <a:graphicFrameLocks noGrp="1"/>
          </p:cNvGraphicFramePr>
          <p:nvPr>
            <p:ph idx="1"/>
          </p:nvPr>
        </p:nvGraphicFramePr>
        <p:xfrm>
          <a:off x="838200" y="1825625"/>
          <a:ext cx="8128000" cy="2296160"/>
        </p:xfrm>
        <a:graphic>
          <a:graphicData uri="http://schemas.openxmlformats.org/drawingml/2006/table">
            <a:tbl>
              <a:tblPr firstRow="1" bandRow="1">
                <a:tableStyleId>{5C22544A-7EE6-4342-B048-85BDC9FD1C3A}</a:tableStyleId>
              </a:tblPr>
              <a:tblGrid>
                <a:gridCol w="4064000"/>
                <a:gridCol w="4064000"/>
              </a:tblGrid>
              <a:tr h="370840">
                <a:tc>
                  <a:txBody>
                    <a:bodyPr/>
                    <a:lstStyle/>
                    <a:p>
                      <a:r>
                        <a:rPr lang="en-SG" dirty="0" err="1" smtClean="0"/>
                        <a:t>CrewAI</a:t>
                      </a:r>
                      <a:r>
                        <a:rPr lang="en-SG" dirty="0" smtClean="0"/>
                        <a:t> Crews</a:t>
                      </a:r>
                      <a:endParaRPr lang="en-US" dirty="0"/>
                    </a:p>
                  </a:txBody>
                  <a:tcPr/>
                </a:tc>
                <a:tc>
                  <a:txBody>
                    <a:bodyPr/>
                    <a:lstStyle/>
                    <a:p>
                      <a:r>
                        <a:rPr lang="en-SG" dirty="0" err="1" smtClean="0"/>
                        <a:t>CrewAI</a:t>
                      </a:r>
                      <a:r>
                        <a:rPr lang="en-SG" dirty="0" smtClean="0"/>
                        <a:t> Flows</a:t>
                      </a:r>
                      <a:endParaRPr lang="en-US" dirty="0"/>
                    </a:p>
                  </a:txBody>
                  <a:tcPr/>
                </a:tc>
              </a:tr>
              <a:tr h="370840">
                <a:tc>
                  <a:txBody>
                    <a:bodyPr/>
                    <a:lstStyle/>
                    <a:p>
                      <a:r>
                        <a:rPr lang="en-SG" dirty="0" smtClean="0"/>
                        <a:t>Autonomous solutions with AI teams of Agents with different</a:t>
                      </a:r>
                      <a:r>
                        <a:rPr lang="en-SG" baseline="0" dirty="0" smtClean="0"/>
                        <a:t> roles</a:t>
                      </a:r>
                      <a:endParaRPr lang="en-US" dirty="0"/>
                    </a:p>
                  </a:txBody>
                  <a:tcPr/>
                </a:tc>
                <a:tc>
                  <a:txBody>
                    <a:bodyPr/>
                    <a:lstStyle/>
                    <a:p>
                      <a:r>
                        <a:rPr lang="en-SG" dirty="0" smtClean="0"/>
                        <a:t>Structure automation by dividing complex tasks into precise</a:t>
                      </a:r>
                      <a:r>
                        <a:rPr lang="en-SG" baseline="0" dirty="0" smtClean="0"/>
                        <a:t> workflows</a:t>
                      </a:r>
                      <a:endParaRPr lang="en-US" dirty="0"/>
                    </a:p>
                  </a:txBody>
                  <a:tcPr/>
                </a:tc>
              </a:tr>
              <a:tr h="370840">
                <a:tc>
                  <a:txBody>
                    <a:bodyPr/>
                    <a:lstStyle/>
                    <a:p>
                      <a:r>
                        <a:rPr lang="en-SG" dirty="0" smtClean="0"/>
                        <a:t>Choose when u need autonomous problem-solving, creative collaboration or exploratory</a:t>
                      </a:r>
                      <a:r>
                        <a:rPr lang="en-SG" baseline="0" dirty="0" smtClean="0"/>
                        <a:t> tasks</a:t>
                      </a:r>
                      <a:endParaRPr lang="en-US" dirty="0"/>
                    </a:p>
                  </a:txBody>
                  <a:tcPr/>
                </a:tc>
                <a:tc>
                  <a:txBody>
                    <a:bodyPr/>
                    <a:lstStyle/>
                    <a:p>
                      <a:r>
                        <a:rPr lang="en-SG" dirty="0" smtClean="0"/>
                        <a:t>Choose when</a:t>
                      </a:r>
                      <a:r>
                        <a:rPr lang="en-SG" baseline="0" dirty="0" smtClean="0"/>
                        <a:t> u need deterministic outcomes, </a:t>
                      </a:r>
                      <a:r>
                        <a:rPr lang="en-SG" baseline="0" dirty="0" err="1" smtClean="0"/>
                        <a:t>auditability</a:t>
                      </a:r>
                      <a:r>
                        <a:rPr lang="en-SG" baseline="0" dirty="0" smtClean="0"/>
                        <a:t>, or precise control over execution </a:t>
                      </a:r>
                      <a:endParaRPr lang="en-US" dirty="0"/>
                    </a:p>
                  </a:txBody>
                  <a:tcPr/>
                </a:tc>
              </a:tr>
              <a:tr h="370840">
                <a:tc>
                  <a:txBody>
                    <a:bodyPr/>
                    <a:lstStyle/>
                    <a:p>
                      <a:r>
                        <a:rPr lang="en-SG" dirty="0" smtClean="0"/>
                        <a:t>We are using this in this course</a:t>
                      </a:r>
                      <a:endParaRPr lang="en-US" dirty="0"/>
                    </a:p>
                  </a:txBody>
                  <a:tcPr/>
                </a:tc>
                <a:tc>
                  <a:txBody>
                    <a:bodyPr/>
                    <a:lstStyle/>
                    <a:p>
                      <a:endParaRPr lang="en-US" dirty="0"/>
                    </a:p>
                  </a:txBody>
                  <a:tcPr/>
                </a:tc>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err="1" smtClean="0"/>
              <a:t>CrewAI</a:t>
            </a:r>
            <a:r>
              <a:rPr lang="en-SG" dirty="0" smtClean="0"/>
              <a:t> core concept</a:t>
            </a:r>
            <a:endParaRPr lang="en-US" dirty="0"/>
          </a:p>
        </p:txBody>
      </p:sp>
      <p:sp>
        <p:nvSpPr>
          <p:cNvPr id="3" name="Content Placeholder 2"/>
          <p:cNvSpPr>
            <a:spLocks noGrp="1"/>
          </p:cNvSpPr>
          <p:nvPr>
            <p:ph idx="1"/>
          </p:nvPr>
        </p:nvSpPr>
        <p:spPr/>
        <p:txBody>
          <a:bodyPr>
            <a:normAutofit fontScale="92500" lnSpcReduction="20000"/>
          </a:bodyPr>
          <a:lstStyle/>
          <a:p>
            <a:r>
              <a:rPr lang="en-SG" dirty="0" smtClean="0"/>
              <a:t>Agent: smallest unit.</a:t>
            </a:r>
          </a:p>
          <a:p>
            <a:r>
              <a:rPr lang="en-SG" dirty="0" smtClean="0"/>
              <a:t>Task: can have multiple tasks per agent</a:t>
            </a:r>
          </a:p>
          <a:p>
            <a:r>
              <a:rPr lang="en-SG" dirty="0" smtClean="0"/>
              <a:t>Crew: team of Agents and Tasks. 2 modes:</a:t>
            </a:r>
          </a:p>
          <a:p>
            <a:pPr lvl="1"/>
            <a:r>
              <a:rPr lang="en-SG" dirty="0" smtClean="0"/>
              <a:t>Sequential</a:t>
            </a:r>
          </a:p>
          <a:p>
            <a:pPr lvl="1"/>
            <a:r>
              <a:rPr lang="en-SG" dirty="0" smtClean="0"/>
              <a:t>Hierarchical: LLM manages another LLM</a:t>
            </a:r>
          </a:p>
          <a:p>
            <a:r>
              <a:rPr lang="en-SG" dirty="0" smtClean="0"/>
              <a:t>This is more opinionated, more prescriptive than </a:t>
            </a:r>
            <a:r>
              <a:rPr lang="en-SG" dirty="0" err="1" smtClean="0"/>
              <a:t>OpenAI</a:t>
            </a:r>
            <a:r>
              <a:rPr lang="en-SG" dirty="0" smtClean="0"/>
              <a:t> Agents SDK</a:t>
            </a:r>
          </a:p>
          <a:p>
            <a:r>
              <a:rPr lang="en-SG" dirty="0" err="1" smtClean="0"/>
              <a:t>Yaml</a:t>
            </a:r>
            <a:r>
              <a:rPr lang="en-SG" dirty="0" smtClean="0"/>
              <a:t> configuration to define agents and tasks</a:t>
            </a:r>
          </a:p>
          <a:p>
            <a:r>
              <a:rPr lang="en-SG" dirty="0" smtClean="0"/>
              <a:t>Crew.py</a:t>
            </a:r>
          </a:p>
          <a:p>
            <a:pPr lvl="1"/>
            <a:r>
              <a:rPr lang="en-SG" dirty="0" err="1" smtClean="0"/>
              <a:t>My_agent</a:t>
            </a:r>
            <a:r>
              <a:rPr lang="en-SG" dirty="0" smtClean="0"/>
              <a:t>(self) -&gt; </a:t>
            </a:r>
            <a:r>
              <a:rPr lang="en-SG" dirty="0" err="1" smtClean="0"/>
              <a:t>agents.yaml</a:t>
            </a:r>
            <a:endParaRPr lang="en-SG" dirty="0" smtClean="0"/>
          </a:p>
          <a:p>
            <a:pPr lvl="1"/>
            <a:r>
              <a:rPr lang="en-SG" dirty="0" err="1" smtClean="0"/>
              <a:t>My_task</a:t>
            </a:r>
            <a:r>
              <a:rPr lang="en-SG" dirty="0" smtClean="0"/>
              <a:t>(self) -&gt; tasks/</a:t>
            </a:r>
            <a:r>
              <a:rPr lang="en-SG" dirty="0" err="1" smtClean="0"/>
              <a:t>yaml</a:t>
            </a:r>
            <a:endParaRPr lang="en-SG" dirty="0" smtClean="0"/>
          </a:p>
          <a:p>
            <a:pPr lvl="1"/>
            <a:r>
              <a:rPr lang="en-SG" dirty="0" smtClean="0"/>
              <a:t>Crew(self)</a:t>
            </a:r>
          </a:p>
          <a:p>
            <a:r>
              <a:rPr lang="en-SG" dirty="0" smtClean="0"/>
              <a:t>Uses </a:t>
            </a:r>
            <a:r>
              <a:rPr lang="en-SG" dirty="0" err="1" smtClean="0"/>
              <a:t>LiteLLM</a:t>
            </a:r>
            <a:r>
              <a:rPr lang="en-SG" dirty="0" smtClean="0"/>
              <a:t> </a:t>
            </a:r>
            <a:r>
              <a:rPr lang="en-SG" dirty="0" err="1" smtClean="0"/>
              <a:t>fw</a:t>
            </a:r>
            <a:endParaRPr lang="en-SG" dirty="0" smtClean="0"/>
          </a:p>
          <a:p>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err="1" smtClean="0"/>
              <a:t>CrewAI</a:t>
            </a:r>
            <a:r>
              <a:rPr lang="en-SG" dirty="0" smtClean="0"/>
              <a:t> projects are UV projects</a:t>
            </a:r>
            <a:endParaRPr lang="en-US" dirty="0"/>
          </a:p>
        </p:txBody>
      </p:sp>
      <p:sp>
        <p:nvSpPr>
          <p:cNvPr id="3" name="Content Placeholder 2"/>
          <p:cNvSpPr>
            <a:spLocks noGrp="1"/>
          </p:cNvSpPr>
          <p:nvPr>
            <p:ph idx="1"/>
          </p:nvPr>
        </p:nvSpPr>
        <p:spPr/>
        <p:txBody>
          <a:bodyPr/>
          <a:lstStyle/>
          <a:p>
            <a:r>
              <a:rPr lang="en-SG" dirty="0" smtClean="0"/>
              <a:t>Already installed at start of project: </a:t>
            </a:r>
            <a:r>
              <a:rPr lang="en-SG" dirty="0" err="1" smtClean="0"/>
              <a:t>uv</a:t>
            </a:r>
            <a:r>
              <a:rPr lang="en-SG" dirty="0" smtClean="0"/>
              <a:t> tool install </a:t>
            </a:r>
            <a:r>
              <a:rPr lang="en-SG" dirty="0" err="1" smtClean="0"/>
              <a:t>crewai</a:t>
            </a:r>
            <a:endParaRPr lang="en-SG" dirty="0" smtClean="0"/>
          </a:p>
          <a:p>
            <a:r>
              <a:rPr lang="en-SG" dirty="0" smtClean="0"/>
              <a:t>Create project by </a:t>
            </a:r>
            <a:r>
              <a:rPr lang="en-SG" dirty="0" err="1" smtClean="0"/>
              <a:t>crewai</a:t>
            </a:r>
            <a:r>
              <a:rPr lang="en-SG" dirty="0" smtClean="0"/>
              <a:t> create crew &lt;name&gt;: create folder hierarchy</a:t>
            </a:r>
          </a:p>
          <a:p>
            <a:r>
              <a:rPr lang="en-SG" dirty="0" smtClean="0"/>
              <a:t>Can also create project by </a:t>
            </a:r>
            <a:r>
              <a:rPr lang="en-SG" dirty="0" err="1" smtClean="0"/>
              <a:t>crewai</a:t>
            </a:r>
            <a:r>
              <a:rPr lang="en-SG" dirty="0" smtClean="0"/>
              <a:t> create flow</a:t>
            </a:r>
          </a:p>
          <a:p>
            <a:r>
              <a:rPr lang="en-SG" dirty="0" smtClean="0"/>
              <a:t>Run using </a:t>
            </a:r>
            <a:r>
              <a:rPr lang="en-SG" dirty="0" err="1" smtClean="0"/>
              <a:t>crewai</a:t>
            </a:r>
            <a:r>
              <a:rPr lang="en-SG" dirty="0" smtClean="0"/>
              <a:t> run</a:t>
            </a:r>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err="1" smtClean="0"/>
              <a:t>Crewai</a:t>
            </a:r>
            <a:r>
              <a:rPr lang="en-SG" dirty="0" smtClean="0"/>
              <a:t> installation</a:t>
            </a:r>
            <a:endParaRPr lang="en-US" dirty="0"/>
          </a:p>
        </p:txBody>
      </p:sp>
      <p:sp>
        <p:nvSpPr>
          <p:cNvPr id="3" name="Content Placeholder 2"/>
          <p:cNvSpPr>
            <a:spLocks noGrp="1"/>
          </p:cNvSpPr>
          <p:nvPr>
            <p:ph idx="1"/>
          </p:nvPr>
        </p:nvSpPr>
        <p:spPr/>
        <p:txBody>
          <a:bodyPr/>
          <a:lstStyle/>
          <a:p>
            <a:r>
              <a:rPr lang="en-SG" dirty="0" smtClean="0"/>
              <a:t>Not installed at start of project</a:t>
            </a:r>
          </a:p>
          <a:p>
            <a:pPr lvl="1"/>
            <a:r>
              <a:rPr lang="en-SG" dirty="0" err="1" smtClean="0"/>
              <a:t>uv</a:t>
            </a:r>
            <a:r>
              <a:rPr lang="en-SG" dirty="0" smtClean="0"/>
              <a:t> add </a:t>
            </a:r>
            <a:r>
              <a:rPr lang="en-SG" dirty="0" err="1" smtClean="0"/>
              <a:t>crewai</a:t>
            </a:r>
            <a:endParaRPr lang="en-SG" dirty="0" smtClean="0"/>
          </a:p>
          <a:p>
            <a:pPr lvl="1"/>
            <a:r>
              <a:rPr lang="en-SG" dirty="0" err="1" smtClean="0"/>
              <a:t>uv</a:t>
            </a:r>
            <a:r>
              <a:rPr lang="en-SG" dirty="0" smtClean="0"/>
              <a:t> add </a:t>
            </a:r>
            <a:r>
              <a:rPr lang="en-SG" dirty="0" err="1" smtClean="0"/>
              <a:t>crewai</a:t>
            </a:r>
            <a:r>
              <a:rPr lang="en-SG" dirty="0" smtClean="0"/>
              <a:t>-tools: for tools support</a:t>
            </a:r>
          </a:p>
          <a:p>
            <a:pPr lvl="1"/>
            <a:r>
              <a:rPr lang="en-US" dirty="0" err="1" smtClean="0"/>
              <a:t>uv</a:t>
            </a:r>
            <a:r>
              <a:rPr lang="en-US" dirty="0" smtClean="0"/>
              <a:t> run python -c "import </a:t>
            </a:r>
            <a:r>
              <a:rPr lang="en-US" dirty="0" err="1" smtClean="0"/>
              <a:t>crewai</a:t>
            </a:r>
            <a:r>
              <a:rPr lang="en-US" dirty="0" smtClean="0"/>
              <a:t>; print('installed')“: check installation.</a:t>
            </a:r>
            <a:endParaRPr lang="en-SG" dirty="0" smtClean="0"/>
          </a:p>
          <a:p>
            <a:r>
              <a:rPr lang="en-SG" dirty="0" smtClean="0"/>
              <a:t>Cursor not usable. Likely need to pay $. Use VSC</a:t>
            </a:r>
          </a:p>
          <a:p>
            <a:r>
              <a:rPr lang="en-SG" dirty="0" err="1" smtClean="0"/>
              <a:t>Crewai</a:t>
            </a:r>
            <a:r>
              <a:rPr lang="en-SG" dirty="0" smtClean="0"/>
              <a:t> create crew </a:t>
            </a:r>
            <a:r>
              <a:rPr lang="en-SG" dirty="0" err="1" smtClean="0"/>
              <a:t>wj_debate</a:t>
            </a:r>
            <a:r>
              <a:rPr lang="en-SG" dirty="0" smtClean="0"/>
              <a:t>. </a:t>
            </a:r>
            <a:r>
              <a:rPr lang="en-SG" dirty="0" err="1" smtClean="0"/>
              <a:t>Projectname</a:t>
            </a:r>
            <a:r>
              <a:rPr lang="en-SG" dirty="0" smtClean="0"/>
              <a:t>=</a:t>
            </a:r>
            <a:r>
              <a:rPr lang="en-SG" dirty="0" err="1" smtClean="0"/>
              <a:t>wj_debate</a:t>
            </a:r>
            <a:endParaRPr lang="en-SG" dirty="0" smtClean="0"/>
          </a:p>
          <a:p>
            <a:pPr lvl="1"/>
            <a:r>
              <a:rPr lang="en-SG" dirty="0" smtClean="0"/>
              <a:t>Choose platform (can change later if want)</a:t>
            </a:r>
          </a:p>
          <a:p>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SG" dirty="0" smtClean="0"/>
              <a:t>Knowledge/user_preference.txt: info </a:t>
            </a:r>
            <a:r>
              <a:rPr lang="en-SG" dirty="0" err="1" smtClean="0"/>
              <a:t>abt</a:t>
            </a:r>
            <a:r>
              <a:rPr lang="en-SG" dirty="0" smtClean="0"/>
              <a:t> user.</a:t>
            </a:r>
          </a:p>
          <a:p>
            <a:r>
              <a:rPr lang="en-SG" dirty="0" err="1" smtClean="0"/>
              <a:t>Src</a:t>
            </a:r>
            <a:r>
              <a:rPr lang="en-SG" dirty="0" smtClean="0"/>
              <a:t>/&lt;</a:t>
            </a:r>
            <a:r>
              <a:rPr lang="en-SG" dirty="0" err="1" smtClean="0"/>
              <a:t>projectname</a:t>
            </a:r>
            <a:r>
              <a:rPr lang="en-SG" dirty="0" smtClean="0"/>
              <a:t>&gt;: most </a:t>
            </a:r>
            <a:r>
              <a:rPr lang="en-SG" dirty="0" err="1" smtClean="0"/>
              <a:t>impt</a:t>
            </a:r>
            <a:endParaRPr lang="en-SG" dirty="0" smtClean="0"/>
          </a:p>
          <a:p>
            <a:r>
              <a:rPr lang="en-SG" dirty="0" smtClean="0"/>
              <a:t>Many scaffolding</a:t>
            </a:r>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err="1" smtClean="0"/>
              <a:t>Agents.yaml</a:t>
            </a:r>
            <a:endParaRPr lang="en-US" dirty="0"/>
          </a:p>
        </p:txBody>
      </p:sp>
      <p:sp>
        <p:nvSpPr>
          <p:cNvPr id="3" name="Content Placeholder 2"/>
          <p:cNvSpPr>
            <a:spLocks noGrp="1"/>
          </p:cNvSpPr>
          <p:nvPr>
            <p:ph idx="1"/>
          </p:nvPr>
        </p:nvSpPr>
        <p:spPr/>
        <p:txBody>
          <a:bodyPr/>
          <a:lstStyle/>
          <a:p>
            <a:r>
              <a:rPr lang="en-SG" dirty="0" smtClean="0"/>
              <a:t>{motion}: a template defined in main.py</a:t>
            </a:r>
          </a:p>
          <a:p>
            <a:r>
              <a:rPr lang="en-SG" dirty="0" smtClean="0"/>
              <a:t>Debater and judge are 2 agents.</a:t>
            </a:r>
          </a:p>
          <a:p>
            <a:r>
              <a:rPr lang="en-SG" dirty="0" smtClean="0"/>
              <a:t>Why needs to define </a:t>
            </a:r>
            <a:r>
              <a:rPr lang="en-SG" dirty="0" err="1" smtClean="0"/>
              <a:t>agents.yaml</a:t>
            </a:r>
            <a:r>
              <a:rPr lang="en-SG" dirty="0" smtClean="0"/>
              <a:t> so descriptively? </a:t>
            </a:r>
            <a:r>
              <a:rPr lang="en-SG" dirty="0" err="1" smtClean="0"/>
              <a:t>Agents.yaml</a:t>
            </a:r>
            <a:r>
              <a:rPr lang="en-SG" dirty="0" smtClean="0"/>
              <a:t> is input to the LLM. To ensure LLM provide the next word that is more consistent with what we want.</a:t>
            </a:r>
          </a:p>
          <a:p>
            <a:r>
              <a:rPr lang="en-SG" dirty="0" smtClean="0"/>
              <a:t>Model: define the model u r using.</a:t>
            </a:r>
          </a:p>
          <a:p>
            <a:r>
              <a:rPr lang="en-SG" dirty="0" err="1" smtClean="0"/>
              <a:t>Backstory</a:t>
            </a:r>
            <a:r>
              <a:rPr lang="en-SG" dirty="0" smtClean="0"/>
              <a:t> gives better context to get what u want.</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Example of agents in </a:t>
            </a:r>
            <a:r>
              <a:rPr lang="en-SG" dirty="0" err="1" smtClean="0"/>
              <a:t>agents.yaml</a:t>
            </a:r>
            <a:endParaRPr lang="en-US" dirty="0"/>
          </a:p>
        </p:txBody>
      </p:sp>
      <p:sp>
        <p:nvSpPr>
          <p:cNvPr id="3" name="Content Placeholder 2"/>
          <p:cNvSpPr>
            <a:spLocks noGrp="1"/>
          </p:cNvSpPr>
          <p:nvPr>
            <p:ph idx="1"/>
          </p:nvPr>
        </p:nvSpPr>
        <p:spPr/>
        <p:txBody>
          <a:bodyPr/>
          <a:lstStyle/>
          <a:p>
            <a:r>
              <a:rPr lang="en-SG" dirty="0" smtClean="0"/>
              <a:t>&lt;person job </a:t>
            </a:r>
            <a:r>
              <a:rPr lang="en-SG" dirty="0" err="1" smtClean="0"/>
              <a:t>eg</a:t>
            </a:r>
            <a:r>
              <a:rPr lang="en-SG" dirty="0" smtClean="0"/>
              <a:t>. Researcher, analyst&gt;</a:t>
            </a:r>
          </a:p>
          <a:p>
            <a:pPr lvl="1"/>
            <a:r>
              <a:rPr lang="en-SG" dirty="0" smtClean="0"/>
              <a:t>Role:</a:t>
            </a:r>
          </a:p>
          <a:p>
            <a:pPr lvl="1"/>
            <a:r>
              <a:rPr lang="en-SG" dirty="0" smtClean="0"/>
              <a:t>Goal:</a:t>
            </a:r>
          </a:p>
          <a:p>
            <a:pPr lvl="1"/>
            <a:r>
              <a:rPr lang="en-SG" dirty="0" err="1" smtClean="0"/>
              <a:t>Backstory</a:t>
            </a:r>
            <a:r>
              <a:rPr lang="en-SG" dirty="0" smtClean="0"/>
              <a:t>:</a:t>
            </a:r>
          </a:p>
          <a:p>
            <a:pPr lvl="1"/>
            <a:r>
              <a:rPr lang="en-SG" dirty="0" smtClean="0"/>
              <a:t>Model:</a:t>
            </a:r>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err="1" smtClean="0"/>
              <a:t>Tasks.yaml</a:t>
            </a:r>
            <a:endParaRPr lang="en-US" dirty="0"/>
          </a:p>
        </p:txBody>
      </p:sp>
      <p:sp>
        <p:nvSpPr>
          <p:cNvPr id="3" name="Content Placeholder 2"/>
          <p:cNvSpPr>
            <a:spLocks noGrp="1"/>
          </p:cNvSpPr>
          <p:nvPr>
            <p:ph idx="1"/>
          </p:nvPr>
        </p:nvSpPr>
        <p:spPr/>
        <p:txBody>
          <a:bodyPr/>
          <a:lstStyle/>
          <a:p>
            <a:r>
              <a:rPr lang="en-SG" dirty="0" smtClean="0"/>
              <a:t>Associate agent with task</a:t>
            </a:r>
          </a:p>
          <a:p>
            <a:r>
              <a:rPr lang="en-SG" dirty="0" err="1" smtClean="0"/>
              <a:t>Output_file</a:t>
            </a:r>
            <a:r>
              <a:rPr lang="en-SG" dirty="0" smtClean="0"/>
              <a:t>: output/propose.md</a:t>
            </a:r>
          </a:p>
          <a:p>
            <a:r>
              <a:rPr lang="en-SG" dirty="0" smtClean="0"/>
              <a:t>Cannot task same as agent</a:t>
            </a:r>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Examples of task in </a:t>
            </a:r>
            <a:r>
              <a:rPr lang="en-SG" dirty="0" err="1" smtClean="0"/>
              <a:t>tasks.yaml</a:t>
            </a:r>
            <a:endParaRPr lang="en-US" dirty="0"/>
          </a:p>
        </p:txBody>
      </p:sp>
      <p:sp>
        <p:nvSpPr>
          <p:cNvPr id="3" name="Content Placeholder 2"/>
          <p:cNvSpPr>
            <a:spLocks noGrp="1"/>
          </p:cNvSpPr>
          <p:nvPr>
            <p:ph idx="1"/>
          </p:nvPr>
        </p:nvSpPr>
        <p:spPr/>
        <p:txBody>
          <a:bodyPr/>
          <a:lstStyle/>
          <a:p>
            <a:r>
              <a:rPr lang="en-SG" dirty="0" smtClean="0"/>
              <a:t>&lt;task </a:t>
            </a:r>
            <a:r>
              <a:rPr lang="en-SG" dirty="0" err="1" smtClean="0"/>
              <a:t>eg</a:t>
            </a:r>
            <a:r>
              <a:rPr lang="en-SG" dirty="0" smtClean="0"/>
              <a:t>. </a:t>
            </a:r>
            <a:r>
              <a:rPr lang="en-SG" dirty="0" err="1" smtClean="0"/>
              <a:t>Research_task</a:t>
            </a:r>
            <a:r>
              <a:rPr lang="en-SG" dirty="0" smtClean="0"/>
              <a:t>, </a:t>
            </a:r>
            <a:r>
              <a:rPr lang="en-SG" dirty="0" err="1" smtClean="0"/>
              <a:t>analysis_task</a:t>
            </a:r>
            <a:r>
              <a:rPr lang="en-SG" dirty="0" smtClean="0"/>
              <a:t>&gt;</a:t>
            </a:r>
          </a:p>
          <a:p>
            <a:pPr lvl="1"/>
            <a:r>
              <a:rPr lang="en-SG" dirty="0" smtClean="0"/>
              <a:t>Description: &gt;</a:t>
            </a:r>
          </a:p>
          <a:p>
            <a:pPr lvl="1"/>
            <a:r>
              <a:rPr lang="en-SG" dirty="0" err="1" smtClean="0"/>
              <a:t>Expected_output</a:t>
            </a:r>
            <a:r>
              <a:rPr lang="en-SG" dirty="0" smtClean="0"/>
              <a:t>: &gt;</a:t>
            </a:r>
          </a:p>
          <a:p>
            <a:pPr lvl="1"/>
            <a:r>
              <a:rPr lang="en-SG" dirty="0" smtClean="0"/>
              <a:t>Agent: </a:t>
            </a:r>
          </a:p>
          <a:p>
            <a:pPr lvl="1"/>
            <a:r>
              <a:rPr lang="en-SG" dirty="0" smtClean="0"/>
              <a:t>Context: give output of previous task</a:t>
            </a:r>
          </a:p>
          <a:p>
            <a:pPr lvl="1"/>
            <a:r>
              <a:rPr lang="en-SG" dirty="0" err="1" smtClean="0"/>
              <a:t>Output_file</a:t>
            </a:r>
            <a:r>
              <a:rPr lang="en-SG" dirty="0" smtClean="0"/>
              <a:t>:</a:t>
            </a:r>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Crew.py</a:t>
            </a:r>
            <a:endParaRPr lang="en-US" dirty="0"/>
          </a:p>
        </p:txBody>
      </p:sp>
      <p:sp>
        <p:nvSpPr>
          <p:cNvPr id="3" name="Content Placeholder 2"/>
          <p:cNvSpPr>
            <a:spLocks noGrp="1"/>
          </p:cNvSpPr>
          <p:nvPr>
            <p:ph idx="1"/>
          </p:nvPr>
        </p:nvSpPr>
        <p:spPr/>
        <p:txBody>
          <a:bodyPr/>
          <a:lstStyle/>
          <a:p>
            <a:r>
              <a:rPr lang="en-US" dirty="0" smtClean="0"/>
              <a:t>agents: list[</a:t>
            </a:r>
            <a:r>
              <a:rPr lang="en-US" dirty="0" err="1" smtClean="0"/>
              <a:t>BaseAgent</a:t>
            </a:r>
            <a:r>
              <a:rPr lang="en-US" dirty="0" smtClean="0"/>
              <a:t>]</a:t>
            </a:r>
          </a:p>
          <a:p>
            <a:r>
              <a:rPr lang="en-US" dirty="0" smtClean="0"/>
              <a:t> tasks: list[Task]</a:t>
            </a:r>
          </a:p>
          <a:p>
            <a:r>
              <a:rPr lang="en-SG" dirty="0" smtClean="0"/>
              <a:t>Different from video</a:t>
            </a:r>
          </a:p>
          <a:p>
            <a:r>
              <a:rPr lang="en-SG" dirty="0" err="1" smtClean="0"/>
              <a:t>Agents_config</a:t>
            </a:r>
            <a:r>
              <a:rPr lang="en-SG" dirty="0" smtClean="0"/>
              <a:t> = ‘</a:t>
            </a:r>
            <a:r>
              <a:rPr lang="en-SG" dirty="0" err="1" smtClean="0"/>
              <a:t>config</a:t>
            </a:r>
            <a:r>
              <a:rPr lang="en-SG" dirty="0" smtClean="0"/>
              <a:t>/</a:t>
            </a:r>
            <a:r>
              <a:rPr lang="en-SG" dirty="0" err="1" smtClean="0"/>
              <a:t>agents.yaml</a:t>
            </a:r>
            <a:r>
              <a:rPr lang="en-SG" dirty="0" smtClean="0"/>
              <a:t>’</a:t>
            </a:r>
          </a:p>
          <a:p>
            <a:r>
              <a:rPr lang="en-SG" dirty="0" err="1" smtClean="0"/>
              <a:t>Tasks_config</a:t>
            </a:r>
            <a:r>
              <a:rPr lang="en-SG" dirty="0" smtClean="0"/>
              <a:t> = ‘</a:t>
            </a:r>
            <a:r>
              <a:rPr lang="en-SG" dirty="0" err="1" smtClean="0"/>
              <a:t>config</a:t>
            </a:r>
            <a:r>
              <a:rPr lang="en-SG" dirty="0" smtClean="0"/>
              <a:t>/</a:t>
            </a:r>
            <a:r>
              <a:rPr lang="en-SG" dirty="0" err="1" smtClean="0"/>
              <a:t>tasks.yaml</a:t>
            </a:r>
            <a:r>
              <a:rPr lang="en-SG" dirty="0" smtClean="0"/>
              <a:t>’</a:t>
            </a:r>
          </a:p>
          <a:p>
            <a:endParaRPr lang="en-SG" dirty="0" smtClean="0"/>
          </a:p>
          <a:p>
            <a:r>
              <a:rPr lang="en-SG" dirty="0" smtClean="0"/>
              <a:t>Process=</a:t>
            </a:r>
            <a:r>
              <a:rPr lang="en-SG" dirty="0" err="1" smtClean="0"/>
              <a:t>Process.sequential</a:t>
            </a:r>
            <a:r>
              <a:rPr lang="en-SG" dirty="0" smtClean="0"/>
              <a:t> or</a:t>
            </a:r>
          </a:p>
          <a:p>
            <a:r>
              <a:rPr lang="en-SG" dirty="0" smtClean="0"/>
              <a:t>Process=</a:t>
            </a:r>
            <a:r>
              <a:rPr lang="en-SG" dirty="0" err="1" smtClean="0"/>
              <a:t>Process.hierarchical</a:t>
            </a:r>
            <a:endParaRPr lang="en-US" dirty="0" smtClean="0"/>
          </a:p>
          <a:p>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Main.py</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Set the </a:t>
            </a:r>
            <a:r>
              <a:rPr lang="en-US" dirty="0" err="1" smtClean="0"/>
              <a:t>config</a:t>
            </a:r>
            <a:endParaRPr lang="en-US" dirty="0" smtClean="0"/>
          </a:p>
          <a:p>
            <a:r>
              <a:rPr lang="en-US" dirty="0" smtClean="0"/>
              <a:t>Add motion to the inputs</a:t>
            </a:r>
          </a:p>
          <a:p>
            <a:pPr lvl="1"/>
            <a:r>
              <a:rPr lang="en-US" dirty="0" smtClean="0"/>
              <a:t>inputs = {</a:t>
            </a:r>
          </a:p>
          <a:p>
            <a:pPr lvl="1"/>
            <a:r>
              <a:rPr lang="en-US" dirty="0" smtClean="0"/>
              <a:t>        'motion': 'There needs to be strict laws to regulate LLMs'</a:t>
            </a:r>
          </a:p>
          <a:p>
            <a:pPr lvl="1"/>
            <a:r>
              <a:rPr lang="en-US" dirty="0" smtClean="0"/>
              <a:t>    }</a:t>
            </a:r>
          </a:p>
          <a:p>
            <a:pPr lvl="1"/>
            <a:endParaRPr lang="en-SG" dirty="0" smtClean="0"/>
          </a:p>
          <a:p>
            <a:r>
              <a:rPr lang="en-SG" dirty="0" smtClean="0"/>
              <a:t>Print results</a:t>
            </a:r>
          </a:p>
          <a:p>
            <a:pPr lvl="1"/>
            <a:r>
              <a:rPr lang="en-US" dirty="0" smtClean="0"/>
              <a:t>results = </a:t>
            </a:r>
            <a:r>
              <a:rPr lang="en-US" dirty="0" err="1" smtClean="0"/>
              <a:t>WjDebate</a:t>
            </a:r>
            <a:r>
              <a:rPr lang="en-US" dirty="0" smtClean="0"/>
              <a:t>().crew().kickoff(inputs=inputs)</a:t>
            </a:r>
          </a:p>
          <a:p>
            <a:pPr lvl="1"/>
            <a:r>
              <a:rPr lang="en-US" dirty="0" smtClean="0"/>
              <a:t>        print(results.raw)</a:t>
            </a:r>
          </a:p>
          <a:p>
            <a:endParaRPr lang="en-US" dirty="0" smtClean="0"/>
          </a:p>
          <a:p>
            <a:r>
              <a:rPr lang="en-SG" dirty="0" smtClean="0"/>
              <a:t>Can normally delete the rest except run()</a:t>
            </a:r>
          </a:p>
          <a:p>
            <a:r>
              <a:rPr lang="en-SG" dirty="0" smtClean="0"/>
              <a:t>Can add :</a:t>
            </a:r>
          </a:p>
          <a:p>
            <a:r>
              <a:rPr lang="en-US" dirty="0" smtClean="0"/>
              <a:t>if __name__ == "__main__":</a:t>
            </a:r>
          </a:p>
          <a:p>
            <a:r>
              <a:rPr lang="en-US" dirty="0" smtClean="0"/>
              <a:t>    run()</a:t>
            </a:r>
          </a:p>
          <a:p>
            <a:endParaRPr lang="en-SG" dirty="0" smtClean="0"/>
          </a:p>
          <a:p>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Step</a:t>
            </a:r>
            <a:endParaRPr lang="en-US" dirty="0"/>
          </a:p>
        </p:txBody>
      </p:sp>
      <p:sp>
        <p:nvSpPr>
          <p:cNvPr id="3" name="Content Placeholder 2"/>
          <p:cNvSpPr>
            <a:spLocks noGrp="1"/>
          </p:cNvSpPr>
          <p:nvPr>
            <p:ph idx="1"/>
          </p:nvPr>
        </p:nvSpPr>
        <p:spPr/>
        <p:txBody>
          <a:bodyPr/>
          <a:lstStyle/>
          <a:p>
            <a:r>
              <a:rPr lang="en-SG" dirty="0" err="1" smtClean="0"/>
              <a:t>Crewai</a:t>
            </a:r>
            <a:r>
              <a:rPr lang="en-SG" dirty="0" smtClean="0"/>
              <a:t> create crew &lt;</a:t>
            </a:r>
            <a:r>
              <a:rPr lang="en-SG" dirty="0" err="1" smtClean="0"/>
              <a:t>projectname</a:t>
            </a:r>
            <a:r>
              <a:rPr lang="en-SG" dirty="0" smtClean="0"/>
              <a:t>&gt;</a:t>
            </a:r>
          </a:p>
          <a:p>
            <a:r>
              <a:rPr lang="en-SG" dirty="0" err="1" smtClean="0"/>
              <a:t>Agents.yaml</a:t>
            </a:r>
            <a:endParaRPr lang="en-SG" dirty="0" smtClean="0"/>
          </a:p>
          <a:p>
            <a:r>
              <a:rPr lang="en-SG" dirty="0" err="1" smtClean="0"/>
              <a:t>Tasks.yaml</a:t>
            </a:r>
            <a:endParaRPr lang="en-SG" dirty="0" smtClean="0"/>
          </a:p>
          <a:p>
            <a:r>
              <a:rPr lang="en-SG" dirty="0" smtClean="0"/>
              <a:t>Crew.py</a:t>
            </a:r>
          </a:p>
          <a:p>
            <a:r>
              <a:rPr lang="en-SG" dirty="0" smtClean="0"/>
              <a:t>Main.py</a:t>
            </a:r>
          </a:p>
          <a:p>
            <a:r>
              <a:rPr lang="en-SG" dirty="0" err="1" smtClean="0"/>
              <a:t>Crewai</a:t>
            </a:r>
            <a:r>
              <a:rPr lang="en-SG" dirty="0" smtClean="0"/>
              <a:t> run</a:t>
            </a:r>
          </a:p>
          <a:p>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SG" dirty="0" err="1" smtClean="0"/>
              <a:t>Serper</a:t>
            </a:r>
            <a:r>
              <a:rPr lang="en-SG" dirty="0" smtClean="0"/>
              <a:t> sign up account</a:t>
            </a:r>
          </a:p>
          <a:p>
            <a:r>
              <a:rPr lang="en-SG" dirty="0" smtClean="0"/>
              <a:t>Search Engine Results page</a:t>
            </a:r>
          </a:p>
          <a:p>
            <a:r>
              <a:rPr lang="en-SG" dirty="0" smtClean="0"/>
              <a:t>Google search API</a:t>
            </a:r>
          </a:p>
          <a:p>
            <a:r>
              <a:rPr lang="en-SG" dirty="0" smtClean="0"/>
              <a:t>2500 free credits</a:t>
            </a:r>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SG" dirty="0" smtClean="0"/>
              <a:t>Output of research task given as input to analysis task</a:t>
            </a:r>
          </a:p>
          <a:p>
            <a:r>
              <a:rPr lang="en-SG" dirty="0" smtClean="0"/>
              <a:t>Context:</a:t>
            </a:r>
          </a:p>
          <a:p>
            <a:pPr lvl="1"/>
            <a:r>
              <a:rPr lang="en-SG" dirty="0" smtClean="0"/>
              <a:t>- </a:t>
            </a:r>
            <a:r>
              <a:rPr lang="en-SG" dirty="0" err="1" smtClean="0"/>
              <a:t>research_task</a:t>
            </a:r>
            <a:endParaRPr 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SG" dirty="0" smtClean="0"/>
              <a:t>LLM may deliver results that is outdated. 2023 when this year is 2026.</a:t>
            </a:r>
          </a:p>
          <a:p>
            <a:r>
              <a:rPr lang="en-SG" dirty="0" err="1" smtClean="0"/>
              <a:t>Soln</a:t>
            </a:r>
            <a:r>
              <a:rPr lang="en-SG" dirty="0" smtClean="0"/>
              <a:t>: use from </a:t>
            </a:r>
            <a:r>
              <a:rPr lang="en-SG" dirty="0" err="1" smtClean="0"/>
              <a:t>crewai_tools</a:t>
            </a:r>
            <a:r>
              <a:rPr lang="en-SG" dirty="0" smtClean="0"/>
              <a:t> import </a:t>
            </a:r>
            <a:r>
              <a:rPr lang="en-SG" dirty="0" err="1" smtClean="0"/>
              <a:t>SerperDevTool</a:t>
            </a:r>
            <a:endParaRPr lang="en-SG" dirty="0" smtClean="0"/>
          </a:p>
          <a:p>
            <a:r>
              <a:rPr lang="en-SG" dirty="0" smtClean="0"/>
              <a:t>Give researcher the ability to use tool</a:t>
            </a:r>
          </a:p>
          <a:p>
            <a:r>
              <a:rPr lang="en-US" dirty="0" smtClean="0"/>
              <a:t>SERPER_API_KEY or SERPAPI_API_KEY</a:t>
            </a:r>
          </a:p>
          <a:p>
            <a:r>
              <a:rPr lang="en-SG" dirty="0" smtClean="0"/>
              <a:t>Does not seem to call </a:t>
            </a:r>
            <a:r>
              <a:rPr lang="en-SG" dirty="0" err="1" smtClean="0"/>
              <a:t>Serper</a:t>
            </a:r>
            <a:r>
              <a:rPr lang="en-SG" dirty="0" smtClean="0"/>
              <a:t> as credit did not reduce.</a:t>
            </a:r>
          </a:p>
          <a:p>
            <a:r>
              <a:rPr lang="en-SG" dirty="0" smtClean="0"/>
              <a:t>But results is better when </a:t>
            </a:r>
            <a:r>
              <a:rPr lang="en-SG" dirty="0" err="1" smtClean="0"/>
              <a:t>Serper</a:t>
            </a:r>
            <a:r>
              <a:rPr lang="en-SG" dirty="0" smtClean="0"/>
              <a:t> is inside tools than when it is not inside tool</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W3D3</a:t>
            </a:r>
            <a:endParaRPr lang="en-US" dirty="0"/>
          </a:p>
        </p:txBody>
      </p:sp>
      <p:sp>
        <p:nvSpPr>
          <p:cNvPr id="3" name="Content Placeholder 2"/>
          <p:cNvSpPr>
            <a:spLocks noGrp="1"/>
          </p:cNvSpPr>
          <p:nvPr>
            <p:ph idx="1"/>
          </p:nvPr>
        </p:nvSpPr>
        <p:spPr/>
        <p:txBody>
          <a:bodyPr/>
          <a:lstStyle/>
          <a:p>
            <a:r>
              <a:rPr lang="en-SG" dirty="0" smtClean="0"/>
              <a:t>Have 4 agents but 3 tasks only. Manager not allocated task</a:t>
            </a:r>
          </a:p>
          <a:p>
            <a:pPr lvl="1"/>
            <a:r>
              <a:rPr lang="en-SG" dirty="0" smtClean="0"/>
              <a:t>Manager is a special agent that is used in crew() in crew.py</a:t>
            </a:r>
          </a:p>
          <a:p>
            <a:pPr lvl="1"/>
            <a:r>
              <a:rPr lang="en-SG" dirty="0" smtClean="0"/>
              <a:t>Delegate work to the other 3 agents. Is a </a:t>
            </a:r>
            <a:r>
              <a:rPr lang="en-SG" dirty="0" err="1" smtClean="0"/>
              <a:t>manager_agent</a:t>
            </a:r>
            <a:r>
              <a:rPr lang="en-SG" dirty="0" smtClean="0"/>
              <a:t>.</a:t>
            </a:r>
          </a:p>
          <a:p>
            <a:pPr lvl="1"/>
            <a:r>
              <a:rPr lang="en-SG" dirty="0" smtClean="0"/>
              <a:t>Use better LLM model for it to do a better job</a:t>
            </a:r>
          </a:p>
          <a:p>
            <a:r>
              <a:rPr lang="en-SG" dirty="0" smtClean="0"/>
              <a:t>Structured output: create class</a:t>
            </a:r>
          </a:p>
          <a:p>
            <a:pPr lvl="1"/>
            <a:r>
              <a:rPr lang="en-SG" dirty="0" smtClean="0"/>
              <a:t>Put in task in crew.py</a:t>
            </a:r>
          </a:p>
          <a:p>
            <a:pPr lvl="1"/>
            <a:r>
              <a:rPr lang="en-SG" dirty="0" err="1" smtClean="0"/>
              <a:t>Output_pydantic</a:t>
            </a:r>
            <a:r>
              <a:rPr lang="en-SG" dirty="0" smtClean="0"/>
              <a:t>=class</a:t>
            </a:r>
          </a:p>
          <a:p>
            <a:r>
              <a:rPr lang="en-SG" dirty="0" err="1" smtClean="0"/>
              <a:t>Process.Hierarchy</a:t>
            </a:r>
            <a:r>
              <a:rPr lang="en-SG" dirty="0" smtClean="0"/>
              <a:t>: Let LLM decide the flow.</a:t>
            </a:r>
          </a:p>
          <a:p>
            <a:r>
              <a:rPr lang="en-SG" dirty="0" smtClean="0"/>
              <a:t>Must have same number of task in crew.py as </a:t>
            </a:r>
            <a:r>
              <a:rPr lang="en-SG" dirty="0" err="1" smtClean="0"/>
              <a:t>tasks.yaml</a:t>
            </a:r>
            <a:endParaRPr 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Change custom tool to push tool</a:t>
            </a:r>
            <a:endParaRPr lang="en-US" dirty="0"/>
          </a:p>
        </p:txBody>
      </p:sp>
      <p:sp>
        <p:nvSpPr>
          <p:cNvPr id="3" name="Content Placeholder 2"/>
          <p:cNvSpPr>
            <a:spLocks noGrp="1"/>
          </p:cNvSpPr>
          <p:nvPr>
            <p:ph idx="1"/>
          </p:nvPr>
        </p:nvSpPr>
        <p:spPr/>
        <p:txBody>
          <a:bodyPr/>
          <a:lstStyle/>
          <a:p>
            <a:r>
              <a:rPr lang="en-SG" dirty="0" err="1" smtClean="0"/>
              <a:t>PushNotificationInput</a:t>
            </a:r>
            <a:endParaRPr lang="en-SG" dirty="0" smtClean="0"/>
          </a:p>
          <a:p>
            <a:r>
              <a:rPr lang="en-SG" dirty="0" err="1" smtClean="0"/>
              <a:t>PushNotificationTool</a:t>
            </a:r>
            <a:endParaRPr lang="en-SG" dirty="0" smtClean="0"/>
          </a:p>
          <a:p>
            <a:r>
              <a:rPr lang="en-US" dirty="0" smtClean="0"/>
              <a:t>from .</a:t>
            </a:r>
            <a:r>
              <a:rPr lang="en-US" dirty="0" err="1" smtClean="0"/>
              <a:t>tools.push_tool</a:t>
            </a:r>
            <a:r>
              <a:rPr lang="en-US" dirty="0" smtClean="0"/>
              <a:t> import </a:t>
            </a:r>
            <a:r>
              <a:rPr lang="en-US" dirty="0" err="1" smtClean="0"/>
              <a:t>PushNotificationTool</a:t>
            </a:r>
            <a:endParaRPr lang="en-US" dirty="0" smtClean="0"/>
          </a:p>
          <a:p>
            <a:r>
              <a:rPr lang="en-SG" dirty="0" err="1" smtClean="0"/>
              <a:t>Stock_picker</a:t>
            </a:r>
            <a:r>
              <a:rPr lang="en-SG" dirty="0" smtClean="0"/>
              <a:t> agent to be able to use </a:t>
            </a:r>
            <a:r>
              <a:rPr lang="en-SG" dirty="0" err="1" smtClean="0"/>
              <a:t>PushNotificationTool</a:t>
            </a:r>
            <a:endParaRPr 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SG" dirty="0" err="1" smtClean="0"/>
              <a:t>Crewai</a:t>
            </a:r>
            <a:r>
              <a:rPr lang="en-SG" dirty="0" smtClean="0"/>
              <a:t> is not good as it is hard to debug if there is error.</a:t>
            </a:r>
          </a:p>
          <a:p>
            <a:r>
              <a:rPr lang="en-US" dirty="0" err="1" smtClean="0"/>
              <a:t>config</a:t>
            </a:r>
            <a:r>
              <a:rPr lang="en-US" dirty="0" smtClean="0"/>
              <a:t>=</a:t>
            </a:r>
            <a:r>
              <a:rPr lang="en-US" dirty="0" err="1" smtClean="0"/>
              <a:t>self.agents_config</a:t>
            </a:r>
            <a:r>
              <a:rPr lang="en-US" dirty="0" smtClean="0"/>
              <a:t>['</a:t>
            </a:r>
            <a:r>
              <a:rPr lang="en-US" dirty="0" err="1" smtClean="0"/>
              <a:t>stock_picker</a:t>
            </a:r>
            <a:r>
              <a:rPr lang="en-US" dirty="0" smtClean="0"/>
              <a:t>'], tools=[</a:t>
            </a:r>
            <a:r>
              <a:rPr lang="en-US" dirty="0" err="1" smtClean="0"/>
              <a:t>PushNotificationTool</a:t>
            </a:r>
            <a:r>
              <a:rPr lang="en-US" dirty="0" smtClean="0"/>
              <a:t>] is wrong</a:t>
            </a:r>
          </a:p>
          <a:p>
            <a:r>
              <a:rPr lang="en-SG" dirty="0" smtClean="0"/>
              <a:t>Vs</a:t>
            </a:r>
          </a:p>
          <a:p>
            <a:r>
              <a:rPr lang="en-US" dirty="0" err="1" smtClean="0"/>
              <a:t>config</a:t>
            </a:r>
            <a:r>
              <a:rPr lang="en-US" dirty="0" smtClean="0"/>
              <a:t>=</a:t>
            </a:r>
            <a:r>
              <a:rPr lang="en-US" dirty="0" err="1" smtClean="0"/>
              <a:t>self.agents_config</a:t>
            </a:r>
            <a:r>
              <a:rPr lang="en-US" dirty="0" smtClean="0"/>
              <a:t>['</a:t>
            </a:r>
            <a:r>
              <a:rPr lang="en-US" dirty="0" err="1" smtClean="0"/>
              <a:t>stock_picker</a:t>
            </a:r>
            <a:r>
              <a:rPr lang="en-US" dirty="0" smtClean="0"/>
              <a:t>'], tools=[</a:t>
            </a:r>
            <a:r>
              <a:rPr lang="en-US" dirty="0" err="1" smtClean="0"/>
              <a:t>PushNotificationTool</a:t>
            </a:r>
            <a:r>
              <a:rPr lang="en-US" dirty="0" smtClean="0"/>
              <a:t>()] is correct</a:t>
            </a:r>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SG" dirty="0" smtClean="0"/>
              <a:t>Due to </a:t>
            </a:r>
            <a:r>
              <a:rPr lang="en-SG" dirty="0" err="1" smtClean="0"/>
              <a:t>ollama</a:t>
            </a:r>
            <a:r>
              <a:rPr lang="en-SG" dirty="0" smtClean="0"/>
              <a:t> not running.</a:t>
            </a:r>
          </a:p>
          <a:p>
            <a:r>
              <a:rPr lang="en-SG" dirty="0" smtClean="0"/>
              <a:t>Check </a:t>
            </a:r>
            <a:r>
              <a:rPr lang="en-SG" dirty="0" smtClean="0">
                <a:hlinkClick r:id="rId2"/>
              </a:rPr>
              <a:t>http://localhost:11434/</a:t>
            </a:r>
            <a:r>
              <a:rPr lang="en-SG" dirty="0" smtClean="0"/>
              <a:t> for </a:t>
            </a:r>
          </a:p>
          <a:p>
            <a:r>
              <a:rPr lang="en-US" dirty="0" err="1" smtClean="0"/>
              <a:t>Ollama</a:t>
            </a:r>
            <a:r>
              <a:rPr lang="en-US" dirty="0" smtClean="0"/>
              <a:t> is running</a:t>
            </a:r>
          </a:p>
          <a:p>
            <a:r>
              <a:rPr lang="en-SG" dirty="0" smtClean="0"/>
              <a:t>Results of using </a:t>
            </a:r>
            <a:r>
              <a:rPr lang="en-SG" dirty="0" err="1" smtClean="0"/>
              <a:t>crewai</a:t>
            </a:r>
            <a:r>
              <a:rPr lang="en-SG" dirty="0" smtClean="0"/>
              <a:t> is </a:t>
            </a:r>
            <a:r>
              <a:rPr lang="en-SG" smtClean="0"/>
              <a:t>not stable</a:t>
            </a:r>
            <a:endParaRPr lang="en-US" dirty="0"/>
          </a:p>
        </p:txBody>
      </p:sp>
      <p:pic>
        <p:nvPicPr>
          <p:cNvPr id="4" name="Picture 2"/>
          <p:cNvPicPr>
            <a:picLocks noChangeAspect="1" noChangeArrowheads="1"/>
          </p:cNvPicPr>
          <p:nvPr/>
        </p:nvPicPr>
        <p:blipFill>
          <a:blip r:embed="rId3"/>
          <a:srcRect/>
          <a:stretch>
            <a:fillRect/>
          </a:stretch>
        </p:blipFill>
        <p:spPr bwMode="auto">
          <a:xfrm>
            <a:off x="2121807" y="5055053"/>
            <a:ext cx="8164513" cy="971550"/>
          </a:xfrm>
          <a:prstGeom prst="rect">
            <a:avLst/>
          </a:prstGeom>
          <a:noFill/>
          <a:ln w="9525">
            <a:noFill/>
            <a:miter lim="800000"/>
            <a:headEnd/>
            <a:tailEnd/>
          </a:ln>
          <a:effec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err="1" smtClean="0"/>
              <a:t>Crewai</a:t>
            </a:r>
            <a:r>
              <a:rPr lang="en-SG" dirty="0" smtClean="0"/>
              <a:t> memory</a:t>
            </a:r>
            <a:endParaRPr lang="en-US" dirty="0"/>
          </a:p>
        </p:txBody>
      </p:sp>
      <p:sp>
        <p:nvSpPr>
          <p:cNvPr id="3" name="Content Placeholder 2"/>
          <p:cNvSpPr>
            <a:spLocks noGrp="1"/>
          </p:cNvSpPr>
          <p:nvPr>
            <p:ph idx="1"/>
          </p:nvPr>
        </p:nvSpPr>
        <p:spPr/>
        <p:txBody>
          <a:bodyPr>
            <a:normAutofit fontScale="92500" lnSpcReduction="10000"/>
          </a:bodyPr>
          <a:lstStyle/>
          <a:p>
            <a:r>
              <a:rPr lang="en-SG" dirty="0" smtClean="0"/>
              <a:t>More prescriptive</a:t>
            </a:r>
          </a:p>
          <a:p>
            <a:r>
              <a:rPr lang="en-SG" dirty="0" smtClean="0"/>
              <a:t>5 types:</a:t>
            </a:r>
          </a:p>
          <a:p>
            <a:pPr lvl="1"/>
            <a:r>
              <a:rPr lang="en-SG" dirty="0" smtClean="0"/>
              <a:t>Short term = </a:t>
            </a:r>
            <a:r>
              <a:rPr lang="en-SG" dirty="0" err="1" smtClean="0"/>
              <a:t>eg</a:t>
            </a:r>
            <a:r>
              <a:rPr lang="en-SG" dirty="0" smtClean="0"/>
              <a:t>. </a:t>
            </a:r>
            <a:r>
              <a:rPr lang="en-SG" dirty="0" err="1" smtClean="0"/>
              <a:t>RAGStorage</a:t>
            </a:r>
            <a:endParaRPr lang="en-SG" dirty="0" smtClean="0"/>
          </a:p>
          <a:p>
            <a:pPr lvl="1"/>
            <a:r>
              <a:rPr lang="en-SG" dirty="0" smtClean="0"/>
              <a:t>Long term (SQL db) = </a:t>
            </a:r>
            <a:r>
              <a:rPr lang="en-SG" dirty="0" err="1" smtClean="0"/>
              <a:t>eg</a:t>
            </a:r>
            <a:r>
              <a:rPr lang="en-SG" dirty="0" smtClean="0"/>
              <a:t>. </a:t>
            </a:r>
            <a:r>
              <a:rPr lang="en-SG" dirty="0" err="1" smtClean="0"/>
              <a:t>LTMSQLiteStorage</a:t>
            </a:r>
            <a:endParaRPr lang="en-SG" dirty="0" smtClean="0"/>
          </a:p>
          <a:p>
            <a:pPr lvl="1"/>
            <a:r>
              <a:rPr lang="en-SG" dirty="0" smtClean="0"/>
              <a:t>Entity memory = </a:t>
            </a:r>
            <a:r>
              <a:rPr lang="en-SG" dirty="0" err="1" smtClean="0"/>
              <a:t>eg</a:t>
            </a:r>
            <a:r>
              <a:rPr lang="en-SG" dirty="0" smtClean="0"/>
              <a:t>. </a:t>
            </a:r>
            <a:r>
              <a:rPr lang="en-SG" dirty="0" err="1" smtClean="0"/>
              <a:t>RAGStorage</a:t>
            </a:r>
            <a:endParaRPr lang="en-SG" dirty="0" smtClean="0"/>
          </a:p>
          <a:p>
            <a:pPr lvl="1"/>
            <a:r>
              <a:rPr lang="en-SG" dirty="0" smtClean="0"/>
              <a:t>Contextual memory (all above)</a:t>
            </a:r>
          </a:p>
          <a:p>
            <a:pPr lvl="1"/>
            <a:r>
              <a:rPr lang="en-SG" dirty="0" smtClean="0"/>
              <a:t>user</a:t>
            </a:r>
          </a:p>
          <a:p>
            <a:r>
              <a:rPr lang="en-SG" dirty="0" smtClean="0"/>
              <a:t>Doing the first 3 (or 4) in the lab W3D4</a:t>
            </a:r>
          </a:p>
          <a:p>
            <a:r>
              <a:rPr lang="en-SG" dirty="0" smtClean="0"/>
              <a:t>Add in crew.py</a:t>
            </a:r>
          </a:p>
          <a:p>
            <a:r>
              <a:rPr lang="en-SG" dirty="0" err="1" smtClean="0"/>
              <a:t>Trending_company_finder</a:t>
            </a:r>
            <a:r>
              <a:rPr lang="en-SG" dirty="0" smtClean="0"/>
              <a:t> and </a:t>
            </a:r>
            <a:r>
              <a:rPr lang="en-SG" dirty="0" err="1" smtClean="0"/>
              <a:t>stock_picker</a:t>
            </a:r>
            <a:r>
              <a:rPr lang="en-SG" dirty="0" smtClean="0"/>
              <a:t> has memory</a:t>
            </a:r>
          </a:p>
          <a:p>
            <a:r>
              <a:rPr lang="en-SG" dirty="0" err="1" smtClean="0"/>
              <a:t>Financial_researcher</a:t>
            </a:r>
            <a:r>
              <a:rPr lang="en-SG" dirty="0" smtClean="0"/>
              <a:t> does not have.</a:t>
            </a:r>
          </a:p>
          <a:p>
            <a:pPr lvl="1"/>
            <a:endParaRPr 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SG" dirty="0" smtClean="0"/>
              <a:t>New </a:t>
            </a:r>
            <a:r>
              <a:rPr lang="en-SG" dirty="0" err="1" smtClean="0"/>
              <a:t>crewai</a:t>
            </a:r>
            <a:r>
              <a:rPr lang="en-SG" dirty="0" smtClean="0"/>
              <a:t> API does not have </a:t>
            </a:r>
            <a:r>
              <a:rPr lang="en-SG" dirty="0" err="1" smtClean="0"/>
              <a:t>LongTermMemory</a:t>
            </a:r>
            <a:r>
              <a:rPr lang="en-SG" dirty="0" smtClean="0"/>
              <a:t>, etc.</a:t>
            </a:r>
          </a:p>
          <a:p>
            <a:r>
              <a:rPr lang="en-SG" dirty="0" smtClean="0"/>
              <a:t>Using Memory by default uses </a:t>
            </a:r>
            <a:r>
              <a:rPr lang="en-SG" dirty="0" err="1" smtClean="0"/>
              <a:t>gpt</a:t>
            </a:r>
            <a:r>
              <a:rPr lang="en-SG" dirty="0" smtClean="0"/>
              <a:t> which I do not have credit, hence LLM</a:t>
            </a:r>
            <a:endParaRPr lang="en-US" dirty="0"/>
          </a:p>
        </p:txBody>
      </p:sp>
      <p:pic>
        <p:nvPicPr>
          <p:cNvPr id="1026" name="Picture 2"/>
          <p:cNvPicPr>
            <a:picLocks noChangeAspect="1" noChangeArrowheads="1"/>
          </p:cNvPicPr>
          <p:nvPr/>
        </p:nvPicPr>
        <p:blipFill>
          <a:blip r:embed="rId2"/>
          <a:srcRect/>
          <a:stretch>
            <a:fillRect/>
          </a:stretch>
        </p:blipFill>
        <p:spPr bwMode="auto">
          <a:xfrm>
            <a:off x="14514" y="3812917"/>
            <a:ext cx="12084670" cy="977264"/>
          </a:xfrm>
          <a:prstGeom prst="rect">
            <a:avLst/>
          </a:prstGeom>
          <a:noFill/>
          <a:ln w="9525">
            <a:noFill/>
            <a:miter lim="800000"/>
            <a:headEnd/>
            <a:tailEnd/>
          </a:ln>
          <a:effec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smtClean="0"/>
              <a:t>memory=True,</a:t>
            </a:r>
            <a:br>
              <a:rPr lang="en-US" dirty="0" smtClean="0"/>
            </a:br>
            <a:r>
              <a:rPr lang="en-US" dirty="0" smtClean="0"/>
              <a:t>	</a:t>
            </a:r>
            <a:r>
              <a:rPr lang="en-US" dirty="0" err="1" smtClean="0"/>
              <a:t>embedder</a:t>
            </a:r>
            <a:r>
              <a:rPr lang="en-US" dirty="0" smtClean="0"/>
              <a:t>={</a:t>
            </a:r>
            <a:br>
              <a:rPr lang="en-US" dirty="0" smtClean="0"/>
            </a:br>
            <a:r>
              <a:rPr lang="en-US" dirty="0" smtClean="0"/>
              <a:t>	"provider": "</a:t>
            </a:r>
            <a:r>
              <a:rPr lang="en-US" dirty="0" err="1" smtClean="0"/>
              <a:t>ollama</a:t>
            </a:r>
            <a:r>
              <a:rPr lang="en-US" dirty="0" smtClean="0"/>
              <a:t>",</a:t>
            </a:r>
            <a:br>
              <a:rPr lang="en-US" dirty="0" smtClean="0"/>
            </a:br>
            <a:r>
              <a:rPr lang="en-US" dirty="0" smtClean="0"/>
              <a:t>	"</a:t>
            </a:r>
            <a:r>
              <a:rPr lang="en-US" dirty="0" err="1" smtClean="0"/>
              <a:t>config</a:t>
            </a:r>
            <a:r>
              <a:rPr lang="en-US" dirty="0" smtClean="0"/>
              <a:t>": {</a:t>
            </a:r>
            <a:br>
              <a:rPr lang="en-US" dirty="0" smtClean="0"/>
            </a:br>
            <a:r>
              <a:rPr lang="en-US" dirty="0" smtClean="0"/>
              <a:t>	"model": "</a:t>
            </a:r>
            <a:r>
              <a:rPr lang="en-US" dirty="0" err="1" smtClean="0"/>
              <a:t>nomic</a:t>
            </a:r>
            <a:r>
              <a:rPr lang="en-US" dirty="0" smtClean="0"/>
              <a:t>-embed-text",</a:t>
            </a:r>
            <a:br>
              <a:rPr lang="en-US" dirty="0" smtClean="0"/>
            </a:br>
            <a:r>
              <a:rPr lang="en-US" dirty="0" smtClean="0"/>
              <a:t>	"</a:t>
            </a:r>
            <a:r>
              <a:rPr lang="en-US" dirty="0" err="1" smtClean="0"/>
              <a:t>base_url</a:t>
            </a:r>
            <a:r>
              <a:rPr lang="en-US" dirty="0" smtClean="0"/>
              <a:t>": "http://localhost:11434"</a:t>
            </a:r>
            <a:br>
              <a:rPr lang="en-US" dirty="0" smtClean="0"/>
            </a:br>
            <a:r>
              <a:rPr lang="en-US" dirty="0" smtClean="0"/>
              <a:t>	}</a:t>
            </a:r>
            <a:br>
              <a:rPr lang="en-US" dirty="0" smtClean="0"/>
            </a:br>
            <a:r>
              <a:rPr lang="en-US" dirty="0" smtClean="0"/>
              <a:t>}</a:t>
            </a:r>
          </a:p>
          <a:p>
            <a:r>
              <a:rPr lang="en-SG" dirty="0" smtClean="0"/>
              <a:t>Use embedding model like </a:t>
            </a:r>
            <a:r>
              <a:rPr lang="en-SG" dirty="0" err="1" smtClean="0"/>
              <a:t>nomic</a:t>
            </a:r>
            <a:r>
              <a:rPr lang="en-SG" dirty="0" smtClean="0"/>
              <a:t>-embed-text for memory. Don’t use llama3.2 as embedding model</a:t>
            </a:r>
          </a:p>
          <a:p>
            <a:r>
              <a:rPr lang="en-SG" dirty="0" smtClean="0"/>
              <a:t>Because embedding models and chat/generative model are optimized for different tasks.</a:t>
            </a:r>
            <a:endParaRPr 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nvPr>
        </p:nvGraphicFramePr>
        <p:xfrm>
          <a:off x="838200" y="1825625"/>
          <a:ext cx="10515600" cy="2748280"/>
        </p:xfrm>
        <a:graphic>
          <a:graphicData uri="http://schemas.openxmlformats.org/drawingml/2006/table">
            <a:tbl>
              <a:tblPr firstRow="1" bandRow="1">
                <a:tableStyleId>{5C22544A-7EE6-4342-B048-85BDC9FD1C3A}</a:tableStyleId>
              </a:tblPr>
              <a:tblGrid>
                <a:gridCol w="5257800"/>
                <a:gridCol w="5257800"/>
              </a:tblGrid>
              <a:tr h="370840">
                <a:tc>
                  <a:txBody>
                    <a:bodyPr/>
                    <a:lstStyle/>
                    <a:p>
                      <a:r>
                        <a:rPr lang="en-SG" dirty="0" smtClean="0"/>
                        <a:t>Generative</a:t>
                      </a:r>
                      <a:r>
                        <a:rPr lang="en-SG" baseline="0" dirty="0" smtClean="0"/>
                        <a:t>/ chat model</a:t>
                      </a:r>
                      <a:endParaRPr lang="en-US" dirty="0"/>
                    </a:p>
                  </a:txBody>
                  <a:tcPr/>
                </a:tc>
                <a:tc>
                  <a:txBody>
                    <a:bodyPr/>
                    <a:lstStyle/>
                    <a:p>
                      <a:r>
                        <a:rPr lang="en-SG" dirty="0" smtClean="0"/>
                        <a:t>Dedicated embedding model</a:t>
                      </a:r>
                      <a:endParaRPr lang="en-US" dirty="0"/>
                    </a:p>
                  </a:txBody>
                  <a:tcPr/>
                </a:tc>
              </a:tr>
              <a:tr h="370840">
                <a:tc>
                  <a:txBody>
                    <a:bodyPr/>
                    <a:lstStyle/>
                    <a:p>
                      <a:r>
                        <a:rPr lang="en-SG" dirty="0" smtClean="0"/>
                        <a:t>Llama 3.2</a:t>
                      </a:r>
                      <a:endParaRPr lang="en-US" dirty="0"/>
                    </a:p>
                  </a:txBody>
                  <a:tcPr/>
                </a:tc>
                <a:tc>
                  <a:txBody>
                    <a:bodyPr/>
                    <a:lstStyle/>
                    <a:p>
                      <a:r>
                        <a:rPr lang="en-SG" dirty="0" err="1" smtClean="0"/>
                        <a:t>Nomic</a:t>
                      </a:r>
                      <a:r>
                        <a:rPr lang="en-SG" dirty="0" smtClean="0"/>
                        <a:t>-embed-text</a:t>
                      </a:r>
                    </a:p>
                    <a:p>
                      <a:r>
                        <a:rPr lang="en-SG" dirty="0" err="1" smtClean="0"/>
                        <a:t>Mxbai</a:t>
                      </a:r>
                      <a:r>
                        <a:rPr lang="en-SG" dirty="0" smtClean="0"/>
                        <a:t>-embed-large</a:t>
                      </a:r>
                    </a:p>
                    <a:p>
                      <a:r>
                        <a:rPr lang="en-SG" dirty="0" smtClean="0"/>
                        <a:t>All-MiniLM-L6-v2</a:t>
                      </a:r>
                      <a:endParaRPr lang="en-US" dirty="0"/>
                    </a:p>
                  </a:txBody>
                  <a:tcPr/>
                </a:tc>
              </a:tr>
              <a:tr h="370840">
                <a:tc>
                  <a:txBody>
                    <a:bodyPr/>
                    <a:lstStyle/>
                    <a:p>
                      <a:r>
                        <a:rPr lang="en-SG" dirty="0" smtClean="0"/>
                        <a:t>Predict next tokens</a:t>
                      </a:r>
                    </a:p>
                    <a:p>
                      <a:r>
                        <a:rPr lang="en-SG" dirty="0" smtClean="0"/>
                        <a:t>Write</a:t>
                      </a:r>
                      <a:r>
                        <a:rPr lang="en-SG" baseline="0" dirty="0" smtClean="0"/>
                        <a:t> text</a:t>
                      </a:r>
                    </a:p>
                    <a:p>
                      <a:r>
                        <a:rPr lang="en-SG" baseline="0" dirty="0" smtClean="0"/>
                        <a:t>Answer question</a:t>
                      </a:r>
                    </a:p>
                    <a:p>
                      <a:r>
                        <a:rPr lang="en-SG" baseline="0" dirty="0" smtClean="0"/>
                        <a:t>Follow instruction</a:t>
                      </a:r>
                      <a:endParaRPr lang="en-US" dirty="0"/>
                    </a:p>
                  </a:txBody>
                  <a:tcPr/>
                </a:tc>
                <a:tc>
                  <a:txBody>
                    <a:bodyPr/>
                    <a:lstStyle/>
                    <a:p>
                      <a:r>
                        <a:rPr lang="en-SG" dirty="0" smtClean="0"/>
                        <a:t>Semantic search</a:t>
                      </a:r>
                    </a:p>
                    <a:p>
                      <a:r>
                        <a:rPr lang="en-SG" dirty="0" smtClean="0"/>
                        <a:t>Vector similarity</a:t>
                      </a:r>
                    </a:p>
                    <a:p>
                      <a:r>
                        <a:rPr lang="en-SG" dirty="0" smtClean="0"/>
                        <a:t>Retrieval (RAG)</a:t>
                      </a:r>
                    </a:p>
                    <a:p>
                      <a:r>
                        <a:rPr lang="en-SG" dirty="0" smtClean="0"/>
                        <a:t>Embedding (fixed length vector where semantically similar</a:t>
                      </a:r>
                      <a:r>
                        <a:rPr lang="en-SG" baseline="0" dirty="0" smtClean="0"/>
                        <a:t> text is close </a:t>
                      </a:r>
                      <a:r>
                        <a:rPr lang="en-SG" baseline="0" smtClean="0"/>
                        <a:t>in vector space)</a:t>
                      </a:r>
                      <a:endParaRPr lang="en-US"/>
                    </a:p>
                  </a:txBody>
                  <a:tcPr/>
                </a:tc>
              </a:tr>
            </a:tbl>
          </a:graphicData>
        </a:graphic>
      </p:graphicFrame>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W3D4 Coding agent</a:t>
            </a:r>
            <a:endParaRPr lang="en-US" dirty="0"/>
          </a:p>
        </p:txBody>
      </p:sp>
      <p:sp>
        <p:nvSpPr>
          <p:cNvPr id="3" name="Content Placeholder 2"/>
          <p:cNvSpPr>
            <a:spLocks noGrp="1"/>
          </p:cNvSpPr>
          <p:nvPr>
            <p:ph idx="1"/>
          </p:nvPr>
        </p:nvSpPr>
        <p:spPr/>
        <p:txBody>
          <a:bodyPr>
            <a:normAutofit fontScale="92500" lnSpcReduction="20000"/>
          </a:bodyPr>
          <a:lstStyle/>
          <a:p>
            <a:r>
              <a:rPr lang="en-SG" dirty="0" smtClean="0"/>
              <a:t>Coding</a:t>
            </a:r>
          </a:p>
          <a:p>
            <a:r>
              <a:rPr lang="en-SG" dirty="0" err="1" smtClean="0"/>
              <a:t>Allow_code_execution</a:t>
            </a:r>
            <a:r>
              <a:rPr lang="en-SG" dirty="0" smtClean="0"/>
              <a:t>=True</a:t>
            </a:r>
          </a:p>
          <a:p>
            <a:r>
              <a:rPr lang="en-SG" dirty="0" err="1" smtClean="0"/>
              <a:t>Code_execution_mode</a:t>
            </a:r>
            <a:r>
              <a:rPr lang="en-SG" dirty="0" smtClean="0"/>
              <a:t>=safe: run in </a:t>
            </a:r>
            <a:r>
              <a:rPr lang="en-SG" dirty="0" err="1" smtClean="0"/>
              <a:t>docker</a:t>
            </a:r>
            <a:r>
              <a:rPr lang="en-SG" dirty="0" smtClean="0"/>
              <a:t>.</a:t>
            </a:r>
          </a:p>
          <a:p>
            <a:r>
              <a:rPr lang="en-SG" dirty="0" smtClean="0"/>
              <a:t>Install </a:t>
            </a:r>
            <a:r>
              <a:rPr lang="en-SG" dirty="0" err="1" smtClean="0"/>
              <a:t>Docker</a:t>
            </a:r>
            <a:r>
              <a:rPr lang="en-SG" dirty="0" smtClean="0"/>
              <a:t> Desktop</a:t>
            </a:r>
          </a:p>
          <a:p>
            <a:r>
              <a:rPr lang="en-US" dirty="0" err="1" smtClean="0"/>
              <a:t>max_execution_time</a:t>
            </a:r>
            <a:r>
              <a:rPr lang="en-US" dirty="0" smtClean="0"/>
              <a:t>=30, (in sec)</a:t>
            </a:r>
          </a:p>
          <a:p>
            <a:r>
              <a:rPr lang="en-US" dirty="0" err="1" smtClean="0"/>
              <a:t>max_retry_limit</a:t>
            </a:r>
            <a:r>
              <a:rPr lang="en-US" dirty="0" smtClean="0"/>
              <a:t>=5</a:t>
            </a:r>
          </a:p>
          <a:p>
            <a:r>
              <a:rPr lang="en-SG" dirty="0" err="1" smtClean="0"/>
              <a:t>Crewai</a:t>
            </a:r>
            <a:r>
              <a:rPr lang="en-SG" dirty="0" smtClean="0"/>
              <a:t> is using python.</a:t>
            </a:r>
          </a:p>
          <a:p>
            <a:r>
              <a:rPr lang="en-SG" dirty="0" smtClean="0"/>
              <a:t>Lecture is using </a:t>
            </a:r>
            <a:r>
              <a:rPr lang="en-SG" dirty="0" err="1" smtClean="0"/>
              <a:t>llm</a:t>
            </a:r>
            <a:r>
              <a:rPr lang="en-SG" dirty="0" smtClean="0"/>
              <a:t>: </a:t>
            </a:r>
            <a:r>
              <a:rPr lang="en-SG" dirty="0" err="1" smtClean="0"/>
              <a:t>openai</a:t>
            </a:r>
            <a:r>
              <a:rPr lang="en-SG" dirty="0" smtClean="0"/>
              <a:t>/gpt-4o-mini</a:t>
            </a:r>
            <a:endParaRPr lang="en-US" dirty="0" smtClean="0"/>
          </a:p>
          <a:p>
            <a:r>
              <a:rPr lang="en-SG" dirty="0" smtClean="0"/>
              <a:t>I am using </a:t>
            </a:r>
            <a:r>
              <a:rPr lang="en-US" dirty="0" smtClean="0"/>
              <a:t>model: llama3.1:latest</a:t>
            </a:r>
          </a:p>
          <a:p>
            <a:r>
              <a:rPr lang="en-SG" dirty="0" smtClean="0"/>
              <a:t>Give wrong code. Results also wrong.</a:t>
            </a:r>
            <a:endParaRPr lang="en-US" dirty="0" smtClean="0"/>
          </a:p>
          <a:p>
            <a:endParaRPr lang="en-SG" dirty="0" smtClean="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SG" dirty="0" smtClean="0"/>
              <a:t>Open source model comparison</a:t>
            </a:r>
            <a:endParaRPr lang="en-US" dirty="0"/>
          </a:p>
        </p:txBody>
      </p:sp>
      <p:graphicFrame>
        <p:nvGraphicFramePr>
          <p:cNvPr id="4" name="Content Placeholder 3"/>
          <p:cNvGraphicFramePr>
            <a:graphicFrameLocks noGrp="1"/>
          </p:cNvGraphicFramePr>
          <p:nvPr>
            <p:ph idx="1"/>
          </p:nvPr>
        </p:nvGraphicFramePr>
        <p:xfrm>
          <a:off x="838200" y="1825625"/>
          <a:ext cx="10515600" cy="4582160"/>
        </p:xfrm>
        <a:graphic>
          <a:graphicData uri="http://schemas.openxmlformats.org/drawingml/2006/table">
            <a:tbl>
              <a:tblPr firstRow="1" bandRow="1">
                <a:tableStyleId>{5C22544A-7EE6-4342-B048-85BDC9FD1C3A}</a:tableStyleId>
              </a:tblPr>
              <a:tblGrid>
                <a:gridCol w="1752600"/>
                <a:gridCol w="1752600"/>
                <a:gridCol w="1752600"/>
                <a:gridCol w="1752600"/>
                <a:gridCol w="1752600"/>
                <a:gridCol w="1752600"/>
              </a:tblGrid>
              <a:tr h="370840">
                <a:tc>
                  <a:txBody>
                    <a:bodyPr/>
                    <a:lstStyle/>
                    <a:p>
                      <a:r>
                        <a:rPr lang="en-SG" dirty="0" smtClean="0"/>
                        <a:t>Qwen3.6</a:t>
                      </a:r>
                      <a:endParaRPr lang="en-US" dirty="0"/>
                    </a:p>
                  </a:txBody>
                  <a:tcPr/>
                </a:tc>
                <a:tc>
                  <a:txBody>
                    <a:bodyPr/>
                    <a:lstStyle/>
                    <a:p>
                      <a:r>
                        <a:rPr lang="en-SG" dirty="0" smtClean="0"/>
                        <a:t>Gemma4</a:t>
                      </a:r>
                      <a:endParaRPr lang="en-US" dirty="0"/>
                    </a:p>
                  </a:txBody>
                  <a:tcPr/>
                </a:tc>
                <a:tc>
                  <a:txBody>
                    <a:bodyPr/>
                    <a:lstStyle/>
                    <a:p>
                      <a:r>
                        <a:rPr lang="en-SG" dirty="0" smtClean="0"/>
                        <a:t>Llama4</a:t>
                      </a:r>
                      <a:endParaRPr lang="en-US" dirty="0"/>
                    </a:p>
                  </a:txBody>
                  <a:tcPr/>
                </a:tc>
                <a:tc>
                  <a:txBody>
                    <a:bodyPr/>
                    <a:lstStyle/>
                    <a:p>
                      <a:r>
                        <a:rPr lang="en-SG" dirty="0" smtClean="0"/>
                        <a:t>GLM5.1</a:t>
                      </a:r>
                      <a:endParaRPr lang="en-US" dirty="0"/>
                    </a:p>
                  </a:txBody>
                  <a:tcPr/>
                </a:tc>
                <a:tc>
                  <a:txBody>
                    <a:bodyPr/>
                    <a:lstStyle/>
                    <a:p>
                      <a:r>
                        <a:rPr lang="en-SG" dirty="0" smtClean="0"/>
                        <a:t>V4</a:t>
                      </a:r>
                      <a:endParaRPr lang="en-US" dirty="0"/>
                    </a:p>
                  </a:txBody>
                  <a:tcPr/>
                </a:tc>
                <a:tc>
                  <a:txBody>
                    <a:bodyPr/>
                    <a:lstStyle/>
                    <a:p>
                      <a:r>
                        <a:rPr lang="en-SG" dirty="0" smtClean="0"/>
                        <a:t>Small 4</a:t>
                      </a:r>
                      <a:endParaRPr lang="en-US" dirty="0"/>
                    </a:p>
                  </a:txBody>
                  <a:tcPr/>
                </a:tc>
              </a:tr>
              <a:tr h="370840">
                <a:tc>
                  <a:txBody>
                    <a:bodyPr/>
                    <a:lstStyle/>
                    <a:p>
                      <a:r>
                        <a:rPr lang="en-SG" dirty="0" err="1" smtClean="0"/>
                        <a:t>Alibaba</a:t>
                      </a:r>
                      <a:endParaRPr lang="en-US" dirty="0"/>
                    </a:p>
                  </a:txBody>
                  <a:tcPr/>
                </a:tc>
                <a:tc>
                  <a:txBody>
                    <a:bodyPr/>
                    <a:lstStyle/>
                    <a:p>
                      <a:r>
                        <a:rPr lang="en-SG" dirty="0" smtClean="0"/>
                        <a:t>Google</a:t>
                      </a:r>
                      <a:endParaRPr lang="en-US" dirty="0"/>
                    </a:p>
                  </a:txBody>
                  <a:tcPr/>
                </a:tc>
                <a:tc>
                  <a:txBody>
                    <a:bodyPr/>
                    <a:lstStyle/>
                    <a:p>
                      <a:r>
                        <a:rPr lang="en-SG" dirty="0" smtClean="0"/>
                        <a:t>Meta</a:t>
                      </a:r>
                      <a:endParaRPr lang="en-US" dirty="0"/>
                    </a:p>
                  </a:txBody>
                  <a:tcPr/>
                </a:tc>
                <a:tc>
                  <a:txBody>
                    <a:bodyPr/>
                    <a:lstStyle/>
                    <a:p>
                      <a:r>
                        <a:rPr lang="en-SG" dirty="0" err="1" smtClean="0"/>
                        <a:t>Zhipu</a:t>
                      </a:r>
                      <a:r>
                        <a:rPr lang="en-SG" dirty="0" smtClean="0"/>
                        <a:t> AI</a:t>
                      </a:r>
                      <a:endParaRPr lang="en-US" dirty="0"/>
                    </a:p>
                  </a:txBody>
                  <a:tcPr/>
                </a:tc>
                <a:tc>
                  <a:txBody>
                    <a:bodyPr/>
                    <a:lstStyle/>
                    <a:p>
                      <a:r>
                        <a:rPr lang="en-SG" dirty="0" err="1" smtClean="0"/>
                        <a:t>DeekSeek</a:t>
                      </a:r>
                      <a:endParaRPr lang="en-US" dirty="0"/>
                    </a:p>
                  </a:txBody>
                  <a:tcPr/>
                </a:tc>
                <a:tc>
                  <a:txBody>
                    <a:bodyPr/>
                    <a:lstStyle/>
                    <a:p>
                      <a:r>
                        <a:rPr lang="en-SG" dirty="0" smtClean="0"/>
                        <a:t>Mistral</a:t>
                      </a:r>
                      <a:endParaRPr lang="en-US" dirty="0"/>
                    </a:p>
                  </a:txBody>
                  <a:tcPr/>
                </a:tc>
              </a:tr>
              <a:tr h="370840">
                <a:tc>
                  <a:txBody>
                    <a:bodyPr/>
                    <a:lstStyle/>
                    <a:p>
                      <a:r>
                        <a:rPr lang="en-SG" dirty="0" err="1" smtClean="0"/>
                        <a:t>Qwen</a:t>
                      </a:r>
                      <a:r>
                        <a:rPr lang="en-SG" dirty="0" smtClean="0"/>
                        <a:t> 3.6-35B-A3B</a:t>
                      </a:r>
                      <a:endParaRPr lang="en-US" dirty="0"/>
                    </a:p>
                  </a:txBody>
                  <a:tcPr/>
                </a:tc>
                <a:tc>
                  <a:txBody>
                    <a:bodyPr/>
                    <a:lstStyle/>
                    <a:p>
                      <a:r>
                        <a:rPr lang="en-SG" dirty="0" err="1" smtClean="0"/>
                        <a:t>Gemma</a:t>
                      </a:r>
                      <a:r>
                        <a:rPr lang="en-SG" dirty="0" smtClean="0"/>
                        <a:t> 4-31B</a:t>
                      </a:r>
                    </a:p>
                    <a:p>
                      <a:r>
                        <a:rPr lang="en-SG" dirty="0" err="1" smtClean="0"/>
                        <a:t>Gemma</a:t>
                      </a:r>
                      <a:r>
                        <a:rPr lang="en-SG" dirty="0" smtClean="0"/>
                        <a:t> 4-26B-A4B</a:t>
                      </a:r>
                      <a:endParaRPr lang="en-US" dirty="0"/>
                    </a:p>
                  </a:txBody>
                  <a:tcPr/>
                </a:tc>
                <a:tc>
                  <a:txBody>
                    <a:bodyPr/>
                    <a:lstStyle/>
                    <a:p>
                      <a:r>
                        <a:rPr lang="en-SG" dirty="0" smtClean="0"/>
                        <a:t>Llama4 Scout</a:t>
                      </a:r>
                    </a:p>
                    <a:p>
                      <a:r>
                        <a:rPr lang="en-SG" dirty="0" smtClean="0"/>
                        <a:t>Llama 4 Maverick</a:t>
                      </a:r>
                      <a:endParaRPr lang="en-US" dirty="0"/>
                    </a:p>
                  </a:txBody>
                  <a:tcPr/>
                </a:tc>
                <a:tc>
                  <a:txBody>
                    <a:bodyPr/>
                    <a:lstStyle/>
                    <a:p>
                      <a:r>
                        <a:rPr lang="en-SG" dirty="0" smtClean="0"/>
                        <a:t>GLM-5.1</a:t>
                      </a:r>
                      <a:endParaRPr lang="en-US" dirty="0"/>
                    </a:p>
                  </a:txBody>
                  <a:tcPr/>
                </a:tc>
                <a:tc>
                  <a:txBody>
                    <a:bodyPr/>
                    <a:lstStyle/>
                    <a:p>
                      <a:r>
                        <a:rPr lang="en-SG" dirty="0" err="1" smtClean="0"/>
                        <a:t>DeepSeek</a:t>
                      </a:r>
                      <a:r>
                        <a:rPr lang="en-SG" dirty="0" smtClean="0"/>
                        <a:t> V4</a:t>
                      </a:r>
                      <a:endParaRPr lang="en-US" dirty="0"/>
                    </a:p>
                  </a:txBody>
                  <a:tcPr/>
                </a:tc>
                <a:tc>
                  <a:txBody>
                    <a:bodyPr/>
                    <a:lstStyle/>
                    <a:p>
                      <a:r>
                        <a:rPr lang="en-SG" dirty="0" smtClean="0"/>
                        <a:t>Not</a:t>
                      </a:r>
                      <a:r>
                        <a:rPr lang="en-SG" baseline="0" dirty="0" smtClean="0"/>
                        <a:t> compared</a:t>
                      </a:r>
                      <a:endParaRPr lang="en-US" dirty="0"/>
                    </a:p>
                  </a:txBody>
                  <a:tcPr/>
                </a:tc>
              </a:tr>
              <a:tr h="370840">
                <a:tc>
                  <a:txBody>
                    <a:bodyPr/>
                    <a:lstStyle/>
                    <a:p>
                      <a:r>
                        <a:rPr lang="en-SG" dirty="0" smtClean="0"/>
                        <a:t>Activates just 3B of 35B parameter/token (</a:t>
                      </a:r>
                      <a:r>
                        <a:rPr lang="en-SG" dirty="0" err="1" smtClean="0"/>
                        <a:t>sparsity</a:t>
                      </a:r>
                      <a:r>
                        <a:rPr lang="en-SG" baseline="0" dirty="0" smtClean="0"/>
                        <a:t> ratio)</a:t>
                      </a:r>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r>
              <a:tr h="370840">
                <a:tc>
                  <a:txBody>
                    <a:bodyPr/>
                    <a:lstStyle/>
                    <a:p>
                      <a:r>
                        <a:rPr lang="en-SG" dirty="0" smtClean="0"/>
                        <a:t>3B/35B</a:t>
                      </a:r>
                    </a:p>
                    <a:p>
                      <a:r>
                        <a:rPr lang="en-SG" dirty="0" smtClean="0"/>
                        <a:t>35 billion </a:t>
                      </a:r>
                      <a:r>
                        <a:rPr lang="en-SG" dirty="0" err="1" smtClean="0"/>
                        <a:t>params</a:t>
                      </a:r>
                      <a:r>
                        <a:rPr lang="en-SG" dirty="0" smtClean="0"/>
                        <a:t>/ activated 3</a:t>
                      </a:r>
                      <a:r>
                        <a:rPr lang="en-SG" baseline="0" dirty="0" smtClean="0"/>
                        <a:t> billions</a:t>
                      </a:r>
                    </a:p>
                    <a:p>
                      <a:r>
                        <a:rPr lang="en-SG" baseline="0" dirty="0" smtClean="0"/>
                        <a:t>downloadable</a:t>
                      </a:r>
                      <a:endParaRPr lang="en-US" dirty="0"/>
                    </a:p>
                  </a:txBody>
                  <a:tcPr/>
                </a:tc>
                <a:tc>
                  <a:txBody>
                    <a:bodyPr/>
                    <a:lstStyle/>
                    <a:p>
                      <a:r>
                        <a:rPr lang="en-SG" dirty="0" smtClean="0"/>
                        <a:t>31B/31B</a:t>
                      </a:r>
                    </a:p>
                    <a:p>
                      <a:r>
                        <a:rPr lang="en-SG" dirty="0" smtClean="0"/>
                        <a:t>3.8B/26B (both downloadable)</a:t>
                      </a:r>
                      <a:endParaRPr lang="en-US" dirty="0"/>
                    </a:p>
                  </a:txBody>
                  <a:tcPr/>
                </a:tc>
                <a:tc>
                  <a:txBody>
                    <a:bodyPr/>
                    <a:lstStyle/>
                    <a:p>
                      <a:r>
                        <a:rPr lang="en-SG" dirty="0" smtClean="0"/>
                        <a:t>17B/109B</a:t>
                      </a:r>
                    </a:p>
                    <a:p>
                      <a:r>
                        <a:rPr lang="en-SG" dirty="0" smtClean="0"/>
                        <a:t>17B/400B (can download?)</a:t>
                      </a:r>
                      <a:endParaRPr lang="en-US" dirty="0"/>
                    </a:p>
                  </a:txBody>
                  <a:tcPr/>
                </a:tc>
                <a:tc>
                  <a:txBody>
                    <a:bodyPr/>
                    <a:lstStyle/>
                    <a:p>
                      <a:r>
                        <a:rPr lang="en-SG" dirty="0" smtClean="0"/>
                        <a:t>45B/754B (cloud model, cannot download, need to upgrade</a:t>
                      </a:r>
                      <a:r>
                        <a:rPr lang="en-SG" baseline="0" dirty="0" smtClean="0"/>
                        <a:t> to use).</a:t>
                      </a:r>
                      <a:endParaRPr lang="en-US" dirty="0"/>
                    </a:p>
                  </a:txBody>
                  <a:tcPr/>
                </a:tc>
                <a:tc>
                  <a:txBody>
                    <a:bodyPr/>
                    <a:lstStyle/>
                    <a:p>
                      <a:r>
                        <a:rPr lang="en-SG" smtClean="0"/>
                        <a:t>37B/1T (cloud model, cannot download, need to upgrade</a:t>
                      </a:r>
                      <a:r>
                        <a:rPr lang="en-SG" baseline="0" smtClean="0"/>
                        <a:t> to use).</a:t>
                      </a:r>
                      <a:endParaRPr lang="en-US" dirty="0"/>
                    </a:p>
                  </a:txBody>
                  <a:tcPr/>
                </a:tc>
                <a:tc>
                  <a:txBody>
                    <a:bodyPr/>
                    <a:lstStyle/>
                    <a:p>
                      <a:endParaRPr lang="en-US" dirty="0"/>
                    </a:p>
                  </a:txBody>
                  <a:tcPr/>
                </a:tc>
              </a:tr>
            </a:tbl>
          </a:graphicData>
        </a:graphic>
      </p:graphicFrame>
      <p:sp>
        <p:nvSpPr>
          <p:cNvPr id="5" name="Rectangle 4"/>
          <p:cNvSpPr/>
          <p:nvPr/>
        </p:nvSpPr>
        <p:spPr>
          <a:xfrm>
            <a:off x="723900" y="6488668"/>
            <a:ext cx="10744200" cy="369332"/>
          </a:xfrm>
          <a:prstGeom prst="rect">
            <a:avLst/>
          </a:prstGeom>
        </p:spPr>
        <p:txBody>
          <a:bodyPr wrap="square">
            <a:spAutoFit/>
          </a:bodyPr>
          <a:lstStyle/>
          <a:p>
            <a:r>
              <a:rPr lang="en-US" dirty="0" smtClean="0"/>
              <a:t>https://lushbinary.com/blog/qwen-3-6-vs-gemma-4-llama-4-glm-5-1-deepseek-v4-open-source-comparison/</a:t>
            </a:r>
            <a:endParaRPr 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Mixture of experts</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Imagine a hospital: instead of one general practitioner (dense model) trying to know everything, you have a team of specialists (experts). A receptionist (gating network) checks your symptoms and routes you to the right 1–2 doctors. You get expert care without the whole hospital working on you at once.</a:t>
            </a:r>
          </a:p>
          <a:p>
            <a:r>
              <a:rPr lang="en-US" dirty="0" smtClean="0"/>
              <a:t>An input token arrives.</a:t>
            </a:r>
          </a:p>
          <a:p>
            <a:r>
              <a:rPr lang="en-US" dirty="0" smtClean="0"/>
              <a:t>The gating network computes scores for each expert.</a:t>
            </a:r>
          </a:p>
          <a:p>
            <a:r>
              <a:rPr lang="en-US" dirty="0" smtClean="0"/>
              <a:t>The top-k experts are selected (sparse routing).</a:t>
            </a:r>
          </a:p>
          <a:p>
            <a:r>
              <a:rPr lang="en-US" dirty="0" smtClean="0"/>
              <a:t>Each selected expert independently processes the token.</a:t>
            </a:r>
          </a:p>
          <a:p>
            <a:r>
              <a:rPr lang="en-US" dirty="0" smtClean="0"/>
              <a:t>Their outputs are weighted by the gate and summed.</a:t>
            </a:r>
          </a:p>
          <a:p>
            <a:r>
              <a:rPr lang="en-US" dirty="0" smtClean="0"/>
              <a:t>Gradients are </a:t>
            </a:r>
            <a:r>
              <a:rPr lang="en-US" dirty="0" err="1" smtClean="0"/>
              <a:t>backpropagated</a:t>
            </a:r>
            <a:r>
              <a:rPr lang="en-US" dirty="0" smtClean="0"/>
              <a:t> to update both the gating network and the active experts.</a:t>
            </a:r>
          </a:p>
          <a:p>
            <a:r>
              <a:rPr lang="en-SG" dirty="0" smtClean="0"/>
              <a:t>Make it more efficiency. Use a % of its total parameters.</a:t>
            </a:r>
            <a:endParaRPr lang="en-US" dirty="0" smtClean="0"/>
          </a:p>
          <a:p>
            <a:endParaRPr 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700M MAU cap</a:t>
            </a:r>
            <a:endParaRPr lang="en-US" dirty="0"/>
          </a:p>
        </p:txBody>
      </p:sp>
      <p:sp>
        <p:nvSpPr>
          <p:cNvPr id="3" name="Content Placeholder 2"/>
          <p:cNvSpPr>
            <a:spLocks noGrp="1"/>
          </p:cNvSpPr>
          <p:nvPr>
            <p:ph idx="1"/>
          </p:nvPr>
        </p:nvSpPr>
        <p:spPr/>
        <p:txBody>
          <a:bodyPr/>
          <a:lstStyle/>
          <a:p>
            <a:r>
              <a:rPr lang="en-SG" dirty="0" smtClean="0"/>
              <a:t>Monthly Active User</a:t>
            </a:r>
            <a:endParaRPr 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AIME 2026</a:t>
            </a:r>
            <a:endParaRPr lang="en-US" dirty="0"/>
          </a:p>
        </p:txBody>
      </p:sp>
      <p:sp>
        <p:nvSpPr>
          <p:cNvPr id="3" name="Content Placeholder 2"/>
          <p:cNvSpPr>
            <a:spLocks noGrp="1"/>
          </p:cNvSpPr>
          <p:nvPr>
            <p:ph idx="1"/>
          </p:nvPr>
        </p:nvSpPr>
        <p:spPr/>
        <p:txBody>
          <a:bodyPr/>
          <a:lstStyle/>
          <a:p>
            <a:r>
              <a:rPr lang="en-US" dirty="0" smtClean="0"/>
              <a:t>All 30 problems from the 2026 American Invitational Mathematics Examination (AIME I and AIME II), testing </a:t>
            </a:r>
            <a:r>
              <a:rPr lang="en-US" dirty="0" err="1" smtClean="0"/>
              <a:t>olympiad</a:t>
            </a:r>
            <a:r>
              <a:rPr lang="en-US" dirty="0" smtClean="0"/>
              <a:t>-level mathematical reasoning with integer answers from 000-999</a:t>
            </a:r>
          </a:p>
          <a:p>
            <a:r>
              <a:rPr lang="en-US" dirty="0" smtClean="0"/>
              <a:t>Used as an AI benchmark to evaluate large language models' ability to solve complex mathematical problems requiring multi-step logical deductions and structured symbolic reasoning.</a:t>
            </a:r>
          </a:p>
          <a:p>
            <a:r>
              <a:rPr lang="en-US" smtClean="0"/>
              <a:t>https://llm-stats.com/benchmarks/aime-2026</a:t>
            </a:r>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Why 1 token = 0.75 word (for </a:t>
            </a:r>
            <a:r>
              <a:rPr lang="en-SG" dirty="0" err="1" smtClean="0"/>
              <a:t>english</a:t>
            </a:r>
            <a:r>
              <a:rPr lang="en-SG" dirty="0" smtClean="0"/>
              <a:t>)</a:t>
            </a:r>
            <a:endParaRPr lang="en-US" dirty="0"/>
          </a:p>
        </p:txBody>
      </p:sp>
      <p:sp>
        <p:nvSpPr>
          <p:cNvPr id="3" name="Content Placeholder 2"/>
          <p:cNvSpPr>
            <a:spLocks noGrp="1"/>
          </p:cNvSpPr>
          <p:nvPr>
            <p:ph idx="1"/>
          </p:nvPr>
        </p:nvSpPr>
        <p:spPr/>
        <p:txBody>
          <a:bodyPr/>
          <a:lstStyle/>
          <a:p>
            <a:r>
              <a:rPr lang="en-SG" dirty="0" smtClean="0"/>
              <a:t>LLM tokenized by token.</a:t>
            </a:r>
          </a:p>
          <a:p>
            <a:r>
              <a:rPr lang="en-SG" dirty="0" smtClean="0"/>
              <a:t>Statistical average</a:t>
            </a:r>
          </a:p>
          <a:p>
            <a:r>
              <a:rPr lang="en-SG" dirty="0" smtClean="0"/>
              <a:t>Unbelievable = un </a:t>
            </a:r>
            <a:r>
              <a:rPr lang="en-SG" dirty="0" err="1" smtClean="0"/>
              <a:t>believ</a:t>
            </a:r>
            <a:r>
              <a:rPr lang="en-SG" dirty="0" smtClean="0"/>
              <a:t> able (1 word = 3 token)</a:t>
            </a:r>
          </a:p>
          <a:p>
            <a:r>
              <a:rPr lang="en-SG" dirty="0" smtClean="0"/>
              <a:t>Hello, world! = 4 tokens, 2 word</a:t>
            </a:r>
            <a:endParaRPr 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Llama 4 Scout/ Maverick</a:t>
            </a:r>
            <a:endParaRPr lang="en-US" dirty="0"/>
          </a:p>
        </p:txBody>
      </p:sp>
      <p:sp>
        <p:nvSpPr>
          <p:cNvPr id="3" name="Content Placeholder 2"/>
          <p:cNvSpPr>
            <a:spLocks noGrp="1"/>
          </p:cNvSpPr>
          <p:nvPr>
            <p:ph idx="1"/>
          </p:nvPr>
        </p:nvSpPr>
        <p:spPr/>
        <p:txBody>
          <a:bodyPr/>
          <a:lstStyle/>
          <a:p>
            <a:r>
              <a:rPr lang="en-SG" dirty="0" smtClean="0"/>
              <a:t>Download llama 4(63GB)</a:t>
            </a:r>
          </a:p>
          <a:p>
            <a:endParaRPr lang="en-SG" dirty="0" smtClean="0"/>
          </a:p>
          <a:p>
            <a:r>
              <a:rPr lang="en-SG" dirty="0" smtClean="0"/>
              <a:t>Task: how to find a good coder LLM that can work </a:t>
            </a:r>
            <a:r>
              <a:rPr lang="en-SG" dirty="0" err="1" smtClean="0"/>
              <a:t>inhouse</a:t>
            </a:r>
            <a:r>
              <a:rPr lang="en-SG" dirty="0" smtClean="0"/>
              <a:t> without Internet access</a:t>
            </a:r>
            <a:endParaRPr 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W3D5: Build Engineering Team</a:t>
            </a:r>
            <a:endParaRPr lang="en-US" dirty="0"/>
          </a:p>
        </p:txBody>
      </p:sp>
      <p:sp>
        <p:nvSpPr>
          <p:cNvPr id="3" name="Content Placeholder 2"/>
          <p:cNvSpPr>
            <a:spLocks noGrp="1"/>
          </p:cNvSpPr>
          <p:nvPr>
            <p:ph idx="1"/>
          </p:nvPr>
        </p:nvSpPr>
        <p:spPr/>
        <p:txBody>
          <a:bodyPr/>
          <a:lstStyle/>
          <a:p>
            <a:r>
              <a:rPr lang="en-SG" dirty="0" smtClean="0"/>
              <a:t>Can indicate </a:t>
            </a:r>
            <a:r>
              <a:rPr lang="en-SG" dirty="0" err="1" smtClean="0"/>
              <a:t>output_file</a:t>
            </a:r>
            <a:r>
              <a:rPr lang="en-SG" dirty="0" smtClean="0"/>
              <a:t> in </a:t>
            </a:r>
            <a:r>
              <a:rPr lang="en-SG" dirty="0" err="1" smtClean="0"/>
              <a:t>tasks.yaml</a:t>
            </a:r>
            <a:endParaRPr lang="en-SG" dirty="0" smtClean="0"/>
          </a:p>
          <a:p>
            <a:r>
              <a:rPr lang="en-SG" dirty="0" smtClean="0"/>
              <a:t>Many coding engineers</a:t>
            </a:r>
          </a:p>
          <a:p>
            <a:r>
              <a:rPr lang="en-SG" dirty="0" smtClean="0"/>
              <a:t>Frontend engineer don’t have </a:t>
            </a:r>
            <a:r>
              <a:rPr lang="en-SG" dirty="0" err="1" smtClean="0"/>
              <a:t>allow_code_execution</a:t>
            </a:r>
            <a:r>
              <a:rPr lang="en-SG" dirty="0" smtClean="0"/>
              <a:t>, etc.</a:t>
            </a:r>
          </a:p>
          <a:p>
            <a:r>
              <a:rPr lang="en-SG" dirty="0" smtClean="0"/>
              <a:t>Main.py normally delete everything. Just def run() and if __name__ == “__main__”:</a:t>
            </a:r>
            <a:endParaRPr 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SG" dirty="0" err="1" smtClean="0"/>
              <a:t>Crewai</a:t>
            </a:r>
            <a:r>
              <a:rPr lang="en-SG" dirty="0" smtClean="0"/>
              <a:t> error: not a lot of clue what is wrong.</a:t>
            </a:r>
          </a:p>
          <a:p>
            <a:r>
              <a:rPr lang="en-SG" dirty="0" smtClean="0"/>
              <a:t>Cannot get </a:t>
            </a:r>
            <a:r>
              <a:rPr lang="en-SG" dirty="0" err="1" smtClean="0"/>
              <a:t>compilable</a:t>
            </a:r>
            <a:r>
              <a:rPr lang="en-SG" dirty="0" smtClean="0"/>
              <a:t> code.</a:t>
            </a:r>
            <a:endParaRPr 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err="1" smtClean="0"/>
              <a:t>ollama</a:t>
            </a:r>
            <a:endParaRPr lang="en-US" dirty="0"/>
          </a:p>
        </p:txBody>
      </p:sp>
      <p:sp>
        <p:nvSpPr>
          <p:cNvPr id="3" name="Content Placeholder 2"/>
          <p:cNvSpPr>
            <a:spLocks noGrp="1"/>
          </p:cNvSpPr>
          <p:nvPr>
            <p:ph idx="1"/>
          </p:nvPr>
        </p:nvSpPr>
        <p:spPr/>
        <p:txBody>
          <a:bodyPr/>
          <a:lstStyle/>
          <a:p>
            <a:r>
              <a:rPr lang="en-SG" dirty="0" smtClean="0"/>
              <a:t>Check model by </a:t>
            </a:r>
            <a:r>
              <a:rPr lang="en-SG" dirty="0" err="1" smtClean="0"/>
              <a:t>ollama</a:t>
            </a:r>
            <a:r>
              <a:rPr lang="en-SG" smtClean="0"/>
              <a:t> list</a:t>
            </a:r>
            <a:endParaRPr 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Using </a:t>
            </a:r>
            <a:r>
              <a:rPr lang="en-SG" dirty="0" err="1" smtClean="0"/>
              <a:t>crewai</a:t>
            </a:r>
            <a:r>
              <a:rPr lang="en-SG" dirty="0" smtClean="0"/>
              <a:t> </a:t>
            </a:r>
            <a:r>
              <a:rPr lang="en-SG" dirty="0" err="1" smtClean="0"/>
              <a:t>vs</a:t>
            </a:r>
            <a:r>
              <a:rPr lang="en-SG" dirty="0" smtClean="0"/>
              <a:t> </a:t>
            </a:r>
            <a:r>
              <a:rPr lang="en-SG" dirty="0" err="1" smtClean="0"/>
              <a:t>ollama</a:t>
            </a:r>
            <a:r>
              <a:rPr lang="en-SG" dirty="0" smtClean="0"/>
              <a:t> chat app</a:t>
            </a:r>
            <a:endParaRPr lang="en-US" dirty="0"/>
          </a:p>
        </p:txBody>
      </p:sp>
      <p:graphicFrame>
        <p:nvGraphicFramePr>
          <p:cNvPr id="4" name="Content Placeholder 3"/>
          <p:cNvGraphicFramePr>
            <a:graphicFrameLocks noGrp="1"/>
          </p:cNvGraphicFramePr>
          <p:nvPr>
            <p:ph idx="1"/>
          </p:nvPr>
        </p:nvGraphicFramePr>
        <p:xfrm>
          <a:off x="838200" y="1825625"/>
          <a:ext cx="10515600" cy="1854200"/>
        </p:xfrm>
        <a:graphic>
          <a:graphicData uri="http://schemas.openxmlformats.org/drawingml/2006/table">
            <a:tbl>
              <a:tblPr firstRow="1" bandRow="1">
                <a:tableStyleId>{5C22544A-7EE6-4342-B048-85BDC9FD1C3A}</a:tableStyleId>
              </a:tblPr>
              <a:tblGrid>
                <a:gridCol w="3505200"/>
                <a:gridCol w="3505200"/>
                <a:gridCol w="3505200"/>
              </a:tblGrid>
              <a:tr h="370840">
                <a:tc>
                  <a:txBody>
                    <a:bodyPr/>
                    <a:lstStyle/>
                    <a:p>
                      <a:endParaRPr lang="en-US" dirty="0"/>
                    </a:p>
                  </a:txBody>
                  <a:tcPr/>
                </a:tc>
                <a:tc>
                  <a:txBody>
                    <a:bodyPr/>
                    <a:lstStyle/>
                    <a:p>
                      <a:r>
                        <a:rPr lang="en-SG" dirty="0" err="1" smtClean="0"/>
                        <a:t>Crewai</a:t>
                      </a:r>
                      <a:endParaRPr lang="en-US" dirty="0"/>
                    </a:p>
                  </a:txBody>
                  <a:tcPr/>
                </a:tc>
                <a:tc>
                  <a:txBody>
                    <a:bodyPr/>
                    <a:lstStyle/>
                    <a:p>
                      <a:r>
                        <a:rPr lang="en-SG" dirty="0" err="1" smtClean="0"/>
                        <a:t>Ollama</a:t>
                      </a:r>
                      <a:r>
                        <a:rPr lang="en-SG" dirty="0" smtClean="0"/>
                        <a:t> chat app</a:t>
                      </a:r>
                      <a:endParaRPr lang="en-US" dirty="0"/>
                    </a:p>
                  </a:txBody>
                  <a:tcPr/>
                </a:tc>
              </a:tr>
              <a:tr h="370840">
                <a:tc>
                  <a:txBody>
                    <a:bodyPr/>
                    <a:lstStyle/>
                    <a:p>
                      <a:r>
                        <a:rPr lang="en-SG" dirty="0" smtClean="0"/>
                        <a:t>Llama4</a:t>
                      </a:r>
                      <a:endParaRPr lang="en-US" dirty="0"/>
                    </a:p>
                  </a:txBody>
                  <a:tcPr/>
                </a:tc>
                <a:tc>
                  <a:txBody>
                    <a:bodyPr/>
                    <a:lstStyle/>
                    <a:p>
                      <a:r>
                        <a:rPr lang="en-SG" dirty="0" smtClean="0"/>
                        <a:t>Wrong code, wrong answer</a:t>
                      </a:r>
                      <a:endParaRPr lang="en-US" dirty="0"/>
                    </a:p>
                  </a:txBody>
                  <a:tcPr/>
                </a:tc>
                <a:tc>
                  <a:txBody>
                    <a:bodyPr/>
                    <a:lstStyle/>
                    <a:p>
                      <a:r>
                        <a:rPr lang="en-SG" dirty="0" smtClean="0"/>
                        <a:t>Correct answer</a:t>
                      </a:r>
                      <a:endParaRPr lang="en-US" dirty="0"/>
                    </a:p>
                  </a:txBody>
                  <a:tcPr/>
                </a:tc>
              </a:tr>
              <a:tr h="370840">
                <a:tc>
                  <a:txBody>
                    <a:bodyPr/>
                    <a:lstStyle/>
                    <a:p>
                      <a:r>
                        <a:rPr lang="en-SG" dirty="0" smtClean="0"/>
                        <a:t>Llama3.1</a:t>
                      </a:r>
                      <a:endParaRPr lang="en-US" dirty="0"/>
                    </a:p>
                  </a:txBody>
                  <a:tcPr/>
                </a:tc>
                <a:tc>
                  <a:txBody>
                    <a:bodyPr/>
                    <a:lstStyle/>
                    <a:p>
                      <a:endParaRPr lang="en-US" dirty="0"/>
                    </a:p>
                  </a:txBody>
                  <a:tcPr/>
                </a:tc>
                <a:tc>
                  <a:txBody>
                    <a:bodyPr/>
                    <a:lstStyle/>
                    <a:p>
                      <a:r>
                        <a:rPr lang="en-SG" dirty="0" smtClean="0"/>
                        <a:t>Correct answer</a:t>
                      </a:r>
                      <a:endParaRPr lang="en-US" dirty="0"/>
                    </a:p>
                  </a:txBody>
                  <a:tcPr/>
                </a:tc>
              </a:tr>
              <a:tr h="370840">
                <a:tc>
                  <a:txBody>
                    <a:bodyPr/>
                    <a:lstStyle/>
                    <a:p>
                      <a:r>
                        <a:rPr lang="en-SG" dirty="0" smtClean="0"/>
                        <a:t>Gpt-oss:20b</a:t>
                      </a:r>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bl>
          </a:graphicData>
        </a:graphic>
      </p:graphicFrame>
      <p:sp>
        <p:nvSpPr>
          <p:cNvPr id="5" name="TextBox 4"/>
          <p:cNvSpPr txBox="1"/>
          <p:nvPr/>
        </p:nvSpPr>
        <p:spPr>
          <a:xfrm>
            <a:off x="914400" y="4438650"/>
            <a:ext cx="10596812" cy="923330"/>
          </a:xfrm>
          <a:prstGeom prst="rect">
            <a:avLst/>
          </a:prstGeom>
          <a:noFill/>
        </p:spPr>
        <p:txBody>
          <a:bodyPr wrap="none" rtlCol="0">
            <a:spAutoFit/>
          </a:bodyPr>
          <a:lstStyle/>
          <a:p>
            <a:r>
              <a:rPr lang="en-SG" dirty="0" smtClean="0"/>
              <a:t>Using </a:t>
            </a:r>
            <a:r>
              <a:rPr lang="en-SG" dirty="0" err="1" smtClean="0"/>
              <a:t>agentic</a:t>
            </a:r>
            <a:r>
              <a:rPr lang="en-SG" dirty="0" smtClean="0"/>
              <a:t> framework makes the model performs poorer. Maybe due to orchestration, making it more noisy.</a:t>
            </a:r>
          </a:p>
          <a:p>
            <a:endParaRPr lang="en-SG" dirty="0" smtClean="0"/>
          </a:p>
          <a:p>
            <a:r>
              <a:rPr lang="en-SG" dirty="0" smtClean="0"/>
              <a:t>Qwen3.6 takes very long to think (very nagging)</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2218</TotalTime>
  <Words>3406</Words>
  <Application>Microsoft Office PowerPoint</Application>
  <PresentationFormat>Custom</PresentationFormat>
  <Paragraphs>568</Paragraphs>
  <Slides>89</Slides>
  <Notes>0</Notes>
  <HiddenSlides>0</HiddenSlides>
  <MMClips>0</MMClips>
  <ScaleCrop>false</ScaleCrop>
  <HeadingPairs>
    <vt:vector size="4" baseType="variant">
      <vt:variant>
        <vt:lpstr>Theme</vt:lpstr>
      </vt:variant>
      <vt:variant>
        <vt:i4>1</vt:i4>
      </vt:variant>
      <vt:variant>
        <vt:lpstr>Slide Titles</vt:lpstr>
      </vt:variant>
      <vt:variant>
        <vt:i4>89</vt:i4>
      </vt:variant>
    </vt:vector>
  </HeadingPairs>
  <TitlesOfParts>
    <vt:vector size="90" baseType="lpstr">
      <vt:lpstr>Office Theme</vt:lpstr>
      <vt:lpstr>AI Engineer Agentic Track</vt:lpstr>
      <vt:lpstr>n8n</vt:lpstr>
      <vt:lpstr>Course intro</vt:lpstr>
      <vt:lpstr>Lesson Plan</vt:lpstr>
      <vt:lpstr>Slide 5</vt:lpstr>
      <vt:lpstr>For who</vt:lpstr>
      <vt:lpstr>Tools</vt:lpstr>
      <vt:lpstr>API cost</vt:lpstr>
      <vt:lpstr>Ed Donner github</vt:lpstr>
      <vt:lpstr>Setup on Windows</vt:lpstr>
      <vt:lpstr>Use ollama instead of OpenAI</vt:lpstr>
      <vt:lpstr>Slide 12</vt:lpstr>
      <vt:lpstr>Agentic AI framework</vt:lpstr>
      <vt:lpstr>Slide 14</vt:lpstr>
      <vt:lpstr>AutoGen (AG)</vt:lpstr>
      <vt:lpstr>Slide 16</vt:lpstr>
      <vt:lpstr>Slide 17</vt:lpstr>
      <vt:lpstr>Model Control Protocol (MCP)</vt:lpstr>
      <vt:lpstr>Slide 19</vt:lpstr>
      <vt:lpstr>1_lab1</vt:lpstr>
      <vt:lpstr>6 week course</vt:lpstr>
      <vt:lpstr>What is Agents</vt:lpstr>
      <vt:lpstr>Workflow</vt:lpstr>
      <vt:lpstr>Agents vs workflow</vt:lpstr>
      <vt:lpstr>Lesson 11</vt:lpstr>
      <vt:lpstr>Vellum leaderboard</vt:lpstr>
      <vt:lpstr>Set up API key from vendor</vt:lpstr>
      <vt:lpstr>Where to use role=system vs user</vt:lpstr>
      <vt:lpstr>Slide 29</vt:lpstr>
      <vt:lpstr>Agentic AI fw</vt:lpstr>
      <vt:lpstr>resources</vt:lpstr>
      <vt:lpstr>tool</vt:lpstr>
      <vt:lpstr>Slide 33</vt:lpstr>
      <vt:lpstr>Pydantic model</vt:lpstr>
      <vt:lpstr>Pig latin</vt:lpstr>
      <vt:lpstr>Pushover Tool</vt:lpstr>
      <vt:lpstr>Week1 Day5</vt:lpstr>
      <vt:lpstr>Slide 38</vt:lpstr>
      <vt:lpstr>Week1 Day5 extra</vt:lpstr>
      <vt:lpstr>Week2</vt:lpstr>
      <vt:lpstr>OpenAI Agents SDK</vt:lpstr>
      <vt:lpstr>Sample code to use ollama to do OpenAI</vt:lpstr>
      <vt:lpstr>Slide 43</vt:lpstr>
      <vt:lpstr>Vibe coding</vt:lpstr>
      <vt:lpstr>W2D2: SDR (Sales Development Rep)</vt:lpstr>
      <vt:lpstr>sendgrid</vt:lpstr>
      <vt:lpstr>Difference between run and run_streamed</vt:lpstr>
      <vt:lpstr>Slide 48</vt:lpstr>
      <vt:lpstr>Slide 49</vt:lpstr>
      <vt:lpstr>Guardrail</vt:lpstr>
      <vt:lpstr>Slide 51</vt:lpstr>
      <vt:lpstr>Slide 52</vt:lpstr>
      <vt:lpstr>W2D4: Deep research</vt:lpstr>
      <vt:lpstr>Slide 54</vt:lpstr>
      <vt:lpstr>Crew AI</vt:lpstr>
      <vt:lpstr>CrewAI framework 2 flavours</vt:lpstr>
      <vt:lpstr>CrewAI core concept</vt:lpstr>
      <vt:lpstr>CrewAI projects are UV projects</vt:lpstr>
      <vt:lpstr>Crewai installation</vt:lpstr>
      <vt:lpstr>Slide 60</vt:lpstr>
      <vt:lpstr>Agents.yaml</vt:lpstr>
      <vt:lpstr>Example of agents in agents.yaml</vt:lpstr>
      <vt:lpstr>Tasks.yaml</vt:lpstr>
      <vt:lpstr>Examples of task in tasks.yaml</vt:lpstr>
      <vt:lpstr>Crew.py</vt:lpstr>
      <vt:lpstr>Main.py</vt:lpstr>
      <vt:lpstr>Step</vt:lpstr>
      <vt:lpstr>Slide 68</vt:lpstr>
      <vt:lpstr>Slide 69</vt:lpstr>
      <vt:lpstr>Slide 70</vt:lpstr>
      <vt:lpstr>W3D3</vt:lpstr>
      <vt:lpstr>Change custom tool to push tool</vt:lpstr>
      <vt:lpstr>Slide 73</vt:lpstr>
      <vt:lpstr>Slide 74</vt:lpstr>
      <vt:lpstr>Crewai memory</vt:lpstr>
      <vt:lpstr>Slide 76</vt:lpstr>
      <vt:lpstr>Slide 77</vt:lpstr>
      <vt:lpstr>Slide 78</vt:lpstr>
      <vt:lpstr>W3D4 Coding agent</vt:lpstr>
      <vt:lpstr>Open source model comparison</vt:lpstr>
      <vt:lpstr>Mixture of experts</vt:lpstr>
      <vt:lpstr>700M MAU cap</vt:lpstr>
      <vt:lpstr>AIME 2026</vt:lpstr>
      <vt:lpstr>Why 1 token = 0.75 word (for english)</vt:lpstr>
      <vt:lpstr>Llama 4 Scout/ Maverick</vt:lpstr>
      <vt:lpstr>W3D5: Build Engineering Team</vt:lpstr>
      <vt:lpstr>Slide 87</vt:lpstr>
      <vt:lpstr>ollama</vt:lpstr>
      <vt:lpstr>Using crewai vs ollama chat app</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Engineer Agentic Track</dc:title>
  <dc:creator>Huang Wenjun</dc:creator>
  <cp:lastModifiedBy>Wenjun Huang</cp:lastModifiedBy>
  <cp:revision>264</cp:revision>
  <dcterms:created xsi:type="dcterms:W3CDTF">2026-04-15T05:10:34Z</dcterms:created>
  <dcterms:modified xsi:type="dcterms:W3CDTF">2026-05-09T19:06:01Z</dcterms:modified>
</cp:coreProperties>
</file>