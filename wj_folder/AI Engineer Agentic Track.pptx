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1" r:id="rId3"/>
    <p:sldId id="272" r:id="rId4"/>
    <p:sldId id="273" r:id="rId5"/>
    <p:sldId id="274" r:id="rId6"/>
    <p:sldId id="275" r:id="rId7"/>
    <p:sldId id="259" r:id="rId8"/>
    <p:sldId id="260" r:id="rId9"/>
    <p:sldId id="261" r:id="rId10"/>
    <p:sldId id="262" r:id="rId11"/>
    <p:sldId id="276" r:id="rId12"/>
    <p:sldId id="277" r:id="rId13"/>
    <p:sldId id="263" r:id="rId14"/>
    <p:sldId id="265" r:id="rId15"/>
    <p:sldId id="266" r:id="rId16"/>
    <p:sldId id="267" r:id="rId17"/>
    <p:sldId id="268" r:id="rId18"/>
    <p:sldId id="269" r:id="rId19"/>
    <p:sldId id="278" r:id="rId20"/>
    <p:sldId id="279" r:id="rId21"/>
    <p:sldId id="280" r:id="rId22"/>
    <p:sldId id="281" r:id="rId23"/>
    <p:sldId id="282" r:id="rId24"/>
    <p:sldId id="283" r:id="rId25"/>
    <p:sldId id="284" r:id="rId26"/>
    <p:sldId id="270" r:id="rId27"/>
    <p:sldId id="285" r:id="rId28"/>
    <p:sldId id="286" r:id="rId29"/>
    <p:sldId id="287" r:id="rId30"/>
    <p:sldId id="288" r:id="rId31"/>
    <p:sldId id="289" r:id="rId32"/>
    <p:sldId id="290" r:id="rId33"/>
    <p:sldId id="291" r:id="rId34"/>
    <p:sldId id="292" r:id="rId35"/>
    <p:sldId id="293" r:id="rId36"/>
    <p:sldId id="264"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9" r:id="rId52"/>
    <p:sldId id="310" r:id="rId53"/>
    <p:sldId id="308" r:id="rId54"/>
    <p:sldId id="311"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 xmlns:p14="http://schemas.microsoft.com/office/powerpoint/2010/main" val="0"/>
    </p:ext>
    <p:ext uri="{D31A062A-798A-4329-ABDD-BBA856620510}">
      <p14:defaultImageDpi xmlns="" xmlns:p14="http://schemas.microsoft.com/office/powerpoint/2010/main" val="32767"/>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5987" autoAdjust="0"/>
    <p:restoredTop sz="94660"/>
  </p:normalViewPr>
  <p:slideViewPr>
    <p:cSldViewPr snapToGrid="0">
      <p:cViewPr varScale="1">
        <p:scale>
          <a:sx n="44" d="100"/>
          <a:sy n="44" d="100"/>
        </p:scale>
        <p:origin x="-108" y="-768"/>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5B3E28E-18CE-48AC-B6DC-8A8656CDEDB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 xmlns:a16="http://schemas.microsoft.com/office/drawing/2014/main" id="{2B6A52DD-2FAB-4A70-B6D2-95F094A8B4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 xmlns:a16="http://schemas.microsoft.com/office/drawing/2014/main" id="{04BAD745-F79C-4969-B66B-32EAF85AEB5D}"/>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5" name="Footer Placeholder 4">
            <a:extLst>
              <a:ext uri="{FF2B5EF4-FFF2-40B4-BE49-F238E27FC236}">
                <a16:creationId xmlns="" xmlns:a16="http://schemas.microsoft.com/office/drawing/2014/main" id="{1C786EE0-F04B-4BBE-8583-F02BC47C4AD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9A99FA26-9A64-457F-8D29-D065353FF9F0}"/>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26679223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55AF50E-259D-4420-9188-F51DD2BAFD70}"/>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 xmlns:a16="http://schemas.microsoft.com/office/drawing/2014/main" id="{A73F7E3F-7470-4510-A780-183E65AC186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 xmlns:a16="http://schemas.microsoft.com/office/drawing/2014/main" id="{A54D4AD1-EA5B-4614-A5E6-D63FC76F3576}"/>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5" name="Footer Placeholder 4">
            <a:extLst>
              <a:ext uri="{FF2B5EF4-FFF2-40B4-BE49-F238E27FC236}">
                <a16:creationId xmlns="" xmlns:a16="http://schemas.microsoft.com/office/drawing/2014/main" id="{718FB14E-3AD2-47F4-A1D1-E1C9AC98857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A17876F6-21A2-4792-B530-0A93D3DBC805}"/>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29934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6B6865F-0872-4848-9520-4A864C6024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 xmlns:a16="http://schemas.microsoft.com/office/drawing/2014/main" id="{F0AC7D33-E69A-4B17-A1A3-EE468AAB63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 xmlns:a16="http://schemas.microsoft.com/office/drawing/2014/main" id="{072E0E53-7128-4B7B-A804-96C3DFBB3B3D}"/>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5" name="Footer Placeholder 4">
            <a:extLst>
              <a:ext uri="{FF2B5EF4-FFF2-40B4-BE49-F238E27FC236}">
                <a16:creationId xmlns="" xmlns:a16="http://schemas.microsoft.com/office/drawing/2014/main" id="{5B6BECC3-1CCF-43E3-958B-064CE362C516}"/>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120A9F1B-A0D5-4299-91F8-A52B32E0FC0F}"/>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39599360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F9F2B6E-2A11-419C-9C74-50A409504119}"/>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 xmlns:a16="http://schemas.microsoft.com/office/drawing/2014/main" id="{D4E0461F-DECA-4D9E-B39B-D6350255325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 xmlns:a16="http://schemas.microsoft.com/office/drawing/2014/main" id="{ED21C229-1E37-4349-B92D-45D80279648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 xmlns:a16="http://schemas.microsoft.com/office/drawing/2014/main" id="{9CF20FF1-9E73-47C2-841C-37A7861B813B}"/>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6" name="Footer Placeholder 5">
            <a:extLst>
              <a:ext uri="{FF2B5EF4-FFF2-40B4-BE49-F238E27FC236}">
                <a16:creationId xmlns="" xmlns:a16="http://schemas.microsoft.com/office/drawing/2014/main" id="{2F30EA0D-F4E5-4D2C-A310-EBF53519CA8C}"/>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 xmlns:a16="http://schemas.microsoft.com/office/drawing/2014/main" id="{CF787CF5-3FEA-4D0A-9F31-87D4A8BFAFF3}"/>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35211831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F64066D-E371-4B98-91E9-0205C29A38D5}"/>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 xmlns:a16="http://schemas.microsoft.com/office/drawing/2014/main" id="{6D291F3E-6BB8-40EA-9642-81AC28575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 xmlns:a16="http://schemas.microsoft.com/office/drawing/2014/main" id="{E3D71627-C43B-41B9-93D1-AC127EDF1753}"/>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 xmlns:a16="http://schemas.microsoft.com/office/drawing/2014/main" id="{5729F57F-2C4A-426A-B528-A9A6B27490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 xmlns:a16="http://schemas.microsoft.com/office/drawing/2014/main" id="{108BBCD7-113F-42D8-808C-51BE80459DA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 xmlns:a16="http://schemas.microsoft.com/office/drawing/2014/main" id="{5F58795B-42BC-4C90-9D35-999C22D27263}"/>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8" name="Footer Placeholder 7">
            <a:extLst>
              <a:ext uri="{FF2B5EF4-FFF2-40B4-BE49-F238E27FC236}">
                <a16:creationId xmlns="" xmlns:a16="http://schemas.microsoft.com/office/drawing/2014/main" id="{861A241B-A482-4DAF-AD71-BA7868572B34}"/>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 xmlns:a16="http://schemas.microsoft.com/office/drawing/2014/main" id="{0C6BBAEC-4E21-45B9-BBFD-9985DE6368B9}"/>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914358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2F449E6-7ECD-49C3-BBCA-72C0674AABB4}"/>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 xmlns:a16="http://schemas.microsoft.com/office/drawing/2014/main" id="{14BF4CAD-2675-48FF-8155-9287FBE772A4}"/>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4" name="Footer Placeholder 3">
            <a:extLst>
              <a:ext uri="{FF2B5EF4-FFF2-40B4-BE49-F238E27FC236}">
                <a16:creationId xmlns="" xmlns:a16="http://schemas.microsoft.com/office/drawing/2014/main" id="{8FFBF989-35FF-4401-A869-05969EAB717D}"/>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 xmlns:a16="http://schemas.microsoft.com/office/drawing/2014/main" id="{EA4B274A-A165-4443-9574-895CE8597DD6}"/>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1204235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 xmlns:a16="http://schemas.microsoft.com/office/drawing/2014/main" id="{3636E2EB-85F6-469D-914B-2EDEB5DC10E3}"/>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3" name="Footer Placeholder 2">
            <a:extLst>
              <a:ext uri="{FF2B5EF4-FFF2-40B4-BE49-F238E27FC236}">
                <a16:creationId xmlns="" xmlns:a16="http://schemas.microsoft.com/office/drawing/2014/main" id="{6871A4C5-FEB3-494D-8286-AFA5B25B8D9D}"/>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 xmlns:a16="http://schemas.microsoft.com/office/drawing/2014/main" id="{C7C7AE82-9387-4C55-89BB-24A45AD5059A}"/>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3013825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23E936D-8829-4BB8-A867-54E0457C0D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 xmlns:a16="http://schemas.microsoft.com/office/drawing/2014/main" id="{88A3C72F-CEE9-48FB-9F11-D0586F2ED1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 xmlns:a16="http://schemas.microsoft.com/office/drawing/2014/main" id="{C4C40591-FB62-4D16-8640-1C1A1B5E6D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 xmlns:a16="http://schemas.microsoft.com/office/drawing/2014/main" id="{E7838D76-9F15-4280-9050-14326E6BFB07}"/>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6" name="Footer Placeholder 5">
            <a:extLst>
              <a:ext uri="{FF2B5EF4-FFF2-40B4-BE49-F238E27FC236}">
                <a16:creationId xmlns="" xmlns:a16="http://schemas.microsoft.com/office/drawing/2014/main" id="{76F20088-3883-4889-97AF-802D607B17EE}"/>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 xmlns:a16="http://schemas.microsoft.com/office/drawing/2014/main" id="{0734916A-9F25-4A31-8882-DBF7DB057B3F}"/>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1882592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B2AB50C-175F-4F42-A189-809867FA96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 xmlns:a16="http://schemas.microsoft.com/office/drawing/2014/main" id="{8E890ACF-AFD2-4AB2-821E-F00C5F31A5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 xmlns:a16="http://schemas.microsoft.com/office/drawing/2014/main" id="{60043709-C786-4B05-99B9-88AEC37D96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 xmlns:a16="http://schemas.microsoft.com/office/drawing/2014/main" id="{D22D6C43-B6F1-408C-8A0F-770601C25F55}"/>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6" name="Footer Placeholder 5">
            <a:extLst>
              <a:ext uri="{FF2B5EF4-FFF2-40B4-BE49-F238E27FC236}">
                <a16:creationId xmlns="" xmlns:a16="http://schemas.microsoft.com/office/drawing/2014/main" id="{0678BD1D-21CC-4DE7-BEE1-D623B02A553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 xmlns:a16="http://schemas.microsoft.com/office/drawing/2014/main" id="{FEA3AE7A-6AFE-4DC8-8036-9C9684DA8273}"/>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12591846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AAA867B-006D-4CFD-B0EC-6278F9C6F395}"/>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 xmlns:a16="http://schemas.microsoft.com/office/drawing/2014/main" id="{6B68286A-F7B1-4E68-85D2-589B8E6EB3D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 xmlns:a16="http://schemas.microsoft.com/office/drawing/2014/main" id="{0ABE87C5-816E-492F-A0B6-37580D37F936}"/>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5" name="Footer Placeholder 4">
            <a:extLst>
              <a:ext uri="{FF2B5EF4-FFF2-40B4-BE49-F238E27FC236}">
                <a16:creationId xmlns="" xmlns:a16="http://schemas.microsoft.com/office/drawing/2014/main" id="{CCCB506B-7592-40AA-96EF-65E8E107D9C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60B3A27B-7FBB-4800-A8DA-288A2A7FA3B4}"/>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17899930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 xmlns:a16="http://schemas.microsoft.com/office/drawing/2014/main" id="{E3CAE2E0-E6B1-495D-AC76-5924F353B30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 xmlns:a16="http://schemas.microsoft.com/office/drawing/2014/main" id="{14D381DB-6117-4A94-B30D-F3575482587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 xmlns:a16="http://schemas.microsoft.com/office/drawing/2014/main" id="{D9F0CC51-792E-4BE0-B368-1BAD7EC3054B}"/>
              </a:ext>
            </a:extLst>
          </p:cNvPr>
          <p:cNvSpPr>
            <a:spLocks noGrp="1"/>
          </p:cNvSpPr>
          <p:nvPr>
            <p:ph type="dt" sz="half" idx="10"/>
          </p:nvPr>
        </p:nvSpPr>
        <p:spPr/>
        <p:txBody>
          <a:bodyPr/>
          <a:lstStyle/>
          <a:p>
            <a:fld id="{C9233E07-AC5D-4A66-9D8F-502DF1D54D74}" type="datetimeFigureOut">
              <a:rPr lang="en-SG" smtClean="0"/>
              <a:pPr/>
              <a:t>2/5/2026</a:t>
            </a:fld>
            <a:endParaRPr lang="en-SG"/>
          </a:p>
        </p:txBody>
      </p:sp>
      <p:sp>
        <p:nvSpPr>
          <p:cNvPr id="5" name="Footer Placeholder 4">
            <a:extLst>
              <a:ext uri="{FF2B5EF4-FFF2-40B4-BE49-F238E27FC236}">
                <a16:creationId xmlns="" xmlns:a16="http://schemas.microsoft.com/office/drawing/2014/main" id="{671D2F8B-58E9-4E4B-BAE5-CFEBD5297B5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 xmlns:a16="http://schemas.microsoft.com/office/drawing/2014/main" id="{B7291426-4EDB-4891-B650-32D85684F47B}"/>
              </a:ext>
            </a:extLst>
          </p:cNvPr>
          <p:cNvSpPr>
            <a:spLocks noGrp="1"/>
          </p:cNvSpPr>
          <p:nvPr>
            <p:ph type="sldNum" sz="quarter" idx="12"/>
          </p:nvPr>
        </p:nvSpPr>
        <p:spPr/>
        <p:txBody>
          <a:body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226466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 xmlns:a16="http://schemas.microsoft.com/office/drawing/2014/main" id="{565E2B54-3CD0-4C6D-91BB-5B801A35BF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 xmlns:a16="http://schemas.microsoft.com/office/drawing/2014/main" id="{7E131115-64CF-40C8-98C8-CCA45F62540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 xmlns:a16="http://schemas.microsoft.com/office/drawing/2014/main" id="{335DEB0A-461F-440E-B604-1DF75527DA2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233E07-AC5D-4A66-9D8F-502DF1D54D74}" type="datetimeFigureOut">
              <a:rPr lang="en-SG" smtClean="0"/>
              <a:pPr/>
              <a:t>2/5/2026</a:t>
            </a:fld>
            <a:endParaRPr lang="en-SG"/>
          </a:p>
        </p:txBody>
      </p:sp>
      <p:sp>
        <p:nvSpPr>
          <p:cNvPr id="5" name="Footer Placeholder 4">
            <a:extLst>
              <a:ext uri="{FF2B5EF4-FFF2-40B4-BE49-F238E27FC236}">
                <a16:creationId xmlns="" xmlns:a16="http://schemas.microsoft.com/office/drawing/2014/main" id="{3A0B83EB-4DE8-4EB6-BBCA-61BE02C9F4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a:extLst>
              <a:ext uri="{FF2B5EF4-FFF2-40B4-BE49-F238E27FC236}">
                <a16:creationId xmlns="" xmlns:a16="http://schemas.microsoft.com/office/drawing/2014/main" id="{AF537C43-4A9B-4640-A015-72897086917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E464D15-4076-4753-9929-926202C46B32}" type="slidenum">
              <a:rPr lang="en-SG" smtClean="0"/>
              <a:pPr/>
              <a:t>‹#›</a:t>
            </a:fld>
            <a:endParaRPr lang="en-SG"/>
          </a:p>
        </p:txBody>
      </p:sp>
    </p:spTree>
    <p:extLst>
      <p:ext uri="{BB962C8B-B14F-4D97-AF65-F5344CB8AC3E}">
        <p14:creationId xmlns="" xmlns:p14="http://schemas.microsoft.com/office/powerpoint/2010/main" val="32896851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astral.sh/uv/" TargetMode="External"/><Relationship Id="rId2" Type="http://schemas.openxmlformats.org/officeDocument/2006/relationships/hyperlink" Target="https://cursor.com/download"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platform.deepseek.com/api_keys" TargetMode="External"/><Relationship Id="rId2" Type="http://schemas.openxmlformats.org/officeDocument/2006/relationships/hyperlink" Target="https://aistudio.google.com/api-keys?project=test-441309"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pushover.net/"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4DF952D-8CBE-44DE-B2A1-0F588A324935}"/>
              </a:ext>
            </a:extLst>
          </p:cNvPr>
          <p:cNvSpPr>
            <a:spLocks noGrp="1"/>
          </p:cNvSpPr>
          <p:nvPr>
            <p:ph type="ctrTitle"/>
          </p:nvPr>
        </p:nvSpPr>
        <p:spPr/>
        <p:txBody>
          <a:bodyPr/>
          <a:lstStyle/>
          <a:p>
            <a:r>
              <a:rPr lang="en-US" dirty="0"/>
              <a:t>AI Engineer Agentic Track</a:t>
            </a:r>
            <a:endParaRPr lang="en-SG" dirty="0"/>
          </a:p>
        </p:txBody>
      </p:sp>
      <p:sp>
        <p:nvSpPr>
          <p:cNvPr id="3" name="Subtitle 2">
            <a:extLst>
              <a:ext uri="{FF2B5EF4-FFF2-40B4-BE49-F238E27FC236}">
                <a16:creationId xmlns="" xmlns:a16="http://schemas.microsoft.com/office/drawing/2014/main" id="{1AA444F2-998C-4660-B8E0-DBD77EAC7996}"/>
              </a:ext>
            </a:extLst>
          </p:cNvPr>
          <p:cNvSpPr>
            <a:spLocks noGrp="1"/>
          </p:cNvSpPr>
          <p:nvPr>
            <p:ph type="subTitle" idx="1"/>
          </p:nvPr>
        </p:nvSpPr>
        <p:spPr/>
        <p:txBody>
          <a:bodyPr/>
          <a:lstStyle/>
          <a:p>
            <a:endParaRPr lang="en-SG"/>
          </a:p>
        </p:txBody>
      </p:sp>
    </p:spTree>
    <p:extLst>
      <p:ext uri="{BB962C8B-B14F-4D97-AF65-F5344CB8AC3E}">
        <p14:creationId xmlns="" xmlns:p14="http://schemas.microsoft.com/office/powerpoint/2010/main" val="3032532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n8n</a:t>
            </a:r>
            <a:endParaRPr lang="en-US" dirty="0"/>
          </a:p>
        </p:txBody>
      </p:sp>
      <p:sp>
        <p:nvSpPr>
          <p:cNvPr id="3" name="Content Placeholder 2"/>
          <p:cNvSpPr>
            <a:spLocks noGrp="1"/>
          </p:cNvSpPr>
          <p:nvPr>
            <p:ph idx="1"/>
          </p:nvPr>
        </p:nvSpPr>
        <p:spPr/>
        <p:txBody>
          <a:bodyPr/>
          <a:lstStyle/>
          <a:p>
            <a:r>
              <a:rPr lang="en-SG" dirty="0" smtClean="0"/>
              <a:t>Open source workflow automation tool</a:t>
            </a:r>
          </a:p>
          <a:p>
            <a:r>
              <a:rPr lang="en-SG" dirty="0" smtClean="0"/>
              <a:t>No code/lo-code</a:t>
            </a:r>
          </a:p>
          <a:p>
            <a:r>
              <a:rPr lang="en-SG" dirty="0" smtClean="0"/>
              <a:t>Agent</a:t>
            </a:r>
          </a:p>
          <a:p>
            <a:pPr lvl="1"/>
            <a:r>
              <a:rPr lang="en-SG" dirty="0" smtClean="0"/>
              <a:t>Chat model (API key)</a:t>
            </a:r>
          </a:p>
          <a:p>
            <a:pPr lvl="2"/>
            <a:r>
              <a:rPr lang="en-SG" dirty="0" smtClean="0"/>
              <a:t>Gpt-4o-mini</a:t>
            </a:r>
          </a:p>
          <a:p>
            <a:pPr lvl="1"/>
            <a:r>
              <a:rPr lang="en-SG" dirty="0" smtClean="0"/>
              <a:t>Tool</a:t>
            </a:r>
          </a:p>
          <a:p>
            <a:pPr lvl="2"/>
            <a:r>
              <a:rPr lang="en-SG" dirty="0" smtClean="0"/>
              <a:t>Philip Hue </a:t>
            </a:r>
            <a:r>
              <a:rPr lang="en-SG" dirty="0" err="1" smtClean="0"/>
              <a:t>lightbulb</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Course intro</a:t>
            </a:r>
            <a:endParaRPr lang="en-US" dirty="0"/>
          </a:p>
        </p:txBody>
      </p:sp>
      <p:sp>
        <p:nvSpPr>
          <p:cNvPr id="3" name="Content Placeholder 2"/>
          <p:cNvSpPr>
            <a:spLocks noGrp="1"/>
          </p:cNvSpPr>
          <p:nvPr>
            <p:ph idx="1"/>
          </p:nvPr>
        </p:nvSpPr>
        <p:spPr/>
        <p:txBody>
          <a:bodyPr/>
          <a:lstStyle/>
          <a:p>
            <a:r>
              <a:rPr lang="en-SG" dirty="0" smtClean="0"/>
              <a:t>Theory</a:t>
            </a:r>
          </a:p>
          <a:p>
            <a:r>
              <a:rPr lang="en-SG" dirty="0" smtClean="0"/>
              <a:t>Frameworks</a:t>
            </a:r>
          </a:p>
          <a:p>
            <a:r>
              <a:rPr lang="en-SG" dirty="0" smtClean="0"/>
              <a:t>Projects</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Lesson Plan</a:t>
            </a:r>
            <a:endParaRPr lang="en-US" dirty="0"/>
          </a:p>
        </p:txBody>
      </p:sp>
      <p:sp>
        <p:nvSpPr>
          <p:cNvPr id="3" name="Content Placeholder 2"/>
          <p:cNvSpPr>
            <a:spLocks noGrp="1"/>
          </p:cNvSpPr>
          <p:nvPr>
            <p:ph idx="1"/>
          </p:nvPr>
        </p:nvSpPr>
        <p:spPr/>
        <p:txBody>
          <a:bodyPr/>
          <a:lstStyle/>
          <a:p>
            <a:r>
              <a:rPr lang="en-SG" dirty="0" smtClean="0"/>
              <a:t>Week1 Foundations</a:t>
            </a:r>
          </a:p>
          <a:p>
            <a:r>
              <a:rPr lang="en-SG" dirty="0" smtClean="0"/>
              <a:t>Week2 </a:t>
            </a:r>
            <a:r>
              <a:rPr lang="en-SG" dirty="0" err="1" smtClean="0"/>
              <a:t>OpenAI</a:t>
            </a:r>
            <a:r>
              <a:rPr lang="en-SG" dirty="0" smtClean="0"/>
              <a:t> Agents SDK</a:t>
            </a:r>
          </a:p>
          <a:p>
            <a:r>
              <a:rPr lang="en-SG" dirty="0" smtClean="0"/>
              <a:t>Week3 Crew AI</a:t>
            </a:r>
          </a:p>
          <a:p>
            <a:r>
              <a:rPr lang="en-SG" dirty="0" smtClean="0"/>
              <a:t>Week4 </a:t>
            </a:r>
            <a:r>
              <a:rPr lang="en-SG" dirty="0" err="1" smtClean="0"/>
              <a:t>LangGraph</a:t>
            </a:r>
            <a:endParaRPr lang="en-SG" dirty="0" smtClean="0"/>
          </a:p>
          <a:p>
            <a:r>
              <a:rPr lang="en-SG" dirty="0" smtClean="0"/>
              <a:t>Week5 MS </a:t>
            </a:r>
            <a:r>
              <a:rPr lang="en-SG" dirty="0" err="1" smtClean="0"/>
              <a:t>AutoGen</a:t>
            </a:r>
            <a:endParaRPr lang="en-SG" dirty="0" smtClean="0"/>
          </a:p>
          <a:p>
            <a:r>
              <a:rPr lang="en-SG" dirty="0" smtClean="0"/>
              <a:t>Week6 MCP</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Blue box: New</a:t>
            </a:r>
          </a:p>
          <a:p>
            <a:r>
              <a:rPr lang="en-SG" dirty="0" smtClean="0"/>
              <a:t>Yellow: Project</a:t>
            </a:r>
          </a:p>
          <a:p>
            <a:r>
              <a:rPr lang="en-SG" dirty="0" smtClean="0"/>
              <a:t>Bright yellow: Major project</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73CE9E01-EB1A-4CB8-AC8A-A20D0D14182C}"/>
              </a:ext>
            </a:extLst>
          </p:cNvPr>
          <p:cNvSpPr>
            <a:spLocks noGrp="1"/>
          </p:cNvSpPr>
          <p:nvPr>
            <p:ph type="title"/>
          </p:nvPr>
        </p:nvSpPr>
        <p:spPr/>
        <p:txBody>
          <a:bodyPr/>
          <a:lstStyle/>
          <a:p>
            <a:r>
              <a:rPr lang="en-US" dirty="0"/>
              <a:t>For who</a:t>
            </a:r>
            <a:endParaRPr lang="en-SG" dirty="0"/>
          </a:p>
        </p:txBody>
      </p:sp>
      <p:sp>
        <p:nvSpPr>
          <p:cNvPr id="3" name="Content Placeholder 2">
            <a:extLst>
              <a:ext uri="{FF2B5EF4-FFF2-40B4-BE49-F238E27FC236}">
                <a16:creationId xmlns="" xmlns:a16="http://schemas.microsoft.com/office/drawing/2014/main" id="{84D92A84-0FF1-4808-81BF-3058E2244DC5}"/>
              </a:ext>
            </a:extLst>
          </p:cNvPr>
          <p:cNvSpPr>
            <a:spLocks noGrp="1"/>
          </p:cNvSpPr>
          <p:nvPr>
            <p:ph idx="1"/>
          </p:nvPr>
        </p:nvSpPr>
        <p:spPr/>
        <p:txBody>
          <a:bodyPr/>
          <a:lstStyle/>
          <a:p>
            <a:r>
              <a:rPr lang="en-US" dirty="0"/>
              <a:t>Python coder</a:t>
            </a:r>
          </a:p>
          <a:p>
            <a:r>
              <a:rPr lang="en-US" dirty="0"/>
              <a:t>Ai engineer</a:t>
            </a:r>
          </a:p>
          <a:p>
            <a:r>
              <a:rPr lang="en-US" dirty="0"/>
              <a:t>Agent </a:t>
            </a:r>
            <a:r>
              <a:rPr lang="en-US" dirty="0" smtClean="0"/>
              <a:t>engineer</a:t>
            </a:r>
          </a:p>
          <a:p>
            <a:pPr>
              <a:buNone/>
            </a:pPr>
            <a:endParaRPr lang="en-SG" dirty="0" smtClean="0"/>
          </a:p>
          <a:p>
            <a:pPr>
              <a:buNone/>
            </a:pPr>
            <a:r>
              <a:rPr lang="en-SG" dirty="0" smtClean="0"/>
              <a:t>Using </a:t>
            </a:r>
            <a:r>
              <a:rPr lang="en-SG" dirty="0" err="1" smtClean="0"/>
              <a:t>py</a:t>
            </a:r>
            <a:r>
              <a:rPr lang="en-SG" dirty="0" smtClean="0"/>
              <a:t> and </a:t>
            </a:r>
            <a:r>
              <a:rPr lang="en-SG" dirty="0" err="1" smtClean="0"/>
              <a:t>ipynb</a:t>
            </a:r>
            <a:r>
              <a:rPr lang="en-SG" dirty="0" smtClean="0"/>
              <a:t> in this course</a:t>
            </a:r>
            <a:endParaRPr lang="en-US" dirty="0"/>
          </a:p>
          <a:p>
            <a:endParaRPr lang="en-US" dirty="0"/>
          </a:p>
          <a:p>
            <a:pPr marL="0" indent="0">
              <a:buNone/>
            </a:pPr>
            <a:r>
              <a:rPr lang="en-US" dirty="0"/>
              <a:t>Can take LLM engineering course</a:t>
            </a:r>
            <a:endParaRPr lang="en-SG" dirty="0"/>
          </a:p>
        </p:txBody>
      </p:sp>
    </p:spTree>
    <p:extLst>
      <p:ext uri="{BB962C8B-B14F-4D97-AF65-F5344CB8AC3E}">
        <p14:creationId xmlns="" xmlns:p14="http://schemas.microsoft.com/office/powerpoint/2010/main" val="774629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FF0256A-0B1A-4081-911D-42235E9E03A1}"/>
              </a:ext>
            </a:extLst>
          </p:cNvPr>
          <p:cNvSpPr>
            <a:spLocks noGrp="1"/>
          </p:cNvSpPr>
          <p:nvPr>
            <p:ph type="title"/>
          </p:nvPr>
        </p:nvSpPr>
        <p:spPr/>
        <p:txBody>
          <a:bodyPr/>
          <a:lstStyle/>
          <a:p>
            <a:r>
              <a:rPr lang="en-US" dirty="0"/>
              <a:t>Tools</a:t>
            </a:r>
            <a:endParaRPr lang="en-SG" dirty="0"/>
          </a:p>
        </p:txBody>
      </p:sp>
      <p:sp>
        <p:nvSpPr>
          <p:cNvPr id="3" name="Content Placeholder 2">
            <a:extLst>
              <a:ext uri="{FF2B5EF4-FFF2-40B4-BE49-F238E27FC236}">
                <a16:creationId xmlns="" xmlns:a16="http://schemas.microsoft.com/office/drawing/2014/main" id="{9EAC19C5-838A-474B-A502-EABC580DB223}"/>
              </a:ext>
            </a:extLst>
          </p:cNvPr>
          <p:cNvSpPr>
            <a:spLocks noGrp="1"/>
          </p:cNvSpPr>
          <p:nvPr>
            <p:ph idx="1"/>
          </p:nvPr>
        </p:nvSpPr>
        <p:spPr/>
        <p:txBody>
          <a:bodyPr/>
          <a:lstStyle/>
          <a:p>
            <a:r>
              <a:rPr lang="en-US" dirty="0"/>
              <a:t>Cursor is AI platform powered by </a:t>
            </a:r>
            <a:r>
              <a:rPr lang="en-US" dirty="0" smtClean="0"/>
              <a:t>LLM</a:t>
            </a:r>
          </a:p>
          <a:p>
            <a:pPr lvl="1"/>
            <a:r>
              <a:rPr lang="en-SG" dirty="0" smtClean="0"/>
              <a:t>Build on top of </a:t>
            </a:r>
            <a:r>
              <a:rPr lang="en-SG" dirty="0" err="1" smtClean="0"/>
              <a:t>VSCode</a:t>
            </a:r>
            <a:endParaRPr lang="en-SG" dirty="0" smtClean="0"/>
          </a:p>
          <a:p>
            <a:pPr lvl="1"/>
            <a:r>
              <a:rPr lang="en-SG" dirty="0" smtClean="0"/>
              <a:t>AI features</a:t>
            </a:r>
            <a:endParaRPr lang="en-US" dirty="0"/>
          </a:p>
          <a:p>
            <a:r>
              <a:rPr lang="en-US" dirty="0" smtClean="0"/>
              <a:t>UV</a:t>
            </a:r>
          </a:p>
          <a:p>
            <a:pPr lvl="1"/>
            <a:r>
              <a:rPr lang="en-SG" dirty="0" err="1" smtClean="0"/>
              <a:t>CrewAI</a:t>
            </a:r>
            <a:r>
              <a:rPr lang="en-SG" dirty="0" smtClean="0"/>
              <a:t> is built on UV</a:t>
            </a:r>
            <a:endParaRPr lang="en-SG" dirty="0"/>
          </a:p>
        </p:txBody>
      </p:sp>
    </p:spTree>
    <p:extLst>
      <p:ext uri="{BB962C8B-B14F-4D97-AF65-F5344CB8AC3E}">
        <p14:creationId xmlns="" xmlns:p14="http://schemas.microsoft.com/office/powerpoint/2010/main" val="34916951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B3D7ADA-595E-423D-A86D-6F06E6DECF43}"/>
              </a:ext>
            </a:extLst>
          </p:cNvPr>
          <p:cNvSpPr>
            <a:spLocks noGrp="1"/>
          </p:cNvSpPr>
          <p:nvPr>
            <p:ph type="title"/>
          </p:nvPr>
        </p:nvSpPr>
        <p:spPr/>
        <p:txBody>
          <a:bodyPr/>
          <a:lstStyle/>
          <a:p>
            <a:r>
              <a:rPr lang="en-US" dirty="0"/>
              <a:t>API cost</a:t>
            </a:r>
            <a:endParaRPr lang="en-SG" dirty="0"/>
          </a:p>
        </p:txBody>
      </p:sp>
      <p:sp>
        <p:nvSpPr>
          <p:cNvPr id="3" name="Content Placeholder 2">
            <a:extLst>
              <a:ext uri="{FF2B5EF4-FFF2-40B4-BE49-F238E27FC236}">
                <a16:creationId xmlns="" xmlns:a16="http://schemas.microsoft.com/office/drawing/2014/main" id="{781F4E2E-B83A-4464-915E-BEFF38D8A329}"/>
              </a:ext>
            </a:extLst>
          </p:cNvPr>
          <p:cNvSpPr>
            <a:spLocks noGrp="1"/>
          </p:cNvSpPr>
          <p:nvPr>
            <p:ph idx="1"/>
          </p:nvPr>
        </p:nvSpPr>
        <p:spPr/>
        <p:txBody>
          <a:bodyPr/>
          <a:lstStyle/>
          <a:p>
            <a:r>
              <a:rPr lang="en-US" dirty="0" err="1"/>
              <a:t>Deepseek</a:t>
            </a:r>
            <a:r>
              <a:rPr lang="en-US" dirty="0"/>
              <a:t> lower cost than </a:t>
            </a:r>
            <a:r>
              <a:rPr lang="en-US" dirty="0" err="1"/>
              <a:t>OpenAI</a:t>
            </a:r>
            <a:endParaRPr lang="en-US" dirty="0"/>
          </a:p>
          <a:p>
            <a:r>
              <a:rPr lang="en-US" dirty="0" err="1"/>
              <a:t>Ollama</a:t>
            </a:r>
            <a:r>
              <a:rPr lang="en-US" dirty="0"/>
              <a:t> for 0 cost but with trade-offs</a:t>
            </a:r>
          </a:p>
          <a:p>
            <a:r>
              <a:rPr lang="en-US" dirty="0"/>
              <a:t>For this course, &lt; $25.</a:t>
            </a:r>
          </a:p>
          <a:p>
            <a:r>
              <a:rPr lang="en-US" dirty="0"/>
              <a:t>Cost is actually quite low comparing the need to maintain the hardware.</a:t>
            </a:r>
            <a:endParaRPr lang="en-SG" dirty="0"/>
          </a:p>
        </p:txBody>
      </p:sp>
    </p:spTree>
    <p:extLst>
      <p:ext uri="{BB962C8B-B14F-4D97-AF65-F5344CB8AC3E}">
        <p14:creationId xmlns="" xmlns:p14="http://schemas.microsoft.com/office/powerpoint/2010/main" val="297442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6045983A-AE9C-4F80-BAD5-C87458E8EF08}"/>
              </a:ext>
            </a:extLst>
          </p:cNvPr>
          <p:cNvSpPr>
            <a:spLocks noGrp="1"/>
          </p:cNvSpPr>
          <p:nvPr>
            <p:ph type="title"/>
          </p:nvPr>
        </p:nvSpPr>
        <p:spPr/>
        <p:txBody>
          <a:bodyPr/>
          <a:lstStyle/>
          <a:p>
            <a:r>
              <a:rPr lang="en-US" dirty="0"/>
              <a:t>Ed Donner </a:t>
            </a:r>
            <a:r>
              <a:rPr lang="en-US" dirty="0" err="1"/>
              <a:t>github</a:t>
            </a:r>
            <a:endParaRPr lang="en-SG" dirty="0"/>
          </a:p>
        </p:txBody>
      </p:sp>
      <p:sp>
        <p:nvSpPr>
          <p:cNvPr id="3" name="Content Placeholder 2">
            <a:extLst>
              <a:ext uri="{FF2B5EF4-FFF2-40B4-BE49-F238E27FC236}">
                <a16:creationId xmlns="" xmlns:a16="http://schemas.microsoft.com/office/drawing/2014/main" id="{CCC6298C-5613-4B3B-B4DF-1038AEFB409D}"/>
              </a:ext>
            </a:extLst>
          </p:cNvPr>
          <p:cNvSpPr>
            <a:spLocks noGrp="1"/>
          </p:cNvSpPr>
          <p:nvPr>
            <p:ph idx="1"/>
          </p:nvPr>
        </p:nvSpPr>
        <p:spPr/>
        <p:txBody>
          <a:bodyPr/>
          <a:lstStyle/>
          <a:p>
            <a:r>
              <a:rPr lang="en-SG" dirty="0" smtClean="0"/>
              <a:t>MP Morgan</a:t>
            </a:r>
          </a:p>
          <a:p>
            <a:r>
              <a:rPr lang="en-SG" dirty="0" smtClean="0"/>
              <a:t>London -&gt; Tokyo -&gt; New York</a:t>
            </a:r>
          </a:p>
          <a:p>
            <a:r>
              <a:rPr lang="en-SG" dirty="0" smtClean="0"/>
              <a:t>Company Nebula</a:t>
            </a:r>
          </a:p>
          <a:p>
            <a:r>
              <a:rPr lang="en-SG" dirty="0" smtClean="0"/>
              <a:t>Company </a:t>
            </a:r>
            <a:r>
              <a:rPr lang="en-SG" dirty="0" err="1" smtClean="0"/>
              <a:t>nTech</a:t>
            </a:r>
            <a:r>
              <a:rPr lang="en-SG" dirty="0" smtClean="0"/>
              <a:t> acquired.</a:t>
            </a:r>
          </a:p>
          <a:p>
            <a:r>
              <a:rPr lang="en-SG" dirty="0" smtClean="0"/>
              <a:t>LLM Engineering Course</a:t>
            </a:r>
          </a:p>
          <a:p>
            <a:r>
              <a:rPr lang="en-SG" dirty="0" smtClean="0"/>
              <a:t>Connect </a:t>
            </a:r>
            <a:r>
              <a:rPr lang="en-SG" dirty="0"/>
              <a:t>via </a:t>
            </a:r>
            <a:r>
              <a:rPr lang="en-SG" dirty="0" err="1"/>
              <a:t>linkedin</a:t>
            </a:r>
            <a:endParaRPr lang="en-SG" dirty="0"/>
          </a:p>
          <a:p>
            <a:r>
              <a:rPr lang="en-SG" dirty="0"/>
              <a:t>https://github.com/ed-donner/agents</a:t>
            </a:r>
          </a:p>
        </p:txBody>
      </p:sp>
    </p:spTree>
    <p:extLst>
      <p:ext uri="{BB962C8B-B14F-4D97-AF65-F5344CB8AC3E}">
        <p14:creationId xmlns="" xmlns:p14="http://schemas.microsoft.com/office/powerpoint/2010/main" val="101163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961C0A3-BC63-465F-B6DD-DC8A661193A1}"/>
              </a:ext>
            </a:extLst>
          </p:cNvPr>
          <p:cNvSpPr>
            <a:spLocks noGrp="1"/>
          </p:cNvSpPr>
          <p:nvPr>
            <p:ph type="title"/>
          </p:nvPr>
        </p:nvSpPr>
        <p:spPr/>
        <p:txBody>
          <a:bodyPr/>
          <a:lstStyle/>
          <a:p>
            <a:r>
              <a:rPr lang="en-US" dirty="0"/>
              <a:t>Setup on Windows</a:t>
            </a:r>
            <a:endParaRPr lang="en-SG" dirty="0"/>
          </a:p>
        </p:txBody>
      </p:sp>
      <p:sp>
        <p:nvSpPr>
          <p:cNvPr id="3" name="Content Placeholder 2">
            <a:extLst>
              <a:ext uri="{FF2B5EF4-FFF2-40B4-BE49-F238E27FC236}">
                <a16:creationId xmlns="" xmlns:a16="http://schemas.microsoft.com/office/drawing/2014/main" id="{94779657-1A4C-475F-A0A0-2765B8EB38DE}"/>
              </a:ext>
            </a:extLst>
          </p:cNvPr>
          <p:cNvSpPr>
            <a:spLocks noGrp="1"/>
          </p:cNvSpPr>
          <p:nvPr>
            <p:ph idx="1"/>
          </p:nvPr>
        </p:nvSpPr>
        <p:spPr/>
        <p:txBody>
          <a:bodyPr>
            <a:normAutofit fontScale="70000" lnSpcReduction="20000"/>
          </a:bodyPr>
          <a:lstStyle/>
          <a:p>
            <a:r>
              <a:rPr lang="en-US" dirty="0" err="1" smtClean="0"/>
              <a:t>Gotchas</a:t>
            </a:r>
            <a:r>
              <a:rPr lang="en-US" dirty="0" smtClean="0"/>
              <a:t> for Windows</a:t>
            </a:r>
          </a:p>
          <a:p>
            <a:pPr lvl="1"/>
            <a:r>
              <a:rPr lang="en-US" dirty="0" smtClean="0"/>
              <a:t>Filename length limit</a:t>
            </a:r>
          </a:p>
          <a:p>
            <a:pPr lvl="1"/>
            <a:r>
              <a:rPr lang="en-SG" dirty="0" smtClean="0"/>
              <a:t>Antivirus</a:t>
            </a:r>
            <a:endParaRPr lang="en-US" dirty="0" smtClean="0"/>
          </a:p>
          <a:p>
            <a:r>
              <a:rPr lang="en-US" dirty="0" err="1" smtClean="0"/>
              <a:t>Git</a:t>
            </a:r>
            <a:r>
              <a:rPr lang="en-US" dirty="0" smtClean="0"/>
              <a:t> </a:t>
            </a:r>
            <a:r>
              <a:rPr lang="en-US" dirty="0"/>
              <a:t>clone repo</a:t>
            </a:r>
          </a:p>
          <a:p>
            <a:r>
              <a:rPr lang="en-US" dirty="0"/>
              <a:t>Install cursor (</a:t>
            </a:r>
            <a:r>
              <a:rPr lang="en-US" dirty="0">
                <a:hlinkClick r:id="rId2"/>
              </a:rPr>
              <a:t>https://cursor.com/download</a:t>
            </a:r>
            <a:r>
              <a:rPr lang="en-US" dirty="0"/>
              <a:t>)</a:t>
            </a:r>
          </a:p>
          <a:p>
            <a:r>
              <a:rPr lang="en-US" dirty="0" err="1"/>
              <a:t>Uv</a:t>
            </a:r>
            <a:r>
              <a:rPr lang="en-US" dirty="0"/>
              <a:t> package manager </a:t>
            </a:r>
            <a:r>
              <a:rPr lang="en-US" dirty="0">
                <a:hlinkClick r:id="rId3"/>
              </a:rPr>
              <a:t>(https://docs.astral.sh/uv</a:t>
            </a:r>
            <a:r>
              <a:rPr lang="en-US" dirty="0" smtClean="0">
                <a:hlinkClick r:id="rId3"/>
              </a:rPr>
              <a:t>/</a:t>
            </a:r>
            <a:r>
              <a:rPr lang="en-US" dirty="0" smtClean="0"/>
              <a:t>)</a:t>
            </a:r>
          </a:p>
          <a:p>
            <a:pPr lvl="1"/>
            <a:r>
              <a:rPr lang="en-SG" dirty="0" smtClean="0"/>
              <a:t>Astral company</a:t>
            </a:r>
          </a:p>
          <a:p>
            <a:pPr lvl="1"/>
            <a:r>
              <a:rPr lang="en-SG" dirty="0" err="1" smtClean="0"/>
              <a:t>uv</a:t>
            </a:r>
            <a:r>
              <a:rPr lang="en-SG" dirty="0" smtClean="0"/>
              <a:t> –version to check if install.</a:t>
            </a:r>
            <a:endParaRPr lang="en-US" dirty="0"/>
          </a:p>
          <a:p>
            <a:pPr lvl="1"/>
            <a:r>
              <a:rPr lang="en-US" dirty="0" err="1"/>
              <a:t>uv</a:t>
            </a:r>
            <a:r>
              <a:rPr lang="en-US" dirty="0"/>
              <a:t> sync in Cursor Terminal </a:t>
            </a:r>
            <a:r>
              <a:rPr lang="en-US" dirty="0" smtClean="0"/>
              <a:t>(fast. Take much less than an hour)</a:t>
            </a:r>
          </a:p>
          <a:p>
            <a:pPr lvl="2"/>
            <a:r>
              <a:rPr lang="en-SG" dirty="0" smtClean="0"/>
              <a:t>It creates an virtual </a:t>
            </a:r>
            <a:r>
              <a:rPr lang="en-SG" dirty="0" err="1" smtClean="0"/>
              <a:t>env</a:t>
            </a:r>
            <a:r>
              <a:rPr lang="en-SG" dirty="0" smtClean="0"/>
              <a:t> (.</a:t>
            </a:r>
            <a:r>
              <a:rPr lang="en-SG" dirty="0" err="1" smtClean="0"/>
              <a:t>venv</a:t>
            </a:r>
            <a:r>
              <a:rPr lang="en-SG" dirty="0" smtClean="0"/>
              <a:t>)</a:t>
            </a:r>
          </a:p>
          <a:p>
            <a:pPr lvl="2"/>
            <a:r>
              <a:rPr lang="en-SG" dirty="0" smtClean="0"/>
              <a:t>Use </a:t>
            </a:r>
            <a:r>
              <a:rPr lang="en-SG" dirty="0" err="1" smtClean="0"/>
              <a:t>uv</a:t>
            </a:r>
            <a:r>
              <a:rPr lang="en-SG" dirty="0" smtClean="0"/>
              <a:t> run instead of python run</a:t>
            </a:r>
            <a:endParaRPr lang="en-US" dirty="0"/>
          </a:p>
          <a:p>
            <a:r>
              <a:rPr lang="en-US" dirty="0"/>
              <a:t>Get API key in Open-AI or other </a:t>
            </a:r>
            <a:r>
              <a:rPr lang="en-US" dirty="0" smtClean="0"/>
              <a:t>alternative</a:t>
            </a:r>
          </a:p>
          <a:p>
            <a:pPr lvl="1"/>
            <a:r>
              <a:rPr lang="en-SG" dirty="0" smtClean="0"/>
              <a:t>Billing</a:t>
            </a:r>
          </a:p>
          <a:p>
            <a:pPr lvl="1"/>
            <a:r>
              <a:rPr lang="en-SG" dirty="0" smtClean="0"/>
              <a:t>Secret key</a:t>
            </a:r>
          </a:p>
          <a:p>
            <a:r>
              <a:rPr lang="en-SG" dirty="0" smtClean="0"/>
              <a:t>Create .</a:t>
            </a:r>
            <a:r>
              <a:rPr lang="en-SG" dirty="0" err="1" smtClean="0"/>
              <a:t>env</a:t>
            </a:r>
            <a:r>
              <a:rPr lang="en-SG" dirty="0" smtClean="0"/>
              <a:t> file to put in secret key</a:t>
            </a:r>
            <a:endParaRPr lang="en-SG" dirty="0"/>
          </a:p>
        </p:txBody>
      </p:sp>
    </p:spTree>
    <p:extLst>
      <p:ext uri="{BB962C8B-B14F-4D97-AF65-F5344CB8AC3E}">
        <p14:creationId xmlns="" xmlns:p14="http://schemas.microsoft.com/office/powerpoint/2010/main" val="4248033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Use </a:t>
            </a:r>
            <a:r>
              <a:rPr lang="en-SG" dirty="0" err="1" smtClean="0"/>
              <a:t>ollama</a:t>
            </a:r>
            <a:r>
              <a:rPr lang="en-SG" dirty="0" smtClean="0"/>
              <a:t> instead of </a:t>
            </a:r>
            <a:r>
              <a:rPr lang="en-SG" dirty="0" err="1" smtClean="0"/>
              <a:t>OpenAI</a:t>
            </a:r>
            <a:endParaRPr lang="en-US" dirty="0"/>
          </a:p>
        </p:txBody>
      </p:sp>
      <p:sp>
        <p:nvSpPr>
          <p:cNvPr id="3" name="Content Placeholder 2"/>
          <p:cNvSpPr>
            <a:spLocks noGrp="1"/>
          </p:cNvSpPr>
          <p:nvPr>
            <p:ph idx="1"/>
          </p:nvPr>
        </p:nvSpPr>
        <p:spPr/>
        <p:txBody>
          <a:bodyPr/>
          <a:lstStyle/>
          <a:p>
            <a:r>
              <a:rPr lang="en-SG" dirty="0" err="1" smtClean="0"/>
              <a:t>Ollama</a:t>
            </a:r>
            <a:r>
              <a:rPr lang="en-SG" dirty="0" smtClean="0"/>
              <a:t> –version: check if installed</a:t>
            </a:r>
          </a:p>
          <a:p>
            <a:r>
              <a:rPr lang="en-SG" dirty="0" err="1" smtClean="0"/>
              <a:t>Ollama</a:t>
            </a:r>
            <a:r>
              <a:rPr lang="en-SG" dirty="0" smtClean="0"/>
              <a:t> run llama3.2: download model to your computer</a:t>
            </a:r>
          </a:p>
          <a:p>
            <a:r>
              <a:rPr lang="en-SG" dirty="0" err="1" smtClean="0"/>
              <a:t>Ollama</a:t>
            </a:r>
            <a:r>
              <a:rPr lang="en-SG" dirty="0" smtClean="0"/>
              <a:t> </a:t>
            </a:r>
          </a:p>
          <a:p>
            <a:pPr lvl="1"/>
            <a:r>
              <a:rPr lang="en-SG" dirty="0" smtClean="0"/>
              <a:t>llama3.2: (2GB)</a:t>
            </a:r>
          </a:p>
          <a:p>
            <a:pPr lvl="2"/>
            <a:r>
              <a:rPr lang="en-SG" dirty="0" smtClean="0"/>
              <a:t>3B parameters</a:t>
            </a:r>
          </a:p>
          <a:p>
            <a:pPr lvl="1"/>
            <a:r>
              <a:rPr lang="en-SG" dirty="0" smtClean="0"/>
              <a:t>Llama3.2:1b (1.3GB)</a:t>
            </a:r>
          </a:p>
          <a:p>
            <a:pPr lvl="2"/>
            <a:r>
              <a:rPr lang="en-SG" dirty="0" smtClean="0"/>
              <a:t>1B parameters</a:t>
            </a:r>
          </a:p>
          <a:p>
            <a:r>
              <a:rPr lang="en-SG" dirty="0" smtClean="0"/>
              <a:t>Model=mistral (by Mistral AI)</a:t>
            </a:r>
          </a:p>
          <a:p>
            <a:pPr lvl="1"/>
            <a:r>
              <a:rPr lang="en-SG" dirty="0" smtClean="0"/>
              <a:t>Mistral (4.4GB)</a:t>
            </a:r>
          </a:p>
          <a:p>
            <a:pPr lvl="2"/>
            <a:r>
              <a:rPr lang="en-SG" dirty="0" smtClean="0"/>
              <a:t>7B parameters</a:t>
            </a:r>
          </a:p>
          <a:p>
            <a:endParaRPr lang="en-SG" dirty="0" smtClean="0"/>
          </a:p>
          <a:p>
            <a:pPr>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Cursor has issues opening </a:t>
            </a:r>
            <a:r>
              <a:rPr lang="en-SG" dirty="0" err="1" smtClean="0"/>
              <a:t>ipynb</a:t>
            </a:r>
            <a:r>
              <a:rPr lang="en-SG" dirty="0" smtClean="0"/>
              <a:t>, Terminal. Use VSC instead.</a:t>
            </a:r>
          </a:p>
          <a:p>
            <a:r>
              <a:rPr lang="en-SG" dirty="0" smtClean="0"/>
              <a:t>Install </a:t>
            </a:r>
            <a:r>
              <a:rPr lang="en-SG" dirty="0" err="1" smtClean="0"/>
              <a:t>Jupyter</a:t>
            </a:r>
            <a:r>
              <a:rPr lang="en-SG" dirty="0" smtClean="0"/>
              <a:t> extension for VSC for </a:t>
            </a:r>
            <a:r>
              <a:rPr lang="en-SG" dirty="0" err="1" smtClean="0"/>
              <a:t>ipynb</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9E2218F-540B-47C2-9786-8508B41A6C42}"/>
              </a:ext>
            </a:extLst>
          </p:cNvPr>
          <p:cNvSpPr>
            <a:spLocks noGrp="1"/>
          </p:cNvSpPr>
          <p:nvPr>
            <p:ph type="title"/>
          </p:nvPr>
        </p:nvSpPr>
        <p:spPr/>
        <p:txBody>
          <a:bodyPr/>
          <a:lstStyle/>
          <a:p>
            <a:r>
              <a:rPr lang="en-US" dirty="0"/>
              <a:t>Agentic AI framework</a:t>
            </a:r>
            <a:endParaRPr lang="en-SG" dirty="0"/>
          </a:p>
        </p:txBody>
      </p:sp>
      <p:graphicFrame>
        <p:nvGraphicFramePr>
          <p:cNvPr id="4" name="Content Placeholder 3">
            <a:extLst>
              <a:ext uri="{FF2B5EF4-FFF2-40B4-BE49-F238E27FC236}">
                <a16:creationId xmlns="" xmlns:a16="http://schemas.microsoft.com/office/drawing/2014/main" id="{FAD2DB17-1942-4E63-A5CC-02C3F178B165}"/>
              </a:ext>
            </a:extLst>
          </p:cNvPr>
          <p:cNvGraphicFramePr>
            <a:graphicFrameLocks noGrp="1"/>
          </p:cNvGraphicFramePr>
          <p:nvPr>
            <p:ph idx="1"/>
            <p:extLst>
              <p:ext uri="{D42A27DB-BD31-4B8C-83A1-F6EECF244321}">
                <p14:modId xmlns="" xmlns:p14="http://schemas.microsoft.com/office/powerpoint/2010/main" val="4023378947"/>
              </p:ext>
            </p:extLst>
          </p:nvPr>
        </p:nvGraphicFramePr>
        <p:xfrm>
          <a:off x="838200" y="1825625"/>
          <a:ext cx="10515600" cy="1752600"/>
        </p:xfrm>
        <a:graphic>
          <a:graphicData uri="http://schemas.openxmlformats.org/drawingml/2006/table">
            <a:tbl>
              <a:tblPr firstRow="1" bandRow="1">
                <a:tableStyleId>{5C22544A-7EE6-4342-B048-85BDC9FD1C3A}</a:tableStyleId>
              </a:tblPr>
              <a:tblGrid>
                <a:gridCol w="5257800">
                  <a:extLst>
                    <a:ext uri="{9D8B030D-6E8A-4147-A177-3AD203B41FA5}">
                      <a16:colId xmlns="" xmlns:a16="http://schemas.microsoft.com/office/drawing/2014/main" val="1942258773"/>
                    </a:ext>
                  </a:extLst>
                </a:gridCol>
                <a:gridCol w="5257800">
                  <a:extLst>
                    <a:ext uri="{9D8B030D-6E8A-4147-A177-3AD203B41FA5}">
                      <a16:colId xmlns="" xmlns:a16="http://schemas.microsoft.com/office/drawing/2014/main" val="904048141"/>
                    </a:ext>
                  </a:extLst>
                </a:gridCol>
              </a:tblGrid>
              <a:tr h="370840">
                <a:tc>
                  <a:txBody>
                    <a:bodyPr/>
                    <a:lstStyle/>
                    <a:p>
                      <a:endParaRPr lang="en-SG" dirty="0"/>
                    </a:p>
                  </a:txBody>
                  <a:tcPr/>
                </a:tc>
                <a:tc>
                  <a:txBody>
                    <a:bodyPr/>
                    <a:lstStyle/>
                    <a:p>
                      <a:endParaRPr lang="en-SG" dirty="0"/>
                    </a:p>
                  </a:txBody>
                  <a:tcPr/>
                </a:tc>
                <a:extLst>
                  <a:ext uri="{0D108BD9-81ED-4DB2-BD59-A6C34878D82A}">
                    <a16:rowId xmlns="" xmlns:a16="http://schemas.microsoft.com/office/drawing/2014/main" val="845308460"/>
                  </a:ext>
                </a:extLst>
              </a:tr>
              <a:tr h="370840">
                <a:tc>
                  <a:txBody>
                    <a:bodyPr/>
                    <a:lstStyle/>
                    <a:p>
                      <a:r>
                        <a:rPr lang="en-US" dirty="0"/>
                        <a:t>No </a:t>
                      </a:r>
                      <a:r>
                        <a:rPr lang="en-US" dirty="0" smtClean="0"/>
                        <a:t>framework (Week1)</a:t>
                      </a:r>
                      <a:endParaRPr lang="en-SG" dirty="0"/>
                    </a:p>
                  </a:txBody>
                  <a:tcPr/>
                </a:tc>
                <a:tc>
                  <a:txBody>
                    <a:bodyPr/>
                    <a:lstStyle/>
                    <a:p>
                      <a:r>
                        <a:rPr lang="en-US" dirty="0" err="1" smtClean="0"/>
                        <a:t>Anthropic</a:t>
                      </a:r>
                      <a:r>
                        <a:rPr lang="en-US" baseline="0" dirty="0" smtClean="0"/>
                        <a:t> </a:t>
                      </a:r>
                      <a:r>
                        <a:rPr lang="en-US" dirty="0" smtClean="0"/>
                        <a:t>MCP (Week6)</a:t>
                      </a:r>
                    </a:p>
                    <a:p>
                      <a:r>
                        <a:rPr lang="en-SG" dirty="0" err="1" smtClean="0"/>
                        <a:t>Opensource</a:t>
                      </a:r>
                      <a:r>
                        <a:rPr lang="en-SG" dirty="0" smtClean="0"/>
                        <a:t>. Standard interface</a:t>
                      </a:r>
                      <a:endParaRPr lang="en-SG" dirty="0"/>
                    </a:p>
                  </a:txBody>
                  <a:tcPr/>
                </a:tc>
                <a:extLst>
                  <a:ext uri="{0D108BD9-81ED-4DB2-BD59-A6C34878D82A}">
                    <a16:rowId xmlns="" xmlns:a16="http://schemas.microsoft.com/office/drawing/2014/main" val="862806687"/>
                  </a:ext>
                </a:extLst>
              </a:tr>
              <a:tr h="370840">
                <a:tc>
                  <a:txBody>
                    <a:bodyPr/>
                    <a:lstStyle/>
                    <a:p>
                      <a:r>
                        <a:rPr lang="en-US" dirty="0" err="1"/>
                        <a:t>OpenAI</a:t>
                      </a:r>
                      <a:r>
                        <a:rPr lang="en-US" dirty="0"/>
                        <a:t> Agents </a:t>
                      </a:r>
                      <a:r>
                        <a:rPr lang="en-US" dirty="0" smtClean="0"/>
                        <a:t>SDK (Week2)</a:t>
                      </a:r>
                      <a:endParaRPr lang="en-SG" dirty="0"/>
                    </a:p>
                  </a:txBody>
                  <a:tcPr/>
                </a:tc>
                <a:tc>
                  <a:txBody>
                    <a:bodyPr/>
                    <a:lstStyle/>
                    <a:p>
                      <a:r>
                        <a:rPr lang="en-US" dirty="0"/>
                        <a:t>Crew </a:t>
                      </a:r>
                      <a:r>
                        <a:rPr lang="en-US" dirty="0" smtClean="0"/>
                        <a:t>AI (Week3)</a:t>
                      </a:r>
                      <a:endParaRPr lang="en-SG" dirty="0"/>
                    </a:p>
                  </a:txBody>
                  <a:tcPr/>
                </a:tc>
                <a:extLst>
                  <a:ext uri="{0D108BD9-81ED-4DB2-BD59-A6C34878D82A}">
                    <a16:rowId xmlns="" xmlns:a16="http://schemas.microsoft.com/office/drawing/2014/main" val="1166041253"/>
                  </a:ext>
                </a:extLst>
              </a:tr>
              <a:tr h="370840">
                <a:tc>
                  <a:txBody>
                    <a:bodyPr/>
                    <a:lstStyle/>
                    <a:p>
                      <a:r>
                        <a:rPr lang="en-US" dirty="0" err="1" smtClean="0"/>
                        <a:t>LangGraph</a:t>
                      </a:r>
                      <a:r>
                        <a:rPr lang="en-US" dirty="0" smtClean="0"/>
                        <a:t> (Week4)</a:t>
                      </a:r>
                      <a:endParaRPr lang="en-SG" dirty="0"/>
                    </a:p>
                  </a:txBody>
                  <a:tcPr/>
                </a:tc>
                <a:tc>
                  <a:txBody>
                    <a:bodyPr/>
                    <a:lstStyle/>
                    <a:p>
                      <a:r>
                        <a:rPr lang="en-US" dirty="0" smtClean="0"/>
                        <a:t>MS </a:t>
                      </a:r>
                      <a:r>
                        <a:rPr lang="en-US" dirty="0" err="1" smtClean="0"/>
                        <a:t>AutoGen</a:t>
                      </a:r>
                      <a:r>
                        <a:rPr lang="en-US" dirty="0" smtClean="0"/>
                        <a:t> (Week5)</a:t>
                      </a:r>
                      <a:endParaRPr lang="en-SG" dirty="0"/>
                    </a:p>
                  </a:txBody>
                  <a:tcPr/>
                </a:tc>
                <a:extLst>
                  <a:ext uri="{0D108BD9-81ED-4DB2-BD59-A6C34878D82A}">
                    <a16:rowId xmlns="" xmlns:a16="http://schemas.microsoft.com/office/drawing/2014/main" val="1995986874"/>
                  </a:ext>
                </a:extLst>
              </a:tr>
            </a:tbl>
          </a:graphicData>
        </a:graphic>
      </p:graphicFrame>
    </p:spTree>
    <p:extLst>
      <p:ext uri="{BB962C8B-B14F-4D97-AF65-F5344CB8AC3E}">
        <p14:creationId xmlns="" xmlns:p14="http://schemas.microsoft.com/office/powerpoint/2010/main" val="38196354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3F2270C-C64A-4468-8C76-CD7C162A3E4D}"/>
              </a:ext>
            </a:extLst>
          </p:cNvPr>
          <p:cNvSpPr>
            <a:spLocks noGrp="1"/>
          </p:cNvSpPr>
          <p:nvPr>
            <p:ph type="title"/>
          </p:nvPr>
        </p:nvSpPr>
        <p:spPr/>
        <p:txBody>
          <a:bodyPr/>
          <a:lstStyle/>
          <a:p>
            <a:endParaRPr lang="en-SG" dirty="0"/>
          </a:p>
        </p:txBody>
      </p:sp>
      <p:sp>
        <p:nvSpPr>
          <p:cNvPr id="3" name="Content Placeholder 2">
            <a:extLst>
              <a:ext uri="{FF2B5EF4-FFF2-40B4-BE49-F238E27FC236}">
                <a16:creationId xmlns="" xmlns:a16="http://schemas.microsoft.com/office/drawing/2014/main" id="{56F7D9D1-F7C9-431A-9F2F-D27874872FC3}"/>
              </a:ext>
            </a:extLst>
          </p:cNvPr>
          <p:cNvSpPr>
            <a:spLocks noGrp="1"/>
          </p:cNvSpPr>
          <p:nvPr>
            <p:ph idx="1"/>
          </p:nvPr>
        </p:nvSpPr>
        <p:spPr/>
        <p:txBody>
          <a:bodyPr/>
          <a:lstStyle/>
          <a:p>
            <a:r>
              <a:rPr lang="en-US" dirty="0"/>
              <a:t>Tools is just json</a:t>
            </a:r>
          </a:p>
          <a:p>
            <a:r>
              <a:rPr lang="en-US" dirty="0"/>
              <a:t>Use for loop and if statements to handle different tools</a:t>
            </a:r>
            <a:endParaRPr lang="en-SG" dirty="0"/>
          </a:p>
        </p:txBody>
      </p:sp>
    </p:spTree>
    <p:extLst>
      <p:ext uri="{BB962C8B-B14F-4D97-AF65-F5344CB8AC3E}">
        <p14:creationId xmlns="" xmlns:p14="http://schemas.microsoft.com/office/powerpoint/2010/main" val="345905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AutoGen</a:t>
            </a:r>
            <a:r>
              <a:rPr lang="en-SG" dirty="0" smtClean="0"/>
              <a:t> (AG)</a:t>
            </a:r>
            <a:endParaRPr lang="en-US" dirty="0"/>
          </a:p>
        </p:txBody>
      </p:sp>
      <p:sp>
        <p:nvSpPr>
          <p:cNvPr id="3" name="Content Placeholder 2"/>
          <p:cNvSpPr>
            <a:spLocks noGrp="1"/>
          </p:cNvSpPr>
          <p:nvPr>
            <p:ph idx="1"/>
          </p:nvPr>
        </p:nvSpPr>
        <p:spPr/>
        <p:txBody>
          <a:bodyPr/>
          <a:lstStyle/>
          <a:p>
            <a:r>
              <a:rPr lang="en-SG" dirty="0" smtClean="0"/>
              <a:t>From Microsoft</a:t>
            </a:r>
          </a:p>
          <a:p>
            <a:r>
              <a:rPr lang="en-SG" dirty="0" smtClean="0"/>
              <a:t>Solve issue with </a:t>
            </a:r>
            <a:r>
              <a:rPr lang="en-SG" dirty="0" err="1" smtClean="0"/>
              <a:t>observability</a:t>
            </a:r>
            <a:r>
              <a:rPr lang="en-SG" dirty="0" smtClean="0"/>
              <a:t> (do u know what is going on)</a:t>
            </a:r>
          </a:p>
          <a:p>
            <a:r>
              <a:rPr lang="en-SG" dirty="0" smtClean="0"/>
              <a:t>Version: 0.2 -&gt; 0.4 (Jan2025) -&gt; 0.5.1</a:t>
            </a:r>
          </a:p>
          <a:p>
            <a:r>
              <a:rPr lang="en-SG" dirty="0" smtClean="0"/>
              <a:t>Drama:</a:t>
            </a:r>
          </a:p>
          <a:p>
            <a:pPr lvl="1"/>
            <a:r>
              <a:rPr lang="en-SG" dirty="0" smtClean="0"/>
              <a:t>MS engineer left and join Google.</a:t>
            </a:r>
          </a:p>
          <a:p>
            <a:pPr lvl="1"/>
            <a:r>
              <a:rPr lang="en-SG" dirty="0" smtClean="0"/>
              <a:t>Create AG2 (</a:t>
            </a:r>
            <a:r>
              <a:rPr lang="en-SG" dirty="0" err="1" smtClean="0"/>
              <a:t>AgentOS</a:t>
            </a:r>
            <a:r>
              <a:rPr lang="en-SG" dirty="0" smtClean="0"/>
              <a:t> 2 compatible with </a:t>
            </a:r>
            <a:r>
              <a:rPr lang="en-SG" dirty="0" err="1" smtClean="0"/>
              <a:t>AutoGen</a:t>
            </a:r>
            <a:r>
              <a:rPr lang="en-SG" dirty="0" smtClean="0"/>
              <a:t> 0.2)</a:t>
            </a:r>
          </a:p>
          <a:p>
            <a:pPr lvl="1"/>
            <a:r>
              <a:rPr lang="en-SG" dirty="0" smtClean="0"/>
              <a:t>Discord, many forum, pip install </a:t>
            </a:r>
            <a:r>
              <a:rPr lang="en-SG" dirty="0" err="1" smtClean="0"/>
              <a:t>autogen</a:t>
            </a:r>
            <a:r>
              <a:rPr lang="en-SG" dirty="0" smtClean="0"/>
              <a:t> is AG2</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AutoGen</a:t>
            </a:r>
            <a:r>
              <a:rPr lang="en-SG" dirty="0" smtClean="0"/>
              <a:t> Core (runtime) -&gt; focus on these 2</a:t>
            </a:r>
          </a:p>
          <a:p>
            <a:r>
              <a:rPr lang="en-SG" dirty="0" err="1" smtClean="0"/>
              <a:t>AutoGen</a:t>
            </a:r>
            <a:r>
              <a:rPr lang="en-SG" dirty="0" smtClean="0"/>
              <a:t> </a:t>
            </a:r>
            <a:r>
              <a:rPr lang="en-SG" dirty="0" err="1" smtClean="0"/>
              <a:t>AgentChat</a:t>
            </a:r>
            <a:r>
              <a:rPr lang="en-SG" dirty="0" smtClean="0"/>
              <a:t> (lightweight) -&gt; focus on this more</a:t>
            </a:r>
          </a:p>
          <a:p>
            <a:r>
              <a:rPr lang="en-SG" dirty="0" smtClean="0"/>
              <a:t>Studio (research, </a:t>
            </a:r>
            <a:r>
              <a:rPr lang="en-SG" dirty="0" err="1" smtClean="0"/>
              <a:t>opensource</a:t>
            </a:r>
            <a:r>
              <a:rPr lang="en-SG" dirty="0" smtClean="0"/>
              <a:t> contribution)</a:t>
            </a:r>
          </a:p>
          <a:p>
            <a:r>
              <a:rPr lang="en-SG" dirty="0" err="1" smtClean="0"/>
              <a:t>Magentic</a:t>
            </a:r>
            <a:r>
              <a:rPr lang="en-SG" dirty="0" smtClean="0"/>
              <a:t> One CLI</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Models: LLM</a:t>
            </a:r>
          </a:p>
          <a:p>
            <a:r>
              <a:rPr lang="en-SG" dirty="0" smtClean="0"/>
              <a:t>Messages: events, </a:t>
            </a:r>
            <a:r>
              <a:rPr lang="en-SG" dirty="0" err="1" smtClean="0"/>
              <a:t>msg</a:t>
            </a:r>
            <a:r>
              <a:rPr lang="en-SG" dirty="0" smtClean="0"/>
              <a:t> bet LLM</a:t>
            </a:r>
          </a:p>
          <a:p>
            <a:r>
              <a:rPr lang="en-SG" dirty="0" smtClean="0"/>
              <a:t>Agents: carry out task</a:t>
            </a:r>
          </a:p>
          <a:p>
            <a:r>
              <a:rPr lang="en-SG" dirty="0" smtClean="0"/>
              <a:t>Teams: group of agent</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Model Control Protocol (MCP)</a:t>
            </a:r>
            <a:endParaRPr lang="en-US" dirty="0"/>
          </a:p>
        </p:txBody>
      </p:sp>
      <p:sp>
        <p:nvSpPr>
          <p:cNvPr id="3" name="Content Placeholder 2"/>
          <p:cNvSpPr>
            <a:spLocks noGrp="1"/>
          </p:cNvSpPr>
          <p:nvPr>
            <p:ph idx="1"/>
          </p:nvPr>
        </p:nvSpPr>
        <p:spPr/>
        <p:txBody>
          <a:bodyPr/>
          <a:lstStyle/>
          <a:p>
            <a:r>
              <a:rPr lang="en-SG" dirty="0" smtClean="0"/>
              <a:t>From </a:t>
            </a:r>
            <a:r>
              <a:rPr lang="en-SG" dirty="0" err="1" smtClean="0"/>
              <a:t>Anthropic</a:t>
            </a:r>
            <a:endParaRPr lang="en-SG" dirty="0" smtClean="0"/>
          </a:p>
          <a:p>
            <a:r>
              <a:rPr lang="en-SG" dirty="0" smtClean="0"/>
              <a:t>Agreement instead of code.</a:t>
            </a:r>
          </a:p>
          <a:p>
            <a:r>
              <a:rPr lang="en-SG" dirty="0" smtClean="0"/>
              <a:t>Similar in concept to </a:t>
            </a:r>
            <a:r>
              <a:rPr lang="en-SG" smtClean="0"/>
              <a:t>LangChain</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Trying to use VSC instead of Cursor (more AI integration, but may be buggy).</a:t>
            </a:r>
          </a:p>
          <a:p>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1_lab1</a:t>
            </a:r>
            <a:endParaRPr lang="en-US" dirty="0"/>
          </a:p>
        </p:txBody>
      </p:sp>
      <p:sp>
        <p:nvSpPr>
          <p:cNvPr id="3" name="Content Placeholder 2"/>
          <p:cNvSpPr>
            <a:spLocks noGrp="1"/>
          </p:cNvSpPr>
          <p:nvPr>
            <p:ph idx="1"/>
          </p:nvPr>
        </p:nvSpPr>
        <p:spPr/>
        <p:txBody>
          <a:bodyPr/>
          <a:lstStyle/>
          <a:p>
            <a:r>
              <a:rPr lang="en-US" dirty="0" err="1" smtClean="0"/>
              <a:t>load_dotenv</a:t>
            </a:r>
            <a:r>
              <a:rPr lang="en-US" dirty="0" smtClean="0"/>
              <a:t>(override=True): load .</a:t>
            </a:r>
            <a:r>
              <a:rPr lang="en-US" dirty="0" err="1" smtClean="0"/>
              <a:t>env</a:t>
            </a:r>
            <a:r>
              <a:rPr lang="en-US" dirty="0" smtClean="0"/>
              <a:t> which has the </a:t>
            </a:r>
            <a:r>
              <a:rPr lang="en-US" dirty="0" err="1" smtClean="0"/>
              <a:t>api_key</a:t>
            </a:r>
            <a:endParaRPr lang="en-US" dirty="0" smtClean="0"/>
          </a:p>
          <a:p>
            <a:r>
              <a:rPr lang="en-SG" dirty="0" err="1" smtClean="0"/>
              <a:t>OpenAI</a:t>
            </a:r>
            <a:r>
              <a:rPr lang="en-SG" dirty="0" smtClean="0"/>
              <a:t>() is a generic function provided by </a:t>
            </a:r>
            <a:r>
              <a:rPr lang="en-SG" dirty="0" err="1" smtClean="0"/>
              <a:t>OpenAI</a:t>
            </a:r>
            <a:r>
              <a:rPr lang="en-SG" dirty="0" smtClean="0"/>
              <a:t>. Can use it to call other AI platform like </a:t>
            </a:r>
            <a:r>
              <a:rPr lang="en-SG" dirty="0" err="1" smtClean="0"/>
              <a:t>ollama</a:t>
            </a:r>
            <a:r>
              <a:rPr lang="en-SG" dirty="0" smtClean="0"/>
              <a:t>.</a:t>
            </a:r>
          </a:p>
          <a:p>
            <a:r>
              <a:rPr lang="en-SG" dirty="0" smtClean="0"/>
              <a:t>Messages is a list of </a:t>
            </a:r>
            <a:r>
              <a:rPr lang="en-SG" dirty="0" err="1" smtClean="0"/>
              <a:t>dict</a:t>
            </a:r>
            <a:r>
              <a:rPr lang="en-SG" dirty="0" smtClean="0"/>
              <a:t> with role (user) and content (question)</a:t>
            </a:r>
            <a:endParaRPr lang="en-US" dirty="0" smtClean="0"/>
          </a:p>
          <a:p>
            <a:r>
              <a:rPr lang="en-SG" dirty="0" smtClean="0"/>
              <a:t>Display(Markdown()) to display nicely.</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6 week course</a:t>
            </a:r>
            <a:endParaRPr lang="en-US" dirty="0"/>
          </a:p>
        </p:txBody>
      </p:sp>
      <p:pic>
        <p:nvPicPr>
          <p:cNvPr id="1026" name="Picture 2" descr="C:\Users\kinda\Downloads\learncsc.udemy.com_course_the-complete-agentic-ai-engineering-course_learn_lecture_49770895.png"/>
          <p:cNvPicPr>
            <a:picLocks noGrp="1" noChangeAspect="1" noChangeArrowheads="1"/>
          </p:cNvPicPr>
          <p:nvPr>
            <p:ph idx="1"/>
          </p:nvPr>
        </p:nvPicPr>
        <p:blipFill>
          <a:blip r:embed="rId2"/>
          <a:srcRect/>
          <a:stretch>
            <a:fillRect/>
          </a:stretch>
        </p:blipFill>
        <p:spPr bwMode="auto">
          <a:xfrm>
            <a:off x="2673087" y="1825625"/>
            <a:ext cx="6845825" cy="4351338"/>
          </a:xfrm>
          <a:prstGeom prst="rect">
            <a:avLst/>
          </a:prstGeom>
          <a:noFill/>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What is Agents</a:t>
            </a:r>
            <a:endParaRPr lang="en-US" dirty="0"/>
          </a:p>
        </p:txBody>
      </p:sp>
      <p:sp>
        <p:nvSpPr>
          <p:cNvPr id="3" name="Content Placeholder 2"/>
          <p:cNvSpPr>
            <a:spLocks noGrp="1"/>
          </p:cNvSpPr>
          <p:nvPr>
            <p:ph idx="1"/>
          </p:nvPr>
        </p:nvSpPr>
        <p:spPr/>
        <p:txBody>
          <a:bodyPr/>
          <a:lstStyle/>
          <a:p>
            <a:r>
              <a:rPr lang="en-SG" dirty="0" smtClean="0"/>
              <a:t>AI Agents are programs where LLM outputs control the workflow.</a:t>
            </a:r>
          </a:p>
          <a:p>
            <a:r>
              <a:rPr lang="en-SG" dirty="0" err="1" smtClean="0"/>
              <a:t>Anthropic</a:t>
            </a:r>
            <a:r>
              <a:rPr lang="en-SG" dirty="0" smtClean="0"/>
              <a:t>:</a:t>
            </a:r>
          </a:p>
          <a:p>
            <a:pPr lvl="1"/>
            <a:r>
              <a:rPr lang="en-SG" dirty="0" smtClean="0"/>
              <a:t>Workflows</a:t>
            </a:r>
          </a:p>
          <a:p>
            <a:pPr lvl="1"/>
            <a:r>
              <a:rPr lang="en-SG" dirty="0" smtClean="0"/>
              <a:t>Agents</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Workflow</a:t>
            </a:r>
            <a:endParaRPr lang="en-US" dirty="0"/>
          </a:p>
        </p:txBody>
      </p:sp>
      <p:sp>
        <p:nvSpPr>
          <p:cNvPr id="3" name="Content Placeholder 2"/>
          <p:cNvSpPr>
            <a:spLocks noGrp="1"/>
          </p:cNvSpPr>
          <p:nvPr>
            <p:ph idx="1"/>
          </p:nvPr>
        </p:nvSpPr>
        <p:spPr/>
        <p:txBody>
          <a:bodyPr/>
          <a:lstStyle/>
          <a:p>
            <a:r>
              <a:rPr lang="en-SG" dirty="0" smtClean="0"/>
              <a:t>Prompt chaining</a:t>
            </a:r>
          </a:p>
          <a:p>
            <a:pPr lvl="1"/>
            <a:r>
              <a:rPr lang="en-SG" dirty="0" smtClean="0"/>
              <a:t>Work on each task very specific and very well.</a:t>
            </a:r>
          </a:p>
          <a:p>
            <a:r>
              <a:rPr lang="en-SG" dirty="0" smtClean="0"/>
              <a:t>Routing</a:t>
            </a:r>
          </a:p>
          <a:p>
            <a:r>
              <a:rPr lang="en-SG" dirty="0" smtClean="0"/>
              <a:t>Parallelization</a:t>
            </a:r>
          </a:p>
          <a:p>
            <a:r>
              <a:rPr lang="en-SG" dirty="0" smtClean="0"/>
              <a:t>Orchestrator-worker</a:t>
            </a:r>
          </a:p>
          <a:p>
            <a:r>
              <a:rPr lang="en-SG" dirty="0" smtClean="0"/>
              <a:t>Evaluator-optimizer</a:t>
            </a:r>
          </a:p>
          <a:p>
            <a:endParaRPr lang="en-SG" dirty="0" smtClean="0"/>
          </a:p>
          <a:p>
            <a:r>
              <a:rPr lang="en-SG" dirty="0" smtClean="0"/>
              <a:t>NB: Blue is our code, Yellow is LLM model</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Agents </a:t>
            </a:r>
            <a:r>
              <a:rPr lang="en-SG" dirty="0" err="1" smtClean="0"/>
              <a:t>vs</a:t>
            </a:r>
            <a:r>
              <a:rPr lang="en-SG" dirty="0" smtClean="0"/>
              <a:t> workflow</a:t>
            </a:r>
            <a:endParaRPr lang="en-US" dirty="0"/>
          </a:p>
        </p:txBody>
      </p:sp>
      <p:sp>
        <p:nvSpPr>
          <p:cNvPr id="3" name="Content Placeholder 2"/>
          <p:cNvSpPr>
            <a:spLocks noGrp="1"/>
          </p:cNvSpPr>
          <p:nvPr>
            <p:ph idx="1"/>
          </p:nvPr>
        </p:nvSpPr>
        <p:spPr/>
        <p:txBody>
          <a:bodyPr/>
          <a:lstStyle/>
          <a:p>
            <a:r>
              <a:rPr lang="en-SG" dirty="0" smtClean="0"/>
              <a:t>Agents is more flexible, more loose, more uncertainty, to solve more complex problem</a:t>
            </a:r>
          </a:p>
          <a:p>
            <a:pPr lvl="1"/>
            <a:r>
              <a:rPr lang="en-SG" dirty="0" smtClean="0"/>
              <a:t>How long it will take</a:t>
            </a:r>
          </a:p>
          <a:p>
            <a:pPr lvl="1"/>
            <a:r>
              <a:rPr lang="en-SG" dirty="0" smtClean="0"/>
              <a:t>How much it will cost in term of API call</a:t>
            </a:r>
          </a:p>
          <a:p>
            <a:pPr lvl="1"/>
            <a:r>
              <a:rPr lang="en-SG" dirty="0" smtClean="0"/>
              <a:t>Quality of output</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Lesson 11</a:t>
            </a:r>
            <a:endParaRPr lang="en-US" dirty="0"/>
          </a:p>
        </p:txBody>
      </p:sp>
      <p:sp>
        <p:nvSpPr>
          <p:cNvPr id="3" name="Content Placeholder 2"/>
          <p:cNvSpPr>
            <a:spLocks noGrp="1"/>
          </p:cNvSpPr>
          <p:nvPr>
            <p:ph idx="1"/>
          </p:nvPr>
        </p:nvSpPr>
        <p:spPr/>
        <p:txBody>
          <a:bodyPr/>
          <a:lstStyle/>
          <a:p>
            <a:r>
              <a:rPr lang="en-SG" dirty="0" err="1" smtClean="0"/>
              <a:t>Grok</a:t>
            </a:r>
            <a:r>
              <a:rPr lang="en-SG" dirty="0" smtClean="0"/>
              <a:t>: from X</a:t>
            </a:r>
          </a:p>
          <a:p>
            <a:r>
              <a:rPr lang="en-SG" dirty="0" err="1" smtClean="0"/>
              <a:t>Deepseek</a:t>
            </a:r>
            <a:r>
              <a:rPr lang="en-SG" dirty="0" smtClean="0"/>
              <a:t>: use 30% resources than other with similar results. Innovation. Not necessarily the best results.</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Vellum </a:t>
            </a:r>
            <a:r>
              <a:rPr lang="en-SG" dirty="0" err="1" smtClean="0"/>
              <a:t>leaderboard</a:t>
            </a:r>
            <a:endParaRPr lang="en-US" dirty="0"/>
          </a:p>
        </p:txBody>
      </p:sp>
      <p:sp>
        <p:nvSpPr>
          <p:cNvPr id="3" name="Content Placeholder 2"/>
          <p:cNvSpPr>
            <a:spLocks noGrp="1"/>
          </p:cNvSpPr>
          <p:nvPr>
            <p:ph idx="1"/>
          </p:nvPr>
        </p:nvSpPr>
        <p:spPr/>
        <p:txBody>
          <a:bodyPr/>
          <a:lstStyle/>
          <a:p>
            <a:r>
              <a:rPr lang="en-US" dirty="0" smtClean="0"/>
              <a:t>https://www.vellum.ai/llm-leaderboard</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Set up API key from vendor</a:t>
            </a:r>
            <a:endParaRPr lang="en-US" dirty="0"/>
          </a:p>
        </p:txBody>
      </p:sp>
      <p:sp>
        <p:nvSpPr>
          <p:cNvPr id="3" name="Content Placeholder 2"/>
          <p:cNvSpPr>
            <a:spLocks noGrp="1"/>
          </p:cNvSpPr>
          <p:nvPr>
            <p:ph idx="1"/>
          </p:nvPr>
        </p:nvSpPr>
        <p:spPr/>
        <p:txBody>
          <a:bodyPr/>
          <a:lstStyle/>
          <a:p>
            <a:r>
              <a:rPr lang="en-SG" dirty="0" smtClean="0"/>
              <a:t>Google: Google AI Studio: </a:t>
            </a:r>
            <a:r>
              <a:rPr lang="en-SG" dirty="0" smtClean="0">
                <a:hlinkClick r:id="rId2"/>
              </a:rPr>
              <a:t>https://aistudio.google.com/api-keys?project=test-441309</a:t>
            </a:r>
            <a:endParaRPr lang="en-SG" dirty="0" smtClean="0"/>
          </a:p>
          <a:p>
            <a:r>
              <a:rPr lang="en-SG" dirty="0" err="1" smtClean="0"/>
              <a:t>Anthropic</a:t>
            </a:r>
            <a:r>
              <a:rPr lang="en-SG" dirty="0" smtClean="0"/>
              <a:t>: Claude Console: https://platform.claude.com/dashboard</a:t>
            </a:r>
          </a:p>
          <a:p>
            <a:r>
              <a:rPr lang="en-SG" dirty="0" err="1" smtClean="0"/>
              <a:t>Deepseek</a:t>
            </a:r>
            <a:r>
              <a:rPr lang="en-SG" dirty="0" smtClean="0"/>
              <a:t>: </a:t>
            </a:r>
            <a:r>
              <a:rPr lang="en-SG" dirty="0" err="1" smtClean="0"/>
              <a:t>Deepseek</a:t>
            </a:r>
            <a:r>
              <a:rPr lang="en-SG" dirty="0" smtClean="0"/>
              <a:t> Platform: </a:t>
            </a:r>
            <a:r>
              <a:rPr lang="en-SG" dirty="0" smtClean="0">
                <a:hlinkClick r:id="rId3"/>
              </a:rPr>
              <a:t>https://platform.deepseek.com/api_keys</a:t>
            </a:r>
            <a:endParaRPr lang="en-SG" dirty="0" smtClean="0"/>
          </a:p>
          <a:p>
            <a:r>
              <a:rPr lang="en-SG" dirty="0" err="1" smtClean="0"/>
              <a:t>Groq</a:t>
            </a:r>
            <a:r>
              <a:rPr lang="en-SG" dirty="0" smtClean="0"/>
              <a:t>: </a:t>
            </a:r>
            <a:r>
              <a:rPr lang="en-SG" dirty="0" err="1" smtClean="0"/>
              <a:t>Groq</a:t>
            </a:r>
            <a:r>
              <a:rPr lang="en-SG" dirty="0" smtClean="0"/>
              <a:t> Cloud: https://console.groq.com/dashboard/metrics</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Where to use role=system </a:t>
            </a:r>
            <a:r>
              <a:rPr lang="en-SG" dirty="0" err="1" smtClean="0"/>
              <a:t>vs</a:t>
            </a:r>
            <a:r>
              <a:rPr lang="en-SG" dirty="0" smtClean="0"/>
              <a:t> user</a:t>
            </a:r>
            <a:endParaRPr lang="en-US" dirty="0"/>
          </a:p>
        </p:txBody>
      </p:sp>
      <p:sp>
        <p:nvSpPr>
          <p:cNvPr id="3" name="Content Placeholder 2"/>
          <p:cNvSpPr>
            <a:spLocks noGrp="1"/>
          </p:cNvSpPr>
          <p:nvPr>
            <p:ph idx="1"/>
          </p:nvPr>
        </p:nvSpPr>
        <p:spPr/>
        <p:txBody>
          <a:bodyPr/>
          <a:lstStyle/>
          <a:p>
            <a:r>
              <a:rPr lang="en-SG" dirty="0" smtClean="0"/>
              <a:t>Use system to define the rules of the game </a:t>
            </a:r>
            <a:r>
              <a:rPr lang="en-US" dirty="0" smtClean="0"/>
              <a:t>define </a:t>
            </a:r>
            <a:r>
              <a:rPr lang="en-US" b="1" dirty="0" smtClean="0"/>
              <a:t>how the model should behave overall</a:t>
            </a:r>
            <a:r>
              <a:rPr lang="en-US" dirty="0" smtClean="0"/>
              <a:t>. Set overall context.</a:t>
            </a:r>
          </a:p>
          <a:p>
            <a:r>
              <a:rPr lang="en-SG" dirty="0" smtClean="0"/>
              <a:t>Use user for </a:t>
            </a:r>
            <a:r>
              <a:rPr lang="en-US" dirty="0" smtClean="0"/>
              <a:t>This is what the human asks.</a:t>
            </a:r>
          </a:p>
          <a:p>
            <a:r>
              <a:rPr lang="en-SG" dirty="0" smtClean="0"/>
              <a:t>Set constraints for system such as Do not give an explanation; reply with the selected email only.</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Claude did not use </a:t>
            </a:r>
            <a:r>
              <a:rPr lang="en-SG" dirty="0" err="1" smtClean="0"/>
              <a:t>OpenAI</a:t>
            </a:r>
            <a:r>
              <a:rPr lang="en-SG" dirty="0" smtClean="0"/>
              <a:t>() call</a:t>
            </a:r>
          </a:p>
          <a:p>
            <a:r>
              <a:rPr lang="en-SG" dirty="0" err="1" smtClean="0"/>
              <a:t>OpenAI</a:t>
            </a:r>
            <a:r>
              <a:rPr lang="en-SG" dirty="0" smtClean="0"/>
              <a:t>() is a lightweight library wrapper that issues http call.</a:t>
            </a:r>
          </a:p>
          <a:p>
            <a:r>
              <a:rPr lang="en-SG" dirty="0" smtClean="0"/>
              <a:t>Other vendor just need to switch endpoint (</a:t>
            </a:r>
            <a:r>
              <a:rPr lang="en-SG" dirty="0" err="1" smtClean="0"/>
              <a:t>base_url</a:t>
            </a:r>
            <a:r>
              <a:rPr lang="en-SG" dirty="0" smtClean="0"/>
              <a:t>=)</a:t>
            </a:r>
          </a:p>
          <a:p>
            <a:r>
              <a:rPr lang="en-SG" dirty="0" smtClean="0"/>
              <a:t>Ollama3.3 is too large for home computer (70B)</a:t>
            </a:r>
          </a:p>
          <a:p>
            <a:r>
              <a:rPr lang="en-SG" dirty="0" smtClean="0"/>
              <a:t>Ollama3.2 gives an incomplete answer.</a:t>
            </a:r>
          </a:p>
          <a:p>
            <a:r>
              <a:rPr lang="en-SG" dirty="0" smtClean="0"/>
              <a:t>F””” for multiple lines.</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Agentic</a:t>
            </a:r>
            <a:r>
              <a:rPr lang="en-SG" dirty="0" smtClean="0"/>
              <a:t> AI </a:t>
            </a:r>
            <a:r>
              <a:rPr lang="en-SG" dirty="0" err="1" smtClean="0"/>
              <a:t>fw</a:t>
            </a:r>
            <a:endParaRPr lang="en-US" dirty="0"/>
          </a:p>
        </p:txBody>
      </p:sp>
      <p:sp>
        <p:nvSpPr>
          <p:cNvPr id="3" name="Content Placeholder 2"/>
          <p:cNvSpPr>
            <a:spLocks noGrp="1"/>
          </p:cNvSpPr>
          <p:nvPr>
            <p:ph idx="1"/>
          </p:nvPr>
        </p:nvSpPr>
        <p:spPr/>
        <p:txBody>
          <a:bodyPr/>
          <a:lstStyle/>
          <a:p>
            <a:r>
              <a:rPr lang="en-SG" dirty="0" err="1" smtClean="0"/>
              <a:t>Langgraph</a:t>
            </a:r>
            <a:r>
              <a:rPr lang="en-SG" dirty="0" smtClean="0"/>
              <a:t> and </a:t>
            </a:r>
            <a:r>
              <a:rPr lang="en-SG" dirty="0" err="1" smtClean="0"/>
              <a:t>autogen</a:t>
            </a:r>
            <a:r>
              <a:rPr lang="en-SG" dirty="0" smtClean="0"/>
              <a:t> is more heavyweight. Steeper learning curve</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resources</a:t>
            </a:r>
            <a:endParaRPr lang="en-US" dirty="0"/>
          </a:p>
        </p:txBody>
      </p:sp>
      <p:sp>
        <p:nvSpPr>
          <p:cNvPr id="3" name="Content Placeholder 2"/>
          <p:cNvSpPr>
            <a:spLocks noGrp="1"/>
          </p:cNvSpPr>
          <p:nvPr>
            <p:ph idx="1"/>
          </p:nvPr>
        </p:nvSpPr>
        <p:spPr/>
        <p:txBody>
          <a:bodyPr/>
          <a:lstStyle/>
          <a:p>
            <a:r>
              <a:rPr lang="en-SG" dirty="0" smtClean="0"/>
              <a:t>Extra data</a:t>
            </a:r>
          </a:p>
          <a:p>
            <a:r>
              <a:rPr lang="en-SG" dirty="0" smtClean="0"/>
              <a:t>Technique like RAG (LLM course)</a:t>
            </a:r>
          </a:p>
          <a:p>
            <a:pPr>
              <a:buNone/>
            </a:pP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tool</a:t>
            </a:r>
            <a:endParaRPr lang="en-US" dirty="0"/>
          </a:p>
        </p:txBody>
      </p:sp>
      <p:sp>
        <p:nvSpPr>
          <p:cNvPr id="3" name="Content Placeholder 2"/>
          <p:cNvSpPr>
            <a:spLocks noGrp="1"/>
          </p:cNvSpPr>
          <p:nvPr>
            <p:ph idx="1"/>
          </p:nvPr>
        </p:nvSpPr>
        <p:spPr/>
        <p:txBody>
          <a:bodyPr/>
          <a:lstStyle/>
          <a:p>
            <a:r>
              <a:rPr lang="en-SG" dirty="0" smtClean="0"/>
              <a:t>Query database</a:t>
            </a:r>
          </a:p>
          <a:p>
            <a:r>
              <a:rPr lang="en-SG" dirty="0" smtClean="0"/>
              <a:t>Message other LLM</a:t>
            </a:r>
          </a:p>
          <a:p>
            <a:r>
              <a:rPr lang="en-SG" dirty="0" smtClean="0"/>
              <a:t>Access computer stuff</a:t>
            </a:r>
          </a:p>
          <a:p>
            <a:r>
              <a:rPr lang="en-SG" dirty="0" smtClean="0"/>
              <a:t>Actually is u give LLM a set of tool. They will reply which tool they want to use.</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err="1" smtClean="0"/>
              <a:t>Gradio</a:t>
            </a:r>
            <a:r>
              <a:rPr lang="en-SG" dirty="0" smtClean="0"/>
              <a:t> is for frontend engineer. Nice frontend tool</a:t>
            </a:r>
          </a:p>
          <a:p>
            <a:r>
              <a:rPr lang="en-SG" dirty="0" smtClean="0"/>
              <a:t>Take longer to load library.</a:t>
            </a:r>
          </a:p>
          <a:p>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Pydantic</a:t>
            </a:r>
            <a:r>
              <a:rPr lang="en-SG" dirty="0" smtClean="0"/>
              <a:t> model</a:t>
            </a:r>
            <a:endParaRPr lang="en-US" dirty="0"/>
          </a:p>
        </p:txBody>
      </p:sp>
      <p:sp>
        <p:nvSpPr>
          <p:cNvPr id="3" name="Content Placeholder 2"/>
          <p:cNvSpPr>
            <a:spLocks noGrp="1"/>
          </p:cNvSpPr>
          <p:nvPr>
            <p:ph idx="1"/>
          </p:nvPr>
        </p:nvSpPr>
        <p:spPr/>
        <p:txBody>
          <a:bodyPr/>
          <a:lstStyle/>
          <a:p>
            <a:r>
              <a:rPr lang="en-SG" dirty="0" smtClean="0"/>
              <a:t>Use class to describe a model</a:t>
            </a:r>
          </a:p>
          <a:p>
            <a:r>
              <a:rPr lang="en-SG" dirty="0" smtClean="0"/>
              <a:t>Structured output: require LLM to return output of that form</a:t>
            </a:r>
          </a:p>
          <a:p>
            <a:pPr lvl="1"/>
            <a:r>
              <a:rPr lang="en-SG" dirty="0" err="1" smtClean="0"/>
              <a:t>Response_format</a:t>
            </a:r>
            <a:r>
              <a:rPr lang="en-SG" dirty="0" smtClean="0"/>
              <a:t>=Evaluation class</a:t>
            </a:r>
          </a:p>
          <a:p>
            <a:pPr lvl="1"/>
            <a:r>
              <a:rPr lang="en-SG" dirty="0" smtClean="0"/>
              <a:t>parse</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Pig </a:t>
            </a:r>
            <a:r>
              <a:rPr lang="en-SG" dirty="0" err="1" smtClean="0"/>
              <a:t>latin</a:t>
            </a:r>
            <a:endParaRPr lang="en-US" dirty="0"/>
          </a:p>
        </p:txBody>
      </p:sp>
      <p:sp>
        <p:nvSpPr>
          <p:cNvPr id="3" name="Content Placeholder 2"/>
          <p:cNvSpPr>
            <a:spLocks noGrp="1"/>
          </p:cNvSpPr>
          <p:nvPr>
            <p:ph idx="1"/>
          </p:nvPr>
        </p:nvSpPr>
        <p:spPr/>
        <p:txBody>
          <a:bodyPr/>
          <a:lstStyle/>
          <a:p>
            <a:r>
              <a:rPr lang="en-SG" dirty="0" smtClean="0"/>
              <a:t>Word with letters rearranged. Most likely </a:t>
            </a:r>
            <a:r>
              <a:rPr lang="en-SG" smtClean="0"/>
              <a:t>cannot understand.</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D03C4D14-E308-479D-B763-229C75940C83}"/>
              </a:ext>
            </a:extLst>
          </p:cNvPr>
          <p:cNvSpPr>
            <a:spLocks noGrp="1"/>
          </p:cNvSpPr>
          <p:nvPr>
            <p:ph type="title"/>
          </p:nvPr>
        </p:nvSpPr>
        <p:spPr/>
        <p:txBody>
          <a:bodyPr/>
          <a:lstStyle/>
          <a:p>
            <a:r>
              <a:rPr lang="en-US" dirty="0"/>
              <a:t>Pushover Tool</a:t>
            </a:r>
            <a:endParaRPr lang="en-SG" dirty="0"/>
          </a:p>
        </p:txBody>
      </p:sp>
      <p:sp>
        <p:nvSpPr>
          <p:cNvPr id="3" name="Content Placeholder 2">
            <a:extLst>
              <a:ext uri="{FF2B5EF4-FFF2-40B4-BE49-F238E27FC236}">
                <a16:creationId xmlns="" xmlns:a16="http://schemas.microsoft.com/office/drawing/2014/main" id="{523E285D-BFF9-413F-B3A7-50236E960A17}"/>
              </a:ext>
            </a:extLst>
          </p:cNvPr>
          <p:cNvSpPr>
            <a:spLocks noGrp="1"/>
          </p:cNvSpPr>
          <p:nvPr>
            <p:ph idx="1"/>
          </p:nvPr>
        </p:nvSpPr>
        <p:spPr/>
        <p:txBody>
          <a:bodyPr/>
          <a:lstStyle/>
          <a:p>
            <a:r>
              <a:rPr lang="en-US" dirty="0">
                <a:hlinkClick r:id="rId2"/>
              </a:rPr>
              <a:t>http://pushover.net</a:t>
            </a:r>
            <a:endParaRPr lang="en-US" dirty="0"/>
          </a:p>
          <a:p>
            <a:r>
              <a:rPr lang="en-US" dirty="0"/>
              <a:t>Free</a:t>
            </a:r>
          </a:p>
          <a:p>
            <a:r>
              <a:rPr lang="en-US" dirty="0"/>
              <a:t>Send </a:t>
            </a:r>
            <a:r>
              <a:rPr lang="en-US" dirty="0" err="1"/>
              <a:t>sms</a:t>
            </a:r>
            <a:r>
              <a:rPr lang="en-US" dirty="0"/>
              <a:t> to </a:t>
            </a:r>
            <a:r>
              <a:rPr lang="en-US" dirty="0" err="1"/>
              <a:t>ur</a:t>
            </a:r>
            <a:r>
              <a:rPr lang="en-US" dirty="0"/>
              <a:t> </a:t>
            </a:r>
            <a:r>
              <a:rPr lang="en-US" dirty="0" smtClean="0"/>
              <a:t>phone</a:t>
            </a:r>
          </a:p>
          <a:p>
            <a:r>
              <a:rPr lang="en-SG" dirty="0" smtClean="0"/>
              <a:t>Need to install a app on </a:t>
            </a:r>
            <a:r>
              <a:rPr lang="en-SG" dirty="0" err="1" smtClean="0"/>
              <a:t>ur</a:t>
            </a:r>
            <a:r>
              <a:rPr lang="en-SG" dirty="0" smtClean="0"/>
              <a:t> phone. 30 day trials</a:t>
            </a:r>
          </a:p>
          <a:p>
            <a:r>
              <a:rPr lang="en-SG" dirty="0" smtClean="0"/>
              <a:t>Can send 10k message free per month</a:t>
            </a:r>
          </a:p>
        </p:txBody>
      </p:sp>
    </p:spTree>
    <p:extLst>
      <p:ext uri="{BB962C8B-B14F-4D97-AF65-F5344CB8AC3E}">
        <p14:creationId xmlns="" xmlns:p14="http://schemas.microsoft.com/office/powerpoint/2010/main" val="24672424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Week1 Day5</a:t>
            </a:r>
            <a:endParaRPr lang="en-US" dirty="0"/>
          </a:p>
        </p:txBody>
      </p:sp>
      <p:sp>
        <p:nvSpPr>
          <p:cNvPr id="3" name="Content Placeholder 2"/>
          <p:cNvSpPr>
            <a:spLocks noGrp="1"/>
          </p:cNvSpPr>
          <p:nvPr>
            <p:ph idx="1"/>
          </p:nvPr>
        </p:nvSpPr>
        <p:spPr/>
        <p:txBody>
          <a:bodyPr/>
          <a:lstStyle/>
          <a:p>
            <a:r>
              <a:rPr lang="en-SG" dirty="0" smtClean="0"/>
              <a:t>Create tool to be used.</a:t>
            </a:r>
          </a:p>
          <a:p>
            <a:r>
              <a:rPr lang="en-SG" dirty="0" smtClean="0"/>
              <a:t>Give LLM the ability to use tool. Passed in as list of </a:t>
            </a:r>
            <a:r>
              <a:rPr lang="en-SG" dirty="0" err="1" smtClean="0"/>
              <a:t>json</a:t>
            </a:r>
            <a:endParaRPr lang="en-SG" dirty="0" smtClean="0"/>
          </a:p>
          <a:p>
            <a:r>
              <a:rPr lang="en-US" dirty="0" smtClean="0"/>
              <a:t>Python shortcut: </a:t>
            </a:r>
            <a:r>
              <a:rPr lang="en-US" dirty="0" err="1" smtClean="0"/>
              <a:t>globals</a:t>
            </a:r>
            <a:r>
              <a:rPr lang="en-US" dirty="0" smtClean="0"/>
              <a:t>()["</a:t>
            </a:r>
            <a:r>
              <a:rPr lang="en-US" dirty="0" err="1" smtClean="0"/>
              <a:t>record_unknown_question</a:t>
            </a:r>
            <a:r>
              <a:rPr lang="en-US" dirty="0" smtClean="0"/>
              <a:t>"]("this is a really hard question")</a:t>
            </a:r>
          </a:p>
          <a:p>
            <a:pPr lvl="1"/>
            <a:r>
              <a:rPr lang="en-SG" dirty="0" smtClean="0"/>
              <a:t>Call the function </a:t>
            </a:r>
            <a:r>
              <a:rPr lang="en-SG" dirty="0" err="1" smtClean="0"/>
              <a:t>record_unknown_question</a:t>
            </a:r>
            <a:r>
              <a:rPr lang="en-SG" dirty="0" smtClean="0"/>
              <a:t> in global scope with the function argument </a:t>
            </a:r>
            <a:r>
              <a:rPr lang="en-US" dirty="0" smtClean="0"/>
              <a:t>"this is a really hard question")</a:t>
            </a:r>
          </a:p>
          <a:p>
            <a:pPr lvl="1"/>
            <a:r>
              <a:rPr lang="en-SG" dirty="0" smtClean="0"/>
              <a:t>Prevent the need for the if statement</a:t>
            </a:r>
          </a:p>
          <a:p>
            <a:r>
              <a:rPr lang="en-SG" dirty="0" smtClean="0"/>
              <a:t>Repetition in prompting is never a bad thing. Increase the chance of getting what u want.</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Package the chat as app.py to be deployed to </a:t>
            </a:r>
            <a:r>
              <a:rPr lang="en-SG" dirty="0" err="1" smtClean="0"/>
              <a:t>HuggingFace</a:t>
            </a:r>
            <a:r>
              <a:rPr lang="en-SG" dirty="0" smtClean="0"/>
              <a:t> as </a:t>
            </a:r>
            <a:r>
              <a:rPr lang="en-SG" dirty="0" err="1" smtClean="0"/>
              <a:t>ur</a:t>
            </a:r>
            <a:r>
              <a:rPr lang="en-SG" dirty="0" smtClean="0"/>
              <a:t> assistant for other to chat with u.</a:t>
            </a:r>
          </a:p>
          <a:p>
            <a:r>
              <a:rPr lang="en-SG" dirty="0" err="1" smtClean="0"/>
              <a:t>Uv</a:t>
            </a:r>
            <a:r>
              <a:rPr lang="en-SG" dirty="0" smtClean="0"/>
              <a:t> run app.py</a:t>
            </a:r>
          </a:p>
          <a:p>
            <a:r>
              <a:rPr lang="en-SG" dirty="0" smtClean="0"/>
              <a:t>Deploy on </a:t>
            </a:r>
            <a:r>
              <a:rPr lang="en-SG" dirty="0" err="1" smtClean="0"/>
              <a:t>Huggingface</a:t>
            </a:r>
            <a:r>
              <a:rPr lang="en-SG" dirty="0" smtClean="0"/>
              <a:t>. Require </a:t>
            </a:r>
            <a:r>
              <a:rPr lang="en-SG" dirty="0" err="1" smtClean="0"/>
              <a:t>openai</a:t>
            </a:r>
            <a:r>
              <a:rPr lang="en-SG" dirty="0" smtClean="0"/>
              <a:t> </a:t>
            </a:r>
            <a:r>
              <a:rPr lang="en-SG" dirty="0" err="1" smtClean="0"/>
              <a:t>api</a:t>
            </a:r>
            <a:r>
              <a:rPr lang="en-SG" dirty="0" smtClean="0"/>
              <a:t> key as secret.</a:t>
            </a:r>
          </a:p>
          <a:p>
            <a:r>
              <a:rPr lang="en-SG" dirty="0" err="1" smtClean="0"/>
              <a:t>Gradio</a:t>
            </a:r>
            <a:r>
              <a:rPr lang="en-SG" dirty="0" smtClean="0"/>
              <a:t> deploy</a:t>
            </a:r>
          </a:p>
          <a:p>
            <a:pPr lvl="1"/>
            <a:r>
              <a:rPr lang="en-SG" dirty="0" err="1" smtClean="0"/>
              <a:t>Cpu</a:t>
            </a:r>
            <a:r>
              <a:rPr lang="en-SG" dirty="0" smtClean="0"/>
              <a:t>-basic as Spaces hardware (free for </a:t>
            </a:r>
            <a:r>
              <a:rPr lang="en-SG" dirty="0" err="1" smtClean="0"/>
              <a:t>HuggingFace</a:t>
            </a:r>
            <a:r>
              <a:rPr lang="en-SG" dirty="0" smtClean="0"/>
              <a:t>)</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Week1 Day5 extra</a:t>
            </a:r>
            <a:endParaRPr lang="en-US" dirty="0"/>
          </a:p>
        </p:txBody>
      </p:sp>
      <p:sp>
        <p:nvSpPr>
          <p:cNvPr id="3" name="Content Placeholder 2"/>
          <p:cNvSpPr>
            <a:spLocks noGrp="1"/>
          </p:cNvSpPr>
          <p:nvPr>
            <p:ph idx="1"/>
          </p:nvPr>
        </p:nvSpPr>
        <p:spPr/>
        <p:txBody>
          <a:bodyPr/>
          <a:lstStyle/>
          <a:p>
            <a:r>
              <a:rPr lang="en-SG" dirty="0" smtClean="0"/>
              <a:t>For recent model like gpt-5.2, use </a:t>
            </a:r>
            <a:r>
              <a:rPr lang="en-SG" dirty="0" err="1" smtClean="0"/>
              <a:t>reasoning_efforts</a:t>
            </a:r>
            <a:r>
              <a:rPr lang="en-SG" dirty="0" smtClean="0"/>
              <a:t>=“none” for it not to </a:t>
            </a:r>
            <a:r>
              <a:rPr lang="en-SG" dirty="0" err="1" smtClean="0"/>
              <a:t>overthink</a:t>
            </a:r>
            <a:r>
              <a:rPr lang="en-SG" dirty="0" smtClean="0"/>
              <a:t> and use too much token.</a:t>
            </a:r>
          </a:p>
          <a:p>
            <a:r>
              <a:rPr lang="en-SG" dirty="0" smtClean="0"/>
              <a:t>Agent </a:t>
            </a:r>
            <a:r>
              <a:rPr lang="en-SG" dirty="0" err="1" smtClean="0"/>
              <a:t>ownself</a:t>
            </a:r>
            <a:r>
              <a:rPr lang="en-SG" dirty="0" smtClean="0"/>
              <a:t> plan to do list to perform a task, and strike off when it has completed.</a:t>
            </a:r>
          </a:p>
          <a:p>
            <a:r>
              <a:rPr lang="en-SG" dirty="0" smtClean="0"/>
              <a:t>Ollama-3.2 is not powerful to do this.</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Week2</a:t>
            </a:r>
            <a:endParaRPr lang="en-US" dirty="0"/>
          </a:p>
        </p:txBody>
      </p:sp>
      <p:sp>
        <p:nvSpPr>
          <p:cNvPr id="3" name="Content Placeholder 2"/>
          <p:cNvSpPr>
            <a:spLocks noGrp="1"/>
          </p:cNvSpPr>
          <p:nvPr>
            <p:ph idx="1"/>
          </p:nvPr>
        </p:nvSpPr>
        <p:spPr/>
        <p:txBody>
          <a:bodyPr>
            <a:normAutofit fontScale="77500" lnSpcReduction="20000"/>
          </a:bodyPr>
          <a:lstStyle/>
          <a:p>
            <a:r>
              <a:rPr lang="en-SG" dirty="0" err="1" smtClean="0"/>
              <a:t>Aynchronous</a:t>
            </a:r>
            <a:r>
              <a:rPr lang="en-SG" dirty="0" smtClean="0"/>
              <a:t> python used by all agent </a:t>
            </a:r>
            <a:r>
              <a:rPr lang="en-SG" dirty="0" err="1" smtClean="0"/>
              <a:t>fw</a:t>
            </a:r>
            <a:r>
              <a:rPr lang="en-SG" dirty="0" smtClean="0"/>
              <a:t>. Need to wait for results from LLM</a:t>
            </a:r>
          </a:p>
          <a:p>
            <a:r>
              <a:rPr lang="en-SG" dirty="0" smtClean="0"/>
              <a:t>Understand to be better, comfortable</a:t>
            </a:r>
          </a:p>
          <a:p>
            <a:r>
              <a:rPr lang="en-SG" dirty="0" smtClean="0"/>
              <a:t>Define </a:t>
            </a:r>
            <a:r>
              <a:rPr lang="en-SG" dirty="0" err="1" smtClean="0"/>
              <a:t>async</a:t>
            </a:r>
            <a:r>
              <a:rPr lang="en-SG" dirty="0" smtClean="0"/>
              <a:t> function: </a:t>
            </a:r>
            <a:r>
              <a:rPr lang="en-SG" dirty="0" err="1" smtClean="0"/>
              <a:t>async</a:t>
            </a:r>
            <a:r>
              <a:rPr lang="en-SG" dirty="0" smtClean="0"/>
              <a:t> def fn():</a:t>
            </a:r>
          </a:p>
          <a:p>
            <a:r>
              <a:rPr lang="en-SG" dirty="0" smtClean="0"/>
              <a:t>Call </a:t>
            </a:r>
            <a:r>
              <a:rPr lang="en-SG" dirty="0" err="1" smtClean="0"/>
              <a:t>async</a:t>
            </a:r>
            <a:r>
              <a:rPr lang="en-SG" dirty="0" smtClean="0"/>
              <a:t> function: Result = await &lt;</a:t>
            </a:r>
            <a:r>
              <a:rPr lang="en-SG" dirty="0" err="1" smtClean="0"/>
              <a:t>async</a:t>
            </a:r>
            <a:r>
              <a:rPr lang="en-SG" dirty="0" smtClean="0"/>
              <a:t> fn&gt;</a:t>
            </a:r>
          </a:p>
          <a:p>
            <a:r>
              <a:rPr lang="en-SG" dirty="0" err="1" smtClean="0"/>
              <a:t>Async</a:t>
            </a:r>
            <a:r>
              <a:rPr lang="en-SG" dirty="0" smtClean="0"/>
              <a:t> function is not function, it is </a:t>
            </a:r>
            <a:r>
              <a:rPr lang="en-SG" dirty="0" err="1" smtClean="0"/>
              <a:t>coroutine</a:t>
            </a:r>
            <a:endParaRPr lang="en-SG" dirty="0" smtClean="0"/>
          </a:p>
          <a:p>
            <a:r>
              <a:rPr lang="en-SG" dirty="0" smtClean="0"/>
              <a:t>Calling without await: Calling </a:t>
            </a:r>
            <a:r>
              <a:rPr lang="en-SG" dirty="0" err="1" smtClean="0"/>
              <a:t>coroutine</a:t>
            </a:r>
            <a:r>
              <a:rPr lang="en-SG" dirty="0" smtClean="0"/>
              <a:t> does not execute it immediately. It returns a </a:t>
            </a:r>
            <a:r>
              <a:rPr lang="en-SG" dirty="0" err="1" smtClean="0"/>
              <a:t>coroutine</a:t>
            </a:r>
            <a:r>
              <a:rPr lang="en-SG" dirty="0" smtClean="0"/>
              <a:t> </a:t>
            </a:r>
            <a:r>
              <a:rPr lang="en-SG" dirty="0" err="1" smtClean="0"/>
              <a:t>obj</a:t>
            </a:r>
            <a:endParaRPr lang="en-SG" dirty="0" smtClean="0"/>
          </a:p>
          <a:p>
            <a:r>
              <a:rPr lang="en-SG" dirty="0" smtClean="0"/>
              <a:t>Calling with await: schedule it for execution within an event loop</a:t>
            </a:r>
          </a:p>
          <a:p>
            <a:r>
              <a:rPr lang="en-SG" dirty="0" smtClean="0"/>
              <a:t>Is sequential. Only can run 1 </a:t>
            </a:r>
            <a:r>
              <a:rPr lang="en-SG" dirty="0" err="1" smtClean="0"/>
              <a:t>coroutine</a:t>
            </a:r>
            <a:r>
              <a:rPr lang="en-SG" dirty="0" smtClean="0"/>
              <a:t> at a time (no threading). Manual way of doing threading. Hence lightweight. Can have thousand of these </a:t>
            </a:r>
            <a:r>
              <a:rPr lang="en-SG" dirty="0" err="1" smtClean="0"/>
              <a:t>coroutine</a:t>
            </a:r>
            <a:r>
              <a:rPr lang="en-SG" dirty="0" smtClean="0"/>
              <a:t>.</a:t>
            </a:r>
          </a:p>
          <a:p>
            <a:r>
              <a:rPr lang="en-SG" dirty="0" smtClean="0"/>
              <a:t>Event loop run other </a:t>
            </a:r>
            <a:r>
              <a:rPr lang="en-SG" dirty="0" err="1" smtClean="0"/>
              <a:t>coroutine</a:t>
            </a:r>
            <a:r>
              <a:rPr lang="en-SG" dirty="0" smtClean="0"/>
              <a:t> when a </a:t>
            </a:r>
            <a:r>
              <a:rPr lang="en-SG" dirty="0" err="1" smtClean="0"/>
              <a:t>coroutine</a:t>
            </a:r>
            <a:r>
              <a:rPr lang="en-SG" dirty="0" smtClean="0"/>
              <a:t> waiting (</a:t>
            </a:r>
            <a:r>
              <a:rPr lang="en-SG" dirty="0" err="1" smtClean="0"/>
              <a:t>eg</a:t>
            </a:r>
            <a:r>
              <a:rPr lang="en-SG" dirty="0" smtClean="0"/>
              <a:t>. for I/O)</a:t>
            </a:r>
          </a:p>
          <a:p>
            <a:r>
              <a:rPr lang="en-SG" dirty="0" smtClean="0"/>
              <a:t>Use results = await </a:t>
            </a:r>
            <a:r>
              <a:rPr lang="en-SG" dirty="0" err="1" smtClean="0"/>
              <a:t>asyncio.gather</a:t>
            </a:r>
            <a:r>
              <a:rPr lang="en-SG" dirty="0" smtClean="0"/>
              <a:t>(fn1(), fn2(), …) to schedule many </a:t>
            </a:r>
            <a:r>
              <a:rPr lang="en-SG" dirty="0" err="1" smtClean="0"/>
              <a:t>coroutines</a:t>
            </a:r>
            <a:r>
              <a:rPr lang="en-SG" dirty="0" smtClean="0"/>
              <a:t> for execution</a:t>
            </a:r>
          </a:p>
          <a:p>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OpenAI</a:t>
            </a:r>
            <a:r>
              <a:rPr lang="en-SG" dirty="0" smtClean="0"/>
              <a:t> Agents SDK</a:t>
            </a:r>
            <a:endParaRPr lang="en-US" dirty="0"/>
          </a:p>
        </p:txBody>
      </p:sp>
      <p:sp>
        <p:nvSpPr>
          <p:cNvPr id="3" name="Content Placeholder 2"/>
          <p:cNvSpPr>
            <a:spLocks noGrp="1"/>
          </p:cNvSpPr>
          <p:nvPr>
            <p:ph idx="1"/>
          </p:nvPr>
        </p:nvSpPr>
        <p:spPr/>
        <p:txBody>
          <a:bodyPr/>
          <a:lstStyle/>
          <a:p>
            <a:r>
              <a:rPr lang="en-SG" dirty="0" smtClean="0"/>
              <a:t>Not opinionated. Less prescriptive.</a:t>
            </a:r>
          </a:p>
          <a:p>
            <a:r>
              <a:rPr lang="en-SG" dirty="0" smtClean="0"/>
              <a:t>His favourite. Start favourite on Week2 and end on Week6 (</a:t>
            </a:r>
            <a:r>
              <a:rPr lang="en-SG" dirty="0" err="1" smtClean="0"/>
              <a:t>togther</a:t>
            </a:r>
            <a:r>
              <a:rPr lang="en-SG" dirty="0" smtClean="0"/>
              <a:t> with MCP)</a:t>
            </a:r>
          </a:p>
          <a:p>
            <a:r>
              <a:rPr lang="en-SG" dirty="0" smtClean="0"/>
              <a:t>3 concepts:</a:t>
            </a:r>
          </a:p>
          <a:p>
            <a:pPr lvl="1"/>
            <a:r>
              <a:rPr lang="en-SG" dirty="0" smtClean="0"/>
              <a:t>Agents: LLMs</a:t>
            </a:r>
          </a:p>
          <a:p>
            <a:pPr lvl="1"/>
            <a:r>
              <a:rPr lang="en-SG" dirty="0" smtClean="0"/>
              <a:t>Handoffs: interactions</a:t>
            </a:r>
          </a:p>
          <a:p>
            <a:pPr lvl="1"/>
            <a:r>
              <a:rPr lang="en-SG" dirty="0" smtClean="0"/>
              <a:t>Guardrails: controls</a:t>
            </a:r>
          </a:p>
          <a:p>
            <a:r>
              <a:rPr lang="en-SG" dirty="0" smtClean="0"/>
              <a:t>Read documentation: https://openai.github.io/openai-agents-python/</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Sample code to use </a:t>
            </a:r>
            <a:r>
              <a:rPr lang="en-SG" dirty="0" err="1" smtClean="0"/>
              <a:t>ollama</a:t>
            </a:r>
            <a:r>
              <a:rPr lang="en-SG" dirty="0" smtClean="0"/>
              <a:t> to do </a:t>
            </a:r>
            <a:r>
              <a:rPr lang="en-SG" dirty="0" err="1" smtClean="0"/>
              <a:t>OpenAI</a:t>
            </a:r>
            <a:endParaRPr lang="en-US" dirty="0"/>
          </a:p>
        </p:txBody>
      </p:sp>
      <p:sp>
        <p:nvSpPr>
          <p:cNvPr id="3" name="Content Placeholder 2"/>
          <p:cNvSpPr>
            <a:spLocks noGrp="1"/>
          </p:cNvSpPr>
          <p:nvPr>
            <p:ph idx="1"/>
          </p:nvPr>
        </p:nvSpPr>
        <p:spPr/>
        <p:txBody>
          <a:bodyPr>
            <a:normAutofit fontScale="85000" lnSpcReduction="20000"/>
          </a:bodyPr>
          <a:lstStyle/>
          <a:p>
            <a:r>
              <a:rPr lang="en-US" dirty="0" smtClean="0"/>
              <a:t>from </a:t>
            </a:r>
            <a:r>
              <a:rPr lang="en-US" dirty="0" err="1" smtClean="0"/>
              <a:t>openai</a:t>
            </a:r>
            <a:r>
              <a:rPr lang="en-US" dirty="0" smtClean="0"/>
              <a:t> import </a:t>
            </a:r>
            <a:r>
              <a:rPr lang="en-US" dirty="0" err="1" smtClean="0"/>
              <a:t>AsyncOpenAI</a:t>
            </a:r>
            <a:endParaRPr lang="en-US" dirty="0" smtClean="0"/>
          </a:p>
          <a:p>
            <a:r>
              <a:rPr lang="en-US" dirty="0" smtClean="0"/>
              <a:t>from agents import Agent, Runner, trace, </a:t>
            </a:r>
            <a:r>
              <a:rPr lang="en-US" dirty="0" err="1" smtClean="0"/>
              <a:t>function_tool</a:t>
            </a:r>
            <a:r>
              <a:rPr lang="en-US" dirty="0" smtClean="0"/>
              <a:t>, </a:t>
            </a:r>
            <a:r>
              <a:rPr lang="en-US" dirty="0" err="1" smtClean="0"/>
              <a:t>OpenAIChatCompletionsModel</a:t>
            </a:r>
            <a:r>
              <a:rPr lang="en-US" dirty="0" smtClean="0"/>
              <a:t>, </a:t>
            </a:r>
            <a:r>
              <a:rPr lang="en-US" dirty="0" err="1" smtClean="0"/>
              <a:t>input_guardrail</a:t>
            </a:r>
            <a:r>
              <a:rPr lang="en-US" dirty="0" smtClean="0"/>
              <a:t>, </a:t>
            </a:r>
            <a:r>
              <a:rPr lang="en-US" dirty="0" err="1" smtClean="0"/>
              <a:t>GuardrailFunctionOutput</a:t>
            </a:r>
            <a:endParaRPr lang="en-US" dirty="0" smtClean="0"/>
          </a:p>
          <a:p>
            <a:r>
              <a:rPr lang="en-US" dirty="0" smtClean="0"/>
              <a:t/>
            </a:r>
            <a:br>
              <a:rPr lang="en-US" dirty="0" smtClean="0"/>
            </a:br>
            <a:r>
              <a:rPr lang="en-US" dirty="0" smtClean="0"/>
              <a:t>OLLAMA_BASE_URL = "http://localhost:11434/v1"</a:t>
            </a:r>
          </a:p>
          <a:p>
            <a:r>
              <a:rPr lang="en-US" dirty="0" err="1" smtClean="0"/>
              <a:t>api_key</a:t>
            </a:r>
            <a:r>
              <a:rPr lang="en-US" dirty="0" smtClean="0"/>
              <a:t>="</a:t>
            </a:r>
            <a:r>
              <a:rPr lang="en-US" dirty="0" err="1" smtClean="0"/>
              <a:t>ollama</a:t>
            </a:r>
            <a:r>
              <a:rPr lang="en-US" dirty="0" smtClean="0"/>
              <a:t>"</a:t>
            </a:r>
          </a:p>
          <a:p>
            <a:r>
              <a:rPr lang="en-US" dirty="0" err="1" smtClean="0"/>
              <a:t>model_name</a:t>
            </a:r>
            <a:r>
              <a:rPr lang="en-US" dirty="0" smtClean="0"/>
              <a:t> = "llama3.2"</a:t>
            </a:r>
          </a:p>
          <a:p>
            <a:r>
              <a:rPr lang="en-US" dirty="0" err="1" smtClean="0"/>
              <a:t>ollama_client</a:t>
            </a:r>
            <a:r>
              <a:rPr lang="en-US" dirty="0" smtClean="0"/>
              <a:t> = </a:t>
            </a:r>
            <a:r>
              <a:rPr lang="en-US" dirty="0" err="1" smtClean="0"/>
              <a:t>AsyncOpenAI</a:t>
            </a:r>
            <a:r>
              <a:rPr lang="en-US" dirty="0" smtClean="0"/>
              <a:t>(</a:t>
            </a:r>
            <a:r>
              <a:rPr lang="en-US" dirty="0" err="1" smtClean="0"/>
              <a:t>base_url</a:t>
            </a:r>
            <a:r>
              <a:rPr lang="en-US" dirty="0" smtClean="0"/>
              <a:t>=OLLAMA_BASE_URL, </a:t>
            </a:r>
            <a:r>
              <a:rPr lang="en-US" dirty="0" err="1" smtClean="0"/>
              <a:t>api_key</a:t>
            </a:r>
            <a:r>
              <a:rPr lang="en-US" dirty="0" smtClean="0"/>
              <a:t>=</a:t>
            </a:r>
            <a:r>
              <a:rPr lang="en-US" dirty="0" err="1" smtClean="0"/>
              <a:t>api_key</a:t>
            </a:r>
            <a:r>
              <a:rPr lang="en-US" dirty="0" smtClean="0"/>
              <a:t>)</a:t>
            </a:r>
          </a:p>
          <a:p>
            <a:r>
              <a:rPr lang="en-US" dirty="0" smtClean="0"/>
              <a:t>llama3_3_model = </a:t>
            </a:r>
            <a:r>
              <a:rPr lang="en-US" dirty="0" err="1" smtClean="0"/>
              <a:t>OpenAIChatCompletionsModel</a:t>
            </a:r>
            <a:r>
              <a:rPr lang="en-US" dirty="0" smtClean="0"/>
              <a:t>(model=</a:t>
            </a:r>
            <a:r>
              <a:rPr lang="en-US" dirty="0" err="1" smtClean="0"/>
              <a:t>model_name</a:t>
            </a:r>
            <a:r>
              <a:rPr lang="en-US" dirty="0" smtClean="0"/>
              <a:t>, </a:t>
            </a:r>
            <a:r>
              <a:rPr lang="en-US" dirty="0" err="1" smtClean="0"/>
              <a:t>openai_client</a:t>
            </a:r>
            <a:r>
              <a:rPr lang="en-US" dirty="0" smtClean="0"/>
              <a:t>=</a:t>
            </a:r>
            <a:r>
              <a:rPr lang="en-US" dirty="0" err="1" smtClean="0"/>
              <a:t>ollama_client</a:t>
            </a:r>
            <a:r>
              <a:rPr lang="en-US" dirty="0" smtClean="0"/>
              <a:t>)</a:t>
            </a:r>
          </a:p>
          <a:p>
            <a:r>
              <a:rPr lang="en-US" dirty="0" smtClean="0"/>
              <a:t>agent  = Agent(name="Llama3.3 Sales </a:t>
            </a:r>
            <a:r>
              <a:rPr lang="en-US" dirty="0" err="1" smtClean="0"/>
              <a:t>Agent",instructions</a:t>
            </a:r>
            <a:r>
              <a:rPr lang="en-US" dirty="0" smtClean="0"/>
              <a:t>="You are a joke </a:t>
            </a:r>
            <a:r>
              <a:rPr lang="en-US" dirty="0" err="1" smtClean="0"/>
              <a:t>teller",model</a:t>
            </a:r>
            <a:r>
              <a:rPr lang="en-US" dirty="0" smtClean="0"/>
              <a:t>=llama3_3_model)</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With trace(“telling a joke”)</a:t>
            </a:r>
          </a:p>
          <a:p>
            <a:pPr lvl="1"/>
            <a:r>
              <a:rPr lang="en-SG" dirty="0" smtClean="0"/>
              <a:t>Log it with topic as “telling a joke”</a:t>
            </a:r>
          </a:p>
          <a:p>
            <a:r>
              <a:rPr lang="en-SG" dirty="0" smtClean="0"/>
              <a:t>Go and see the traces in </a:t>
            </a:r>
            <a:r>
              <a:rPr lang="en-SG" dirty="0" err="1" smtClean="0"/>
              <a:t>OpenAI</a:t>
            </a:r>
            <a:r>
              <a:rPr lang="en-SG" dirty="0" smtClean="0"/>
              <a:t> platform traces</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Vibe coding</a:t>
            </a:r>
            <a:endParaRPr lang="en-US" dirty="0"/>
          </a:p>
        </p:txBody>
      </p:sp>
      <p:sp>
        <p:nvSpPr>
          <p:cNvPr id="3" name="Content Placeholder 2"/>
          <p:cNvSpPr>
            <a:spLocks noGrp="1"/>
          </p:cNvSpPr>
          <p:nvPr>
            <p:ph idx="1"/>
          </p:nvPr>
        </p:nvSpPr>
        <p:spPr/>
        <p:txBody>
          <a:bodyPr/>
          <a:lstStyle/>
          <a:p>
            <a:r>
              <a:rPr lang="en-SG" dirty="0" smtClean="0"/>
              <a:t>5 tips</a:t>
            </a:r>
          </a:p>
          <a:p>
            <a:pPr lvl="1"/>
            <a:r>
              <a:rPr lang="en-SG" dirty="0" smtClean="0"/>
              <a:t>Prompt well. Ask for short answers and latest API for today date</a:t>
            </a:r>
          </a:p>
          <a:p>
            <a:pPr lvl="1"/>
            <a:r>
              <a:rPr lang="en-SG" dirty="0" smtClean="0"/>
              <a:t>Verify: ask 2 LLM same </a:t>
            </a:r>
            <a:r>
              <a:rPr lang="en-SG" dirty="0" err="1" smtClean="0"/>
              <a:t>qn</a:t>
            </a:r>
            <a:endParaRPr lang="en-SG" dirty="0" smtClean="0"/>
          </a:p>
          <a:p>
            <a:pPr lvl="1"/>
            <a:r>
              <a:rPr lang="en-SG" dirty="0" smtClean="0"/>
              <a:t>Do this manually or ask  LLM to break down request into independently testable steps</a:t>
            </a:r>
          </a:p>
          <a:p>
            <a:pPr lvl="1"/>
            <a:r>
              <a:rPr lang="en-SG" dirty="0" smtClean="0"/>
              <a:t>Validate: ask LLM to check another LLM</a:t>
            </a:r>
          </a:p>
          <a:p>
            <a:pPr lvl="1"/>
            <a:r>
              <a:rPr lang="en-SG" dirty="0" smtClean="0"/>
              <a:t>Variety: Ask for 3 </a:t>
            </a:r>
            <a:r>
              <a:rPr lang="en-SG" dirty="0" err="1" smtClean="0"/>
              <a:t>soln</a:t>
            </a:r>
            <a:r>
              <a:rPr lang="en-SG" dirty="0" smtClean="0"/>
              <a:t> to same problem. Pick the best</a:t>
            </a:r>
          </a:p>
          <a:p>
            <a:pPr lvl="1"/>
            <a:r>
              <a:rPr lang="en-SG" dirty="0" smtClean="0"/>
              <a:t>Understand everything.</a:t>
            </a:r>
          </a:p>
          <a:p>
            <a:pPr lvl="1"/>
            <a:r>
              <a:rPr lang="en-SG" dirty="0" smtClean="0"/>
              <a:t>Understand everything. Ask LLM to explain until u understand.</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W2D2: SDR (Sales Development Rep)</a:t>
            </a:r>
            <a:endParaRPr lang="en-US" dirty="0"/>
          </a:p>
        </p:txBody>
      </p:sp>
      <p:sp>
        <p:nvSpPr>
          <p:cNvPr id="3" name="Content Placeholder 2"/>
          <p:cNvSpPr>
            <a:spLocks noGrp="1"/>
          </p:cNvSpPr>
          <p:nvPr>
            <p:ph idx="1"/>
          </p:nvPr>
        </p:nvSpPr>
        <p:spPr/>
        <p:txBody>
          <a:bodyPr/>
          <a:lstStyle/>
          <a:p>
            <a:r>
              <a:rPr lang="en-SG" dirty="0" smtClean="0"/>
              <a:t>Treat agents as tools or use Handoffs</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smtClean="0"/>
              <a:t>sendgrid</a:t>
            </a:r>
            <a:endParaRPr lang="en-US" dirty="0"/>
          </a:p>
        </p:txBody>
      </p:sp>
      <p:sp>
        <p:nvSpPr>
          <p:cNvPr id="3" name="Content Placeholder 2"/>
          <p:cNvSpPr>
            <a:spLocks noGrp="1"/>
          </p:cNvSpPr>
          <p:nvPr>
            <p:ph idx="1"/>
          </p:nvPr>
        </p:nvSpPr>
        <p:spPr/>
        <p:txBody>
          <a:bodyPr>
            <a:normAutofit fontScale="70000" lnSpcReduction="20000"/>
          </a:bodyPr>
          <a:lstStyle/>
          <a:p>
            <a:r>
              <a:rPr lang="en-SG" dirty="0" smtClean="0"/>
              <a:t>API key</a:t>
            </a:r>
          </a:p>
          <a:p>
            <a:r>
              <a:rPr lang="en-SG" dirty="0" smtClean="0"/>
              <a:t>Sender Authentication to send to a single email</a:t>
            </a:r>
          </a:p>
          <a:p>
            <a:r>
              <a:rPr lang="en-US" dirty="0" smtClean="0"/>
              <a:t>Hello,</a:t>
            </a:r>
          </a:p>
          <a:p>
            <a:r>
              <a:rPr lang="en-US" dirty="0" smtClean="0"/>
              <a:t>We appreciate your interest in </a:t>
            </a:r>
            <a:r>
              <a:rPr lang="en-US" dirty="0" err="1" smtClean="0"/>
              <a:t>Twilio</a:t>
            </a:r>
            <a:r>
              <a:rPr lang="en-US" dirty="0" smtClean="0"/>
              <a:t> </a:t>
            </a:r>
            <a:r>
              <a:rPr lang="en-US" dirty="0" err="1" smtClean="0"/>
              <a:t>SendGrid</a:t>
            </a:r>
            <a:r>
              <a:rPr lang="en-US" dirty="0" smtClean="0"/>
              <a:t> and your efforts in completing our account creation process. After a thorough review, we regret to inform you that we are unable to proceed with activating your account (unified_acct_USeb42f64a3566a8e07f4078c1a4cbec3b - 106638457) at this time.</a:t>
            </a:r>
          </a:p>
          <a:p>
            <a:r>
              <a:rPr lang="en-US" dirty="0" smtClean="0"/>
              <a:t>Ensuring the security and integrity of our platform is our top priority, and our vetting process is designed to detect potential risks. While we understand the importance of transparency, we are not able to provide the specifics of our vetting process.</a:t>
            </a:r>
          </a:p>
          <a:p>
            <a:r>
              <a:rPr lang="en-US" dirty="0" smtClean="0"/>
              <a:t>We want to emphasize that our decision is based on stringent security measures and our commitment to the safety of all our users.</a:t>
            </a:r>
          </a:p>
          <a:p>
            <a:r>
              <a:rPr lang="en-US" dirty="0" smtClean="0"/>
              <a:t>Thank you for considering </a:t>
            </a:r>
            <a:r>
              <a:rPr lang="en-US" dirty="0" err="1" smtClean="0"/>
              <a:t>Twilio</a:t>
            </a:r>
            <a:r>
              <a:rPr lang="en-US" dirty="0" smtClean="0"/>
              <a:t> </a:t>
            </a:r>
            <a:r>
              <a:rPr lang="en-US" dirty="0" err="1" smtClean="0"/>
              <a:t>SendGrid</a:t>
            </a:r>
            <a:r>
              <a:rPr lang="en-US" dirty="0" smtClean="0"/>
              <a:t>.</a:t>
            </a:r>
          </a:p>
          <a:p>
            <a:r>
              <a:rPr lang="en-US" dirty="0" smtClean="0"/>
              <a:t>Sincerely,</a:t>
            </a:r>
            <a:br>
              <a:rPr lang="en-US" dirty="0" smtClean="0"/>
            </a:br>
            <a:r>
              <a:rPr lang="en-US" dirty="0" err="1" smtClean="0"/>
              <a:t>Onboarding</a:t>
            </a:r>
            <a:r>
              <a:rPr lang="en-US" dirty="0" smtClean="0"/>
              <a:t> &amp; Compliance Operations</a:t>
            </a:r>
          </a:p>
          <a:p>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Difference between run and </a:t>
            </a:r>
            <a:r>
              <a:rPr lang="en-SG" dirty="0" err="1" smtClean="0"/>
              <a:t>run_streamed</a:t>
            </a:r>
            <a:endParaRPr lang="en-US" dirty="0"/>
          </a:p>
        </p:txBody>
      </p:sp>
      <p:graphicFrame>
        <p:nvGraphicFramePr>
          <p:cNvPr id="4" name="Content Placeholder 3"/>
          <p:cNvGraphicFramePr>
            <a:graphicFrameLocks noGrp="1"/>
          </p:cNvGraphicFramePr>
          <p:nvPr>
            <p:ph idx="1"/>
          </p:nvPr>
        </p:nvGraphicFramePr>
        <p:xfrm>
          <a:off x="838200" y="1825625"/>
          <a:ext cx="10515600" cy="4958080"/>
        </p:xfrm>
        <a:graphic>
          <a:graphicData uri="http://schemas.openxmlformats.org/drawingml/2006/table">
            <a:tbl>
              <a:tblPr firstRow="1" bandRow="1">
                <a:tableStyleId>{5C22544A-7EE6-4342-B048-85BDC9FD1C3A}</a:tableStyleId>
              </a:tblPr>
              <a:tblGrid>
                <a:gridCol w="5257800"/>
                <a:gridCol w="5257800"/>
              </a:tblGrid>
              <a:tr h="370840">
                <a:tc>
                  <a:txBody>
                    <a:bodyPr/>
                    <a:lstStyle/>
                    <a:p>
                      <a:r>
                        <a:rPr lang="en-SG" dirty="0" err="1" smtClean="0"/>
                        <a:t>Runner.run</a:t>
                      </a:r>
                      <a:endParaRPr lang="en-US" dirty="0"/>
                    </a:p>
                  </a:txBody>
                  <a:tcPr/>
                </a:tc>
                <a:tc>
                  <a:txBody>
                    <a:bodyPr/>
                    <a:lstStyle/>
                    <a:p>
                      <a:r>
                        <a:rPr lang="en-SG" dirty="0" err="1" smtClean="0"/>
                        <a:t>Runner.run_streamed</a:t>
                      </a:r>
                      <a:endParaRPr lang="en-US" dirty="0"/>
                    </a:p>
                  </a:txBody>
                  <a:tcPr/>
                </a:tc>
              </a:tr>
              <a:tr h="370840">
                <a:tc>
                  <a:txBody>
                    <a:bodyPr/>
                    <a:lstStyle/>
                    <a:p>
                      <a:r>
                        <a:rPr lang="en-SG" dirty="0" smtClean="0"/>
                        <a:t>Blocking/non-streaming</a:t>
                      </a:r>
                      <a:endParaRPr lang="en-US" dirty="0"/>
                    </a:p>
                  </a:txBody>
                  <a:tcPr/>
                </a:tc>
                <a:tc>
                  <a:txBody>
                    <a:bodyPr/>
                    <a:lstStyle/>
                    <a:p>
                      <a:r>
                        <a:rPr lang="en-SG" dirty="0" smtClean="0"/>
                        <a:t>Streaming/</a:t>
                      </a:r>
                      <a:r>
                        <a:rPr lang="en-SG" baseline="0" dirty="0" smtClean="0"/>
                        <a:t> incremental</a:t>
                      </a:r>
                      <a:endParaRPr lang="en-US" dirty="0"/>
                    </a:p>
                  </a:txBody>
                  <a:tcPr/>
                </a:tc>
              </a:tr>
              <a:tr h="370840">
                <a:tc>
                  <a:txBody>
                    <a:bodyPr/>
                    <a:lstStyle/>
                    <a:p>
                      <a:r>
                        <a:rPr lang="en-SG" dirty="0" smtClean="0"/>
                        <a:t>Wait until agent finish </a:t>
                      </a:r>
                      <a:r>
                        <a:rPr lang="en-SG" dirty="0" err="1" smtClean="0"/>
                        <a:t>evyth</a:t>
                      </a:r>
                      <a:endParaRPr lang="en-US" dirty="0"/>
                    </a:p>
                  </a:txBody>
                  <a:tcPr/>
                </a:tc>
                <a:tc>
                  <a:txBody>
                    <a:bodyPr/>
                    <a:lstStyle/>
                    <a:p>
                      <a:r>
                        <a:rPr lang="en-SG" dirty="0" smtClean="0"/>
                        <a:t>Yield event as agent runs</a:t>
                      </a:r>
                      <a:endParaRPr lang="en-US" dirty="0"/>
                    </a:p>
                  </a:txBody>
                  <a:tcPr/>
                </a:tc>
              </a:tr>
              <a:tr h="370840">
                <a:tc>
                  <a:txBody>
                    <a:bodyPr/>
                    <a:lstStyle/>
                    <a:p>
                      <a:r>
                        <a:rPr lang="en-SG" dirty="0" smtClean="0"/>
                        <a:t>Return final results only</a:t>
                      </a:r>
                      <a:endParaRPr lang="en-US" dirty="0"/>
                    </a:p>
                  </a:txBody>
                  <a:tcPr/>
                </a:tc>
                <a:tc>
                  <a:txBody>
                    <a:bodyPr/>
                    <a:lstStyle/>
                    <a:p>
                      <a:r>
                        <a:rPr lang="en-SG" dirty="0" smtClean="0"/>
                        <a:t>Observe step-by-step execution</a:t>
                      </a:r>
                      <a:endParaRPr lang="en-US" dirty="0"/>
                    </a:p>
                  </a:txBody>
                  <a:tcPr/>
                </a:tc>
              </a:tr>
              <a:tr h="370840">
                <a:tc>
                  <a:txBody>
                    <a:bodyPr/>
                    <a:lstStyle/>
                    <a:p>
                      <a:endParaRPr lang="en-US" dirty="0"/>
                    </a:p>
                  </a:txBody>
                  <a:tcPr/>
                </a:tc>
                <a:tc>
                  <a:txBody>
                    <a:bodyPr/>
                    <a:lstStyle/>
                    <a:p>
                      <a:r>
                        <a:rPr lang="en-SG" dirty="0" smtClean="0"/>
                        <a:t>Use with </a:t>
                      </a:r>
                      <a:r>
                        <a:rPr lang="en-SG" dirty="0" err="1" smtClean="0"/>
                        <a:t>async</a:t>
                      </a:r>
                      <a:r>
                        <a:rPr lang="en-SG" baseline="0" dirty="0" smtClean="0"/>
                        <a:t> for</a:t>
                      </a:r>
                    </a:p>
                    <a:p>
                      <a:r>
                        <a:rPr lang="en-SG" baseline="0" dirty="0" smtClean="0"/>
                        <a:t>Expose agent lifecycle:</a:t>
                      </a:r>
                    </a:p>
                    <a:p>
                      <a:pPr>
                        <a:buFontTx/>
                        <a:buChar char="-"/>
                      </a:pPr>
                      <a:r>
                        <a:rPr lang="en-SG" baseline="0" dirty="0" smtClean="0"/>
                        <a:t>Planning</a:t>
                      </a:r>
                    </a:p>
                    <a:p>
                      <a:pPr>
                        <a:buFontTx/>
                        <a:buChar char="-"/>
                      </a:pPr>
                      <a:r>
                        <a:rPr lang="en-SG" baseline="0" dirty="0" smtClean="0"/>
                        <a:t>Tool invocation</a:t>
                      </a:r>
                    </a:p>
                    <a:p>
                      <a:pPr>
                        <a:buFontTx/>
                        <a:buChar char="-"/>
                      </a:pPr>
                      <a:r>
                        <a:rPr lang="en-SG" baseline="0" dirty="0" smtClean="0"/>
                        <a:t>Intermediate output</a:t>
                      </a:r>
                    </a:p>
                    <a:p>
                      <a:pPr>
                        <a:buFontTx/>
                        <a:buNone/>
                      </a:pPr>
                      <a:r>
                        <a:rPr lang="en-SG" baseline="0" dirty="0" smtClean="0"/>
                        <a:t>More powerful for debugging and </a:t>
                      </a:r>
                      <a:r>
                        <a:rPr lang="en-SG" baseline="0" dirty="0" err="1" smtClean="0"/>
                        <a:t>observability</a:t>
                      </a:r>
                      <a:endParaRPr lang="en-US" dirty="0"/>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SG" dirty="0" smtClean="0"/>
                        <a:t>Need with trace to log in </a:t>
                      </a:r>
                      <a:r>
                        <a:rPr lang="en-SG" dirty="0" err="1" smtClean="0"/>
                        <a:t>OpenAI</a:t>
                      </a:r>
                      <a:r>
                        <a:rPr lang="en-SG" dirty="0" smtClean="0"/>
                        <a:t> Platform</a:t>
                      </a:r>
                      <a:r>
                        <a:rPr lang="en-SG" baseline="0" dirty="0" smtClean="0"/>
                        <a:t> trace</a:t>
                      </a:r>
                      <a:endParaRPr lang="en-US" dirty="0" smtClean="0"/>
                    </a:p>
                    <a:p>
                      <a:r>
                        <a:rPr lang="en-US" sz="1800" b="0" kern="1200" dirty="0" smtClean="0">
                          <a:solidFill>
                            <a:schemeClr val="dk1"/>
                          </a:solidFill>
                          <a:latin typeface="+mn-lt"/>
                          <a:ea typeface="+mn-ea"/>
                          <a:cs typeface="+mn-cs"/>
                        </a:rPr>
                        <a:t>with trace("Telling a joke"):</a:t>
                      </a:r>
                    </a:p>
                    <a:p>
                      <a:r>
                        <a:rPr lang="en-US" sz="1800" b="0" kern="1200" dirty="0" smtClean="0">
                          <a:solidFill>
                            <a:schemeClr val="dk1"/>
                          </a:solidFill>
                          <a:latin typeface="+mn-lt"/>
                          <a:ea typeface="+mn-ea"/>
                          <a:cs typeface="+mn-cs"/>
                        </a:rPr>
                        <a:t>    result = await </a:t>
                      </a:r>
                      <a:r>
                        <a:rPr lang="en-US" sz="1800" b="0" kern="1200" dirty="0" err="1" smtClean="0">
                          <a:solidFill>
                            <a:schemeClr val="dk1"/>
                          </a:solidFill>
                          <a:latin typeface="+mn-lt"/>
                          <a:ea typeface="+mn-ea"/>
                          <a:cs typeface="+mn-cs"/>
                        </a:rPr>
                        <a:t>Runner.run</a:t>
                      </a:r>
                      <a:r>
                        <a:rPr lang="en-US" sz="1800" b="0" kern="1200" dirty="0" smtClean="0">
                          <a:solidFill>
                            <a:schemeClr val="dk1"/>
                          </a:solidFill>
                          <a:latin typeface="+mn-lt"/>
                          <a:ea typeface="+mn-ea"/>
                          <a:cs typeface="+mn-cs"/>
                        </a:rPr>
                        <a:t>(agent, "Tell a joke about Autonomous AI Agents")</a:t>
                      </a:r>
                    </a:p>
                    <a:p>
                      <a:r>
                        <a:rPr lang="en-US" sz="1800" b="0" kern="1200" dirty="0" smtClean="0">
                          <a:solidFill>
                            <a:schemeClr val="dk1"/>
                          </a:solidFill>
                          <a:latin typeface="+mn-lt"/>
                          <a:ea typeface="+mn-ea"/>
                          <a:cs typeface="+mn-cs"/>
                        </a:rPr>
                        <a:t>    print(</a:t>
                      </a:r>
                      <a:r>
                        <a:rPr lang="en-US" sz="1800" b="0" kern="1200" dirty="0" err="1" smtClean="0">
                          <a:solidFill>
                            <a:schemeClr val="dk1"/>
                          </a:solidFill>
                          <a:latin typeface="+mn-lt"/>
                          <a:ea typeface="+mn-ea"/>
                          <a:cs typeface="+mn-cs"/>
                        </a:rPr>
                        <a:t>result.final_output</a:t>
                      </a:r>
                      <a:r>
                        <a:rPr lang="en-US" sz="1800" b="0" kern="1200" dirty="0" smtClean="0">
                          <a:solidFill>
                            <a:schemeClr val="dk1"/>
                          </a:solidFill>
                          <a:latin typeface="+mn-lt"/>
                          <a:ea typeface="+mn-ea"/>
                          <a:cs typeface="+mn-cs"/>
                        </a:rPr>
                        <a:t>)</a:t>
                      </a:r>
                    </a:p>
                    <a:p>
                      <a:endParaRPr lang="en-US" dirty="0"/>
                    </a:p>
                  </a:txBody>
                  <a:tcPr/>
                </a:tc>
                <a:tc>
                  <a:txBody>
                    <a:bodyPr/>
                    <a:lstStyle/>
                    <a:p>
                      <a:r>
                        <a:rPr lang="en-US" sz="1800" b="0" kern="1200" dirty="0" err="1" smtClean="0">
                          <a:solidFill>
                            <a:schemeClr val="dk1"/>
                          </a:solidFill>
                          <a:latin typeface="+mn-lt"/>
                          <a:ea typeface="+mn-ea"/>
                          <a:cs typeface="+mn-cs"/>
                        </a:rPr>
                        <a:t>async</a:t>
                      </a:r>
                      <a:r>
                        <a:rPr lang="en-US" sz="1800" b="0" kern="1200" dirty="0" smtClean="0">
                          <a:solidFill>
                            <a:schemeClr val="dk1"/>
                          </a:solidFill>
                          <a:latin typeface="+mn-lt"/>
                          <a:ea typeface="+mn-ea"/>
                          <a:cs typeface="+mn-cs"/>
                        </a:rPr>
                        <a:t> for event in </a:t>
                      </a:r>
                      <a:r>
                        <a:rPr lang="en-US" sz="1800" b="0" kern="1200" dirty="0" err="1" smtClean="0">
                          <a:solidFill>
                            <a:schemeClr val="dk1"/>
                          </a:solidFill>
                          <a:latin typeface="+mn-lt"/>
                          <a:ea typeface="+mn-ea"/>
                          <a:cs typeface="+mn-cs"/>
                        </a:rPr>
                        <a:t>result.stream_events</a:t>
                      </a:r>
                      <a:r>
                        <a:rPr lang="en-US" sz="1800" b="0" kern="1200" dirty="0" smtClean="0">
                          <a:solidFill>
                            <a:schemeClr val="dk1"/>
                          </a:solidFill>
                          <a:latin typeface="+mn-lt"/>
                          <a:ea typeface="+mn-ea"/>
                          <a:cs typeface="+mn-cs"/>
                        </a:rPr>
                        <a:t>():</a:t>
                      </a:r>
                    </a:p>
                    <a:p>
                      <a:r>
                        <a:rPr lang="en-US" sz="1800" b="0" kern="1200" dirty="0" smtClean="0">
                          <a:solidFill>
                            <a:schemeClr val="dk1"/>
                          </a:solidFill>
                          <a:latin typeface="+mn-lt"/>
                          <a:ea typeface="+mn-ea"/>
                          <a:cs typeface="+mn-cs"/>
                        </a:rPr>
                        <a:t>    if </a:t>
                      </a:r>
                      <a:r>
                        <a:rPr lang="en-US" sz="1800" b="0" kern="1200" dirty="0" err="1" smtClean="0">
                          <a:solidFill>
                            <a:schemeClr val="dk1"/>
                          </a:solidFill>
                          <a:latin typeface="+mn-lt"/>
                          <a:ea typeface="+mn-ea"/>
                          <a:cs typeface="+mn-cs"/>
                        </a:rPr>
                        <a:t>event.type</a:t>
                      </a:r>
                      <a:r>
                        <a:rPr lang="en-US" sz="1800" b="0" kern="1200" dirty="0" smtClean="0">
                          <a:solidFill>
                            <a:schemeClr val="dk1"/>
                          </a:solidFill>
                          <a:latin typeface="+mn-lt"/>
                          <a:ea typeface="+mn-ea"/>
                          <a:cs typeface="+mn-cs"/>
                        </a:rPr>
                        <a:t> == "</a:t>
                      </a:r>
                      <a:r>
                        <a:rPr lang="en-US" sz="1800" b="0" kern="1200" dirty="0" err="1" smtClean="0">
                          <a:solidFill>
                            <a:schemeClr val="dk1"/>
                          </a:solidFill>
                          <a:latin typeface="+mn-lt"/>
                          <a:ea typeface="+mn-ea"/>
                          <a:cs typeface="+mn-cs"/>
                        </a:rPr>
                        <a:t>raw_response_event</a:t>
                      </a:r>
                      <a:r>
                        <a:rPr lang="en-US" sz="1800" b="0" kern="1200" dirty="0" smtClean="0">
                          <a:solidFill>
                            <a:schemeClr val="dk1"/>
                          </a:solidFill>
                          <a:latin typeface="+mn-lt"/>
                          <a:ea typeface="+mn-ea"/>
                          <a:cs typeface="+mn-cs"/>
                        </a:rPr>
                        <a:t>" and </a:t>
                      </a:r>
                      <a:r>
                        <a:rPr lang="en-US" sz="1800" b="0" kern="1200" dirty="0" err="1" smtClean="0">
                          <a:solidFill>
                            <a:schemeClr val="dk1"/>
                          </a:solidFill>
                          <a:latin typeface="+mn-lt"/>
                          <a:ea typeface="+mn-ea"/>
                          <a:cs typeface="+mn-cs"/>
                        </a:rPr>
                        <a:t>isinstance</a:t>
                      </a:r>
                      <a:r>
                        <a:rPr lang="en-US" sz="1800" b="0" kern="1200" dirty="0" smtClean="0">
                          <a:solidFill>
                            <a:schemeClr val="dk1"/>
                          </a:solidFill>
                          <a:latin typeface="+mn-lt"/>
                          <a:ea typeface="+mn-ea"/>
                          <a:cs typeface="+mn-cs"/>
                        </a:rPr>
                        <a:t>(</a:t>
                      </a:r>
                      <a:r>
                        <a:rPr lang="en-US" sz="1800" b="0" kern="1200" dirty="0" err="1" smtClean="0">
                          <a:solidFill>
                            <a:schemeClr val="dk1"/>
                          </a:solidFill>
                          <a:latin typeface="+mn-lt"/>
                          <a:ea typeface="+mn-ea"/>
                          <a:cs typeface="+mn-cs"/>
                        </a:rPr>
                        <a:t>event.data</a:t>
                      </a:r>
                      <a:r>
                        <a:rPr lang="en-US" sz="1800" b="0" kern="1200" dirty="0" smtClean="0">
                          <a:solidFill>
                            <a:schemeClr val="dk1"/>
                          </a:solidFill>
                          <a:latin typeface="+mn-lt"/>
                          <a:ea typeface="+mn-ea"/>
                          <a:cs typeface="+mn-cs"/>
                        </a:rPr>
                        <a:t>, </a:t>
                      </a:r>
                      <a:r>
                        <a:rPr lang="en-US" sz="1800" b="0" kern="1200" dirty="0" err="1" smtClean="0">
                          <a:solidFill>
                            <a:schemeClr val="dk1"/>
                          </a:solidFill>
                          <a:latin typeface="+mn-lt"/>
                          <a:ea typeface="+mn-ea"/>
                          <a:cs typeface="+mn-cs"/>
                        </a:rPr>
                        <a:t>ResponseTextDeltaEvent</a:t>
                      </a:r>
                      <a:r>
                        <a:rPr lang="en-US" sz="1800" b="0" kern="1200" dirty="0" smtClean="0">
                          <a:solidFill>
                            <a:schemeClr val="dk1"/>
                          </a:solidFill>
                          <a:latin typeface="+mn-lt"/>
                          <a:ea typeface="+mn-ea"/>
                          <a:cs typeface="+mn-cs"/>
                        </a:rPr>
                        <a:t>):</a:t>
                      </a:r>
                    </a:p>
                    <a:p>
                      <a:r>
                        <a:rPr lang="en-US" sz="1800" b="0" kern="1200" dirty="0" smtClean="0">
                          <a:solidFill>
                            <a:schemeClr val="dk1"/>
                          </a:solidFill>
                          <a:latin typeface="+mn-lt"/>
                          <a:ea typeface="+mn-ea"/>
                          <a:cs typeface="+mn-cs"/>
                        </a:rPr>
                        <a:t>        print(</a:t>
                      </a:r>
                      <a:r>
                        <a:rPr lang="en-US" sz="1800" b="0" kern="1200" dirty="0" err="1" smtClean="0">
                          <a:solidFill>
                            <a:schemeClr val="dk1"/>
                          </a:solidFill>
                          <a:latin typeface="+mn-lt"/>
                          <a:ea typeface="+mn-ea"/>
                          <a:cs typeface="+mn-cs"/>
                        </a:rPr>
                        <a:t>event.data.delta</a:t>
                      </a:r>
                      <a:r>
                        <a:rPr lang="en-US" sz="1800" b="0" kern="1200" dirty="0" smtClean="0">
                          <a:solidFill>
                            <a:schemeClr val="dk1"/>
                          </a:solidFill>
                          <a:latin typeface="+mn-lt"/>
                          <a:ea typeface="+mn-ea"/>
                          <a:cs typeface="+mn-cs"/>
                        </a:rPr>
                        <a:t>, end="", flush=True)</a:t>
                      </a:r>
                    </a:p>
                    <a:p>
                      <a:pPr>
                        <a:buFontTx/>
                        <a:buNone/>
                      </a:pPr>
                      <a:endParaRPr lang="en-US" dirty="0"/>
                    </a:p>
                  </a:txBody>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92500"/>
          </a:bodyPr>
          <a:lstStyle/>
          <a:p>
            <a:r>
              <a:rPr lang="en-SG" dirty="0" smtClean="0"/>
              <a:t>@</a:t>
            </a:r>
            <a:r>
              <a:rPr lang="en-SG" dirty="0" err="1" smtClean="0"/>
              <a:t>function_tool</a:t>
            </a:r>
            <a:r>
              <a:rPr lang="en-SG" dirty="0" smtClean="0"/>
              <a:t> convert function into a tool</a:t>
            </a:r>
          </a:p>
          <a:p>
            <a:r>
              <a:rPr lang="en-SG" dirty="0" smtClean="0"/>
              <a:t>Turn agent into a tool: </a:t>
            </a:r>
            <a:r>
              <a:rPr lang="en-SG" dirty="0" err="1" smtClean="0"/>
              <a:t>agent_inst.as_tool</a:t>
            </a:r>
            <a:r>
              <a:rPr lang="en-SG" dirty="0" smtClean="0"/>
              <a:t>(</a:t>
            </a:r>
            <a:r>
              <a:rPr lang="en-SG" dirty="0" err="1" smtClean="0"/>
              <a:t>tool_name</a:t>
            </a:r>
            <a:r>
              <a:rPr lang="en-SG" dirty="0" smtClean="0"/>
              <a:t>=,</a:t>
            </a:r>
            <a:r>
              <a:rPr lang="en-SG" dirty="0" err="1" smtClean="0"/>
              <a:t>tool_description</a:t>
            </a:r>
            <a:r>
              <a:rPr lang="en-SG" dirty="0" smtClean="0"/>
              <a:t>=)</a:t>
            </a:r>
          </a:p>
          <a:p>
            <a:r>
              <a:rPr lang="en-SG" dirty="0" smtClean="0"/>
              <a:t>Agent (dark green) wrapped inside a tool (green) in </a:t>
            </a:r>
            <a:r>
              <a:rPr lang="en-SG" dirty="0" err="1" smtClean="0"/>
              <a:t>OpenAI</a:t>
            </a:r>
            <a:r>
              <a:rPr lang="en-SG" dirty="0" smtClean="0"/>
              <a:t> Platform trace</a:t>
            </a:r>
          </a:p>
          <a:p>
            <a:r>
              <a:rPr lang="en-SG" dirty="0" smtClean="0"/>
              <a:t>Agents accept </a:t>
            </a:r>
            <a:r>
              <a:rPr lang="en-SG" dirty="0" err="1" smtClean="0"/>
              <a:t>str</a:t>
            </a:r>
            <a:r>
              <a:rPr lang="en-SG" dirty="0" smtClean="0"/>
              <a:t> only as input. Cannot take in a </a:t>
            </a:r>
            <a:r>
              <a:rPr lang="en-SG" dirty="0" err="1" smtClean="0"/>
              <a:t>dict</a:t>
            </a:r>
            <a:r>
              <a:rPr lang="en-SG" dirty="0" smtClean="0"/>
              <a:t> or </a:t>
            </a:r>
            <a:r>
              <a:rPr lang="en-SG" dirty="0" err="1" smtClean="0"/>
              <a:t>json</a:t>
            </a:r>
            <a:endParaRPr lang="en-SG" dirty="0" smtClean="0"/>
          </a:p>
          <a:p>
            <a:r>
              <a:rPr lang="en-SG" dirty="0" smtClean="0"/>
              <a:t>Not sure how to enforce </a:t>
            </a:r>
            <a:r>
              <a:rPr lang="en-SG" dirty="0" err="1" smtClean="0"/>
              <a:t>str</a:t>
            </a:r>
            <a:r>
              <a:rPr lang="en-SG" dirty="0" smtClean="0"/>
              <a:t> only input now.</a:t>
            </a:r>
          </a:p>
          <a:p>
            <a:r>
              <a:rPr lang="en-SG" dirty="0" smtClean="0"/>
              <a:t>Try repeated prompting and output=</a:t>
            </a:r>
            <a:r>
              <a:rPr lang="en-SG" dirty="0" err="1" smtClean="0"/>
              <a:t>str</a:t>
            </a:r>
            <a:r>
              <a:rPr lang="en-SG" dirty="0" smtClean="0"/>
              <a:t> also does not help.</a:t>
            </a:r>
          </a:p>
          <a:p>
            <a:r>
              <a:rPr lang="en-SG" dirty="0" smtClean="0"/>
              <a:t>It also did not listen to instruction such as gather 3 different agents results. It will sometime use 2 same agents.</a:t>
            </a:r>
          </a:p>
          <a:p>
            <a:r>
              <a:rPr lang="en-SG" dirty="0" smtClean="0"/>
              <a:t>When 1 agent makes mistake, it will halt the rest of the system.</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r>
              <a:rPr lang="en-SG" dirty="0" smtClean="0"/>
              <a:t>Instead of using agent as tool, use Handoff.</a:t>
            </a:r>
          </a:p>
          <a:p>
            <a:r>
              <a:rPr lang="en-SG" dirty="0" smtClean="0"/>
              <a:t>Agent delegate to another agent, pass control to it</a:t>
            </a:r>
          </a:p>
          <a:p>
            <a:r>
              <a:rPr lang="en-SG" dirty="0" smtClean="0"/>
              <a:t>Handoff is the agent  being delegated task to.</a:t>
            </a:r>
            <a:endParaRPr lang="en-US" dirty="0"/>
          </a:p>
        </p:txBody>
      </p:sp>
      <p:graphicFrame>
        <p:nvGraphicFramePr>
          <p:cNvPr id="4" name="Table 3"/>
          <p:cNvGraphicFramePr>
            <a:graphicFrameLocks noGrp="1"/>
          </p:cNvGraphicFramePr>
          <p:nvPr/>
        </p:nvGraphicFramePr>
        <p:xfrm>
          <a:off x="2315028" y="4159551"/>
          <a:ext cx="8128000" cy="1854200"/>
        </p:xfrm>
        <a:graphic>
          <a:graphicData uri="http://schemas.openxmlformats.org/drawingml/2006/table">
            <a:tbl>
              <a:tblPr firstRow="1" bandRow="1">
                <a:tableStyleId>{5C22544A-7EE6-4342-B048-85BDC9FD1C3A}</a:tableStyleId>
              </a:tblPr>
              <a:tblGrid>
                <a:gridCol w="4064000"/>
                <a:gridCol w="4064000"/>
              </a:tblGrid>
              <a:tr h="370840">
                <a:tc>
                  <a:txBody>
                    <a:bodyPr/>
                    <a:lstStyle/>
                    <a:p>
                      <a:r>
                        <a:rPr lang="en-SG" dirty="0" smtClean="0"/>
                        <a:t>Agent as tool</a:t>
                      </a:r>
                      <a:endParaRPr lang="en-US" dirty="0"/>
                    </a:p>
                  </a:txBody>
                  <a:tcPr/>
                </a:tc>
                <a:tc>
                  <a:txBody>
                    <a:bodyPr/>
                    <a:lstStyle/>
                    <a:p>
                      <a:r>
                        <a:rPr lang="en-SG" dirty="0" smtClean="0"/>
                        <a:t>Agent</a:t>
                      </a:r>
                      <a:r>
                        <a:rPr lang="en-SG" baseline="0" dirty="0" smtClean="0"/>
                        <a:t> delegation via Handoff</a:t>
                      </a:r>
                      <a:endParaRPr lang="en-US" dirty="0"/>
                    </a:p>
                  </a:txBody>
                  <a:tcPr/>
                </a:tc>
              </a:tr>
              <a:tr h="370840">
                <a:tc>
                  <a:txBody>
                    <a:bodyPr/>
                    <a:lstStyle/>
                    <a:p>
                      <a:r>
                        <a:rPr lang="en-SG" dirty="0" smtClean="0"/>
                        <a:t>Agent1 use Agent2</a:t>
                      </a:r>
                      <a:r>
                        <a:rPr lang="en-SG" baseline="0" dirty="0" smtClean="0"/>
                        <a:t> as tool</a:t>
                      </a:r>
                      <a:endParaRPr lang="en-US" dirty="0"/>
                    </a:p>
                  </a:txBody>
                  <a:tcPr/>
                </a:tc>
                <a:tc>
                  <a:txBody>
                    <a:bodyPr/>
                    <a:lstStyle/>
                    <a:p>
                      <a:r>
                        <a:rPr lang="en-SG" dirty="0" smtClean="0"/>
                        <a:t>Agent1</a:t>
                      </a:r>
                      <a:r>
                        <a:rPr lang="en-SG" baseline="0" dirty="0" smtClean="0"/>
                        <a:t> pass control to Agent2</a:t>
                      </a:r>
                      <a:endParaRPr lang="en-US" dirty="0"/>
                    </a:p>
                  </a:txBody>
                  <a:tcPr/>
                </a:tc>
              </a:tr>
              <a:tr h="370840">
                <a:tc>
                  <a:txBody>
                    <a:bodyPr/>
                    <a:lstStyle/>
                    <a:p>
                      <a:r>
                        <a:rPr lang="en-SG" dirty="0" smtClean="0"/>
                        <a:t>Control pass back to Agent1</a:t>
                      </a:r>
                      <a:endParaRPr lang="en-US" dirty="0"/>
                    </a:p>
                  </a:txBody>
                  <a:tcPr/>
                </a:tc>
                <a:tc>
                  <a:txBody>
                    <a:bodyPr/>
                    <a:lstStyle/>
                    <a:p>
                      <a:r>
                        <a:rPr lang="en-SG" dirty="0" smtClean="0"/>
                        <a:t>Control pass to Agent2</a:t>
                      </a:r>
                      <a:endParaRPr lang="en-US" dirty="0"/>
                    </a:p>
                  </a:txBody>
                  <a:tcPr/>
                </a:tc>
              </a:tr>
              <a:tr h="370840">
                <a:tc>
                  <a:txBody>
                    <a:bodyPr/>
                    <a:lstStyle/>
                    <a:p>
                      <a:endParaRPr lang="en-US"/>
                    </a:p>
                  </a:txBody>
                  <a:tcPr/>
                </a:tc>
                <a:tc>
                  <a:txBody>
                    <a:bodyPr/>
                    <a:lstStyle/>
                    <a:p>
                      <a:endParaRPr lang="en-US"/>
                    </a:p>
                  </a:txBody>
                  <a:tcPr/>
                </a:tc>
              </a:tr>
              <a:tr h="370840">
                <a:tc>
                  <a:txBody>
                    <a:bodyPr/>
                    <a:lstStyle/>
                    <a:p>
                      <a:endParaRPr lang="en-US"/>
                    </a:p>
                  </a:txBody>
                  <a:tcPr/>
                </a:tc>
                <a:tc>
                  <a:txBody>
                    <a:bodyPr/>
                    <a:lstStyle/>
                    <a:p>
                      <a:endParaRPr lang="en-US" dirty="0"/>
                    </a:p>
                  </a:txBody>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Guardrail</a:t>
            </a:r>
            <a:endParaRPr lang="en-US" dirty="0"/>
          </a:p>
        </p:txBody>
      </p:sp>
      <p:sp>
        <p:nvSpPr>
          <p:cNvPr id="3" name="Content Placeholder 2"/>
          <p:cNvSpPr>
            <a:spLocks noGrp="1"/>
          </p:cNvSpPr>
          <p:nvPr>
            <p:ph idx="1"/>
          </p:nvPr>
        </p:nvSpPr>
        <p:spPr/>
        <p:txBody>
          <a:bodyPr/>
          <a:lstStyle/>
          <a:p>
            <a:r>
              <a:rPr lang="en-SG" dirty="0" smtClean="0"/>
              <a:t>Check</a:t>
            </a:r>
          </a:p>
          <a:p>
            <a:r>
              <a:rPr lang="en-SG" dirty="0" smtClean="0"/>
              <a:t>Can be LLM</a:t>
            </a:r>
          </a:p>
          <a:p>
            <a:r>
              <a:rPr lang="en-SG" dirty="0" smtClean="0"/>
              <a:t>Used on first agent input</a:t>
            </a:r>
          </a:p>
          <a:p>
            <a:r>
              <a:rPr lang="en-SG" dirty="0" smtClean="0"/>
              <a:t>Used on last agent output</a:t>
            </a:r>
          </a:p>
          <a:p>
            <a:r>
              <a:rPr lang="en-SG" dirty="0" smtClean="0"/>
              <a:t>@</a:t>
            </a:r>
            <a:r>
              <a:rPr lang="en-SG" dirty="0" err="1" smtClean="0"/>
              <a:t>input_guardrail</a:t>
            </a:r>
            <a:r>
              <a:rPr lang="en-SG" dirty="0" smtClean="0"/>
              <a:t> or @</a:t>
            </a:r>
            <a:r>
              <a:rPr lang="en-SG" dirty="0" err="1" smtClean="0"/>
              <a:t>output_guardrail</a:t>
            </a:r>
            <a:endParaRPr lang="en-SG" dirty="0" smtClean="0"/>
          </a:p>
          <a:p>
            <a:r>
              <a:rPr lang="en-SG" dirty="0" smtClean="0"/>
              <a:t>Return </a:t>
            </a:r>
            <a:r>
              <a:rPr lang="en-SG" dirty="0" err="1" smtClean="0"/>
              <a:t>GuardrailFunctionOutput</a:t>
            </a:r>
            <a:r>
              <a:rPr lang="en-SG" dirty="0" smtClean="0"/>
              <a:t>().</a:t>
            </a:r>
          </a:p>
          <a:p>
            <a:r>
              <a:rPr lang="en-SG" dirty="0" err="1" smtClean="0"/>
              <a:t>Tripwire_triggered</a:t>
            </a:r>
            <a:r>
              <a:rPr lang="en-SG" dirty="0" smtClean="0"/>
              <a:t>=true. Triggering of tripwire. Something bad has happened =&gt; trigger.</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85000" lnSpcReduction="20000"/>
          </a:bodyPr>
          <a:lstStyle/>
          <a:p>
            <a:r>
              <a:rPr lang="en-SG" dirty="0" smtClean="0"/>
              <a:t>Llama3.2 can work with </a:t>
            </a:r>
            <a:r>
              <a:rPr lang="en-SG" dirty="0" err="1" smtClean="0"/>
              <a:t>OpenAI</a:t>
            </a:r>
            <a:r>
              <a:rPr lang="en-SG" dirty="0" smtClean="0"/>
              <a:t> SDK but llama3.1 cannot.</a:t>
            </a:r>
          </a:p>
          <a:p>
            <a:r>
              <a:rPr lang="en-SG" dirty="0" smtClean="0"/>
              <a:t>Wrong</a:t>
            </a:r>
          </a:p>
          <a:p>
            <a:r>
              <a:rPr lang="en-SG" dirty="0" smtClean="0"/>
              <a:t>2_lab2 can work but 2_lab3 cannot. Need to find out why.</a:t>
            </a:r>
          </a:p>
          <a:p>
            <a:r>
              <a:rPr lang="en-SG" dirty="0" smtClean="0"/>
              <a:t>Find out the reason</a:t>
            </a:r>
          </a:p>
          <a:p>
            <a:r>
              <a:rPr lang="en-US" dirty="0" err="1" smtClean="0"/>
              <a:t>model_name</a:t>
            </a:r>
            <a:r>
              <a:rPr lang="en-US" dirty="0" smtClean="0"/>
              <a:t> = "</a:t>
            </a:r>
            <a:r>
              <a:rPr lang="en-US" dirty="0" smtClean="0"/>
              <a:t>llama3.1“</a:t>
            </a:r>
          </a:p>
          <a:p>
            <a:r>
              <a:rPr lang="en-US" dirty="0" err="1" smtClean="0"/>
              <a:t>ollama_client</a:t>
            </a:r>
            <a:r>
              <a:rPr lang="en-US" dirty="0" smtClean="0"/>
              <a:t> = </a:t>
            </a:r>
            <a:r>
              <a:rPr lang="en-US" dirty="0" err="1" smtClean="0"/>
              <a:t>AsyncOpenAI</a:t>
            </a:r>
            <a:r>
              <a:rPr lang="en-US" dirty="0" smtClean="0"/>
              <a:t>(</a:t>
            </a:r>
            <a:r>
              <a:rPr lang="en-US" dirty="0" err="1" smtClean="0"/>
              <a:t>base_url</a:t>
            </a:r>
            <a:r>
              <a:rPr lang="en-US" dirty="0" smtClean="0"/>
              <a:t>=OLLAMA_BASE_URL, </a:t>
            </a:r>
            <a:r>
              <a:rPr lang="en-US" dirty="0" err="1" smtClean="0"/>
              <a:t>api_key</a:t>
            </a:r>
            <a:r>
              <a:rPr lang="en-US" dirty="0" smtClean="0"/>
              <a:t>=</a:t>
            </a:r>
            <a:r>
              <a:rPr lang="en-US" dirty="0" err="1" smtClean="0"/>
              <a:t>api_key</a:t>
            </a:r>
            <a:r>
              <a:rPr lang="en-US" dirty="0" smtClean="0"/>
              <a:t>)</a:t>
            </a:r>
          </a:p>
          <a:p>
            <a:r>
              <a:rPr lang="en-US" dirty="0" smtClean="0"/>
              <a:t>llama3_2_model = </a:t>
            </a:r>
            <a:r>
              <a:rPr lang="en-US" dirty="0" err="1" smtClean="0"/>
              <a:t>OpenAIChatCompletionsModel</a:t>
            </a:r>
            <a:r>
              <a:rPr lang="en-US" dirty="0" smtClean="0"/>
              <a:t>(model=</a:t>
            </a:r>
            <a:r>
              <a:rPr lang="en-US" dirty="0" err="1" smtClean="0"/>
              <a:t>model_name</a:t>
            </a:r>
            <a:r>
              <a:rPr lang="en-US" dirty="0" smtClean="0"/>
              <a:t>, </a:t>
            </a:r>
            <a:r>
              <a:rPr lang="en-US" dirty="0" err="1" smtClean="0"/>
              <a:t>openai_client</a:t>
            </a:r>
            <a:r>
              <a:rPr lang="en-US" dirty="0" smtClean="0"/>
              <a:t>=</a:t>
            </a:r>
            <a:r>
              <a:rPr lang="en-US" dirty="0" err="1" smtClean="0"/>
              <a:t>ollama_client</a:t>
            </a:r>
            <a:r>
              <a:rPr lang="en-US" dirty="0" smtClean="0"/>
              <a:t>)</a:t>
            </a:r>
            <a:endParaRPr lang="en-US" dirty="0" smtClean="0"/>
          </a:p>
          <a:p>
            <a:r>
              <a:rPr lang="en-US" dirty="0" smtClean="0"/>
              <a:t>sales_agent1 </a:t>
            </a:r>
            <a:r>
              <a:rPr lang="en-US" dirty="0" smtClean="0"/>
              <a:t>= Agent(name="</a:t>
            </a:r>
            <a:r>
              <a:rPr lang="en-US" dirty="0" err="1" smtClean="0"/>
              <a:t>DeepSeek</a:t>
            </a:r>
            <a:r>
              <a:rPr lang="en-US" dirty="0" smtClean="0"/>
              <a:t> Sales Agent", instructions=instructions1, model</a:t>
            </a:r>
            <a:r>
              <a:rPr lang="en-US" dirty="0" smtClean="0"/>
              <a:t>=</a:t>
            </a:r>
            <a:r>
              <a:rPr lang="en-US" dirty="0" smtClean="0"/>
              <a:t> </a:t>
            </a:r>
            <a:r>
              <a:rPr lang="en-US" dirty="0" err="1" smtClean="0"/>
              <a:t>model_name</a:t>
            </a:r>
            <a:r>
              <a:rPr lang="en-US" dirty="0" smtClean="0"/>
              <a:t>) </a:t>
            </a:r>
            <a:r>
              <a:rPr lang="en-SG" dirty="0" smtClean="0"/>
              <a:t>Is wrong</a:t>
            </a:r>
          </a:p>
          <a:p>
            <a:r>
              <a:rPr lang="en-US" dirty="0" smtClean="0"/>
              <a:t>sales_agent1 = Agent(name="</a:t>
            </a:r>
            <a:r>
              <a:rPr lang="en-US" dirty="0" err="1" smtClean="0"/>
              <a:t>DeepSeek</a:t>
            </a:r>
            <a:r>
              <a:rPr lang="en-US" dirty="0" smtClean="0"/>
              <a:t> Sales Agent", instructions=instructions1, model= llama3_2_model </a:t>
            </a:r>
            <a:r>
              <a:rPr lang="en-US" dirty="0" smtClean="0"/>
              <a:t>Is correct</a:t>
            </a:r>
            <a:endParaRPr lang="en-US" dirty="0" smtClean="0"/>
          </a:p>
          <a:p>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Guardrail fail to work reliably, maybe because email instruction does not tally with sending message instead of email.</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smtClean="0"/>
              <a:t>W2D4: Deep research</a:t>
            </a:r>
            <a:endParaRPr lang="en-US" dirty="0"/>
          </a:p>
        </p:txBody>
      </p:sp>
      <p:sp>
        <p:nvSpPr>
          <p:cNvPr id="3" name="Content Placeholder 2"/>
          <p:cNvSpPr>
            <a:spLocks noGrp="1"/>
          </p:cNvSpPr>
          <p:nvPr>
            <p:ph idx="1"/>
          </p:nvPr>
        </p:nvSpPr>
        <p:spPr/>
        <p:txBody>
          <a:bodyPr/>
          <a:lstStyle/>
          <a:p>
            <a:r>
              <a:rPr lang="en-SG" dirty="0" err="1" smtClean="0"/>
              <a:t>OpenAI</a:t>
            </a:r>
            <a:r>
              <a:rPr lang="en-SG" dirty="0" smtClean="0"/>
              <a:t> hosted tools:</a:t>
            </a:r>
          </a:p>
          <a:p>
            <a:pPr lvl="1"/>
            <a:r>
              <a:rPr lang="en-SG" dirty="0" err="1" smtClean="0"/>
              <a:t>Websearch</a:t>
            </a:r>
            <a:r>
              <a:rPr lang="en-SG" dirty="0" smtClean="0"/>
              <a:t> tool (using this only) Quite expensive. 2.5cents per call.</a:t>
            </a:r>
          </a:p>
          <a:p>
            <a:pPr lvl="1"/>
            <a:r>
              <a:rPr lang="en-SG" dirty="0" err="1" smtClean="0"/>
              <a:t>Filesearch</a:t>
            </a:r>
            <a:r>
              <a:rPr lang="en-SG" dirty="0" smtClean="0"/>
              <a:t> tool</a:t>
            </a:r>
          </a:p>
          <a:p>
            <a:pPr lvl="1"/>
            <a:r>
              <a:rPr lang="en-SG" dirty="0" smtClean="0"/>
              <a:t>Computer tool</a:t>
            </a:r>
          </a:p>
          <a:p>
            <a:r>
              <a:rPr lang="en-SG" dirty="0" smtClean="0"/>
              <a:t>Important to put comment below field so AI knows the rationale</a:t>
            </a:r>
            <a:r>
              <a:rPr lang="en-SG" dirty="0" smtClean="0"/>
              <a:t>?</a:t>
            </a:r>
          </a:p>
          <a:p>
            <a:r>
              <a:rPr lang="en-SG" dirty="0" smtClean="0"/>
              <a:t>Putting the reason b4 the query has better performance.</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SG" dirty="0" smtClean="0"/>
              <a:t>From notebook (</a:t>
            </a:r>
            <a:r>
              <a:rPr lang="en-SG" dirty="0" err="1" smtClean="0"/>
              <a:t>ipynb</a:t>
            </a:r>
            <a:r>
              <a:rPr lang="en-SG" dirty="0" smtClean="0"/>
              <a:t>, experimental) to module (.</a:t>
            </a:r>
            <a:r>
              <a:rPr lang="en-SG" dirty="0" err="1" smtClean="0"/>
              <a:t>py</a:t>
            </a:r>
            <a:r>
              <a:rPr lang="en-SG" dirty="0" smtClean="0"/>
              <a:t>, deployable)</a:t>
            </a:r>
          </a:p>
          <a:p>
            <a:r>
              <a:rPr lang="en-US" dirty="0" smtClean="0"/>
              <a:t>tools=[</a:t>
            </a:r>
            <a:r>
              <a:rPr lang="en-US" dirty="0" err="1" smtClean="0"/>
              <a:t>WebSearchTool</a:t>
            </a:r>
            <a:r>
              <a:rPr lang="en-US" dirty="0" smtClean="0"/>
              <a:t>(</a:t>
            </a:r>
            <a:r>
              <a:rPr lang="en-US" dirty="0" err="1" smtClean="0"/>
              <a:t>search_context_size</a:t>
            </a:r>
            <a:r>
              <a:rPr lang="en-US" dirty="0" smtClean="0"/>
              <a:t>="low</a:t>
            </a:r>
            <a:r>
              <a:rPr lang="en-US" dirty="0" smtClean="0"/>
              <a:t>")],: to keep the cost of </a:t>
            </a:r>
            <a:r>
              <a:rPr lang="en-US" dirty="0" err="1" smtClean="0"/>
              <a:t>websearch</a:t>
            </a:r>
            <a:r>
              <a:rPr lang="en-US" dirty="0" smtClean="0"/>
              <a:t> low, use search context size as low</a:t>
            </a:r>
          </a:p>
          <a:p>
            <a:r>
              <a:rPr lang="en-SG" dirty="0" smtClean="0"/>
              <a:t>Use yield for generator.</a:t>
            </a:r>
          </a:p>
          <a:p>
            <a:r>
              <a:rPr lang="en-SG" dirty="0" err="1" smtClean="0"/>
              <a:t>Gradio</a:t>
            </a:r>
            <a:r>
              <a:rPr lang="en-SG" dirty="0" smtClean="0"/>
              <a:t> let data scientist build great UI.</a:t>
            </a:r>
          </a:p>
          <a:p>
            <a:r>
              <a:rPr lang="en-SG" dirty="0" smtClean="0"/>
              <a:t>Ask the AI to generate clarifying questions and use the clarifications to tune the search.</a:t>
            </a:r>
          </a:p>
          <a:p>
            <a:r>
              <a:rPr lang="en-SG" dirty="0" smtClean="0"/>
              <a:t>Make the manager </a:t>
            </a:r>
            <a:r>
              <a:rPr lang="en-SG" dirty="0" err="1" smtClean="0"/>
              <a:t>agentic</a:t>
            </a:r>
            <a:r>
              <a:rPr lang="en-SG" dirty="0" smtClean="0"/>
              <a:t> by giving it agents as tools </a:t>
            </a:r>
            <a:r>
              <a:rPr lang="en-SG" smtClean="0"/>
              <a:t>or handoffs.</a:t>
            </a:r>
            <a:endParaRPr lang="en-US" smtClean="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1397</TotalTime>
  <Words>2081</Words>
  <Application>Microsoft Office PowerPoint</Application>
  <PresentationFormat>Custom</PresentationFormat>
  <Paragraphs>317</Paragraphs>
  <Slides>54</Slides>
  <Notes>0</Notes>
  <HiddenSlides>0</HiddenSlides>
  <MMClips>0</MMClips>
  <ScaleCrop>false</ScaleCrop>
  <HeadingPairs>
    <vt:vector size="4" baseType="variant">
      <vt:variant>
        <vt:lpstr>Theme</vt:lpstr>
      </vt:variant>
      <vt:variant>
        <vt:i4>1</vt:i4>
      </vt:variant>
      <vt:variant>
        <vt:lpstr>Slide Titles</vt:lpstr>
      </vt:variant>
      <vt:variant>
        <vt:i4>54</vt:i4>
      </vt:variant>
    </vt:vector>
  </HeadingPairs>
  <TitlesOfParts>
    <vt:vector size="55" baseType="lpstr">
      <vt:lpstr>Office Theme</vt:lpstr>
      <vt:lpstr>AI Engineer Agentic Track</vt:lpstr>
      <vt:lpstr>n8n</vt:lpstr>
      <vt:lpstr>Course intro</vt:lpstr>
      <vt:lpstr>Lesson Plan</vt:lpstr>
      <vt:lpstr>Slide 5</vt:lpstr>
      <vt:lpstr>For who</vt:lpstr>
      <vt:lpstr>Tools</vt:lpstr>
      <vt:lpstr>API cost</vt:lpstr>
      <vt:lpstr>Ed Donner github</vt:lpstr>
      <vt:lpstr>Setup on Windows</vt:lpstr>
      <vt:lpstr>Use ollama instead of OpenAI</vt:lpstr>
      <vt:lpstr>Slide 12</vt:lpstr>
      <vt:lpstr>Agentic AI framework</vt:lpstr>
      <vt:lpstr>Slide 14</vt:lpstr>
      <vt:lpstr>AutoGen (AG)</vt:lpstr>
      <vt:lpstr>Slide 16</vt:lpstr>
      <vt:lpstr>Slide 17</vt:lpstr>
      <vt:lpstr>Model Control Protocol (MCP)</vt:lpstr>
      <vt:lpstr>Slide 19</vt:lpstr>
      <vt:lpstr>1_lab1</vt:lpstr>
      <vt:lpstr>6 week course</vt:lpstr>
      <vt:lpstr>What is Agents</vt:lpstr>
      <vt:lpstr>Workflow</vt:lpstr>
      <vt:lpstr>Agents vs workflow</vt:lpstr>
      <vt:lpstr>Lesson 11</vt:lpstr>
      <vt:lpstr>Vellum leaderboard</vt:lpstr>
      <vt:lpstr>Set up API key from vendor</vt:lpstr>
      <vt:lpstr>Where to use role=system vs user</vt:lpstr>
      <vt:lpstr>Slide 29</vt:lpstr>
      <vt:lpstr>Agentic AI fw</vt:lpstr>
      <vt:lpstr>resources</vt:lpstr>
      <vt:lpstr>tool</vt:lpstr>
      <vt:lpstr>Slide 33</vt:lpstr>
      <vt:lpstr>Pydantic model</vt:lpstr>
      <vt:lpstr>Pig latin</vt:lpstr>
      <vt:lpstr>Pushover Tool</vt:lpstr>
      <vt:lpstr>Week1 Day5</vt:lpstr>
      <vt:lpstr>Slide 38</vt:lpstr>
      <vt:lpstr>Week1 Day5 extra</vt:lpstr>
      <vt:lpstr>Week2</vt:lpstr>
      <vt:lpstr>OpenAI Agents SDK</vt:lpstr>
      <vt:lpstr>Sample code to use ollama to do OpenAI</vt:lpstr>
      <vt:lpstr>Slide 43</vt:lpstr>
      <vt:lpstr>Vibe coding</vt:lpstr>
      <vt:lpstr>W2D2: SDR (Sales Development Rep)</vt:lpstr>
      <vt:lpstr>sendgrid</vt:lpstr>
      <vt:lpstr>Difference between run and run_streamed</vt:lpstr>
      <vt:lpstr>Slide 48</vt:lpstr>
      <vt:lpstr>Slide 49</vt:lpstr>
      <vt:lpstr>Guardrail</vt:lpstr>
      <vt:lpstr>Slide 51</vt:lpstr>
      <vt:lpstr>Slide 52</vt:lpstr>
      <vt:lpstr>W2D4: Deep research</vt:lpstr>
      <vt:lpstr>Slide 54</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Engineer Agentic Track</dc:title>
  <dc:creator>Huang Wenjun</dc:creator>
  <cp:lastModifiedBy>Wenjun Huang</cp:lastModifiedBy>
  <cp:revision>152</cp:revision>
  <dcterms:created xsi:type="dcterms:W3CDTF">2026-04-15T05:10:34Z</dcterms:created>
  <dcterms:modified xsi:type="dcterms:W3CDTF">2026-05-02T17:15:10Z</dcterms:modified>
</cp:coreProperties>
</file>