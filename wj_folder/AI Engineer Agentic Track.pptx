
<file path=[Content_Types].xml><?xml version="1.0" encoding="utf-8"?>
<Types xmlns="http://schemas.openxmlformats.org/package/2006/content-types">
  <Override PartName="/ppt/slides/slide6.xml" ContentType="application/vnd.openxmlformats-officedocument.presentationml.slide+xml"/>
  <Override PartName="/ppt/slides/slide29.xml" ContentType="application/vnd.openxmlformats-officedocument.presentationml.slide+xml"/>
  <Override PartName="/ppt/slides/slide38.xml" ContentType="application/vnd.openxmlformats-officedocument.presentationml.slide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27.xml" ContentType="application/vnd.openxmlformats-officedocument.presentationml.slide+xml"/>
  <Override PartName="/ppt/slides/slide36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2.xml" ContentType="application/vnd.openxmlformats-officedocument.presentationml.slide+xml"/>
  <Override PartName="/ppt/slides/slide16.xml" ContentType="application/vnd.openxmlformats-officedocument.presentationml.slide+xml"/>
  <Override PartName="/ppt/slides/slide25.xml" ContentType="application/vnd.openxmlformats-officedocument.presentationml.slide+xml"/>
  <Override PartName="/ppt/slides/slide34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0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28.xml" ContentType="application/vnd.openxmlformats-officedocument.presentationml.slide+xml"/>
  <Override PartName="/ppt/slides/slide39.xml" ContentType="application/vnd.openxmlformats-officedocument.presentationml.slide+xml"/>
  <Override PartName="/ppt/slideLayouts/slideLayout7.xml" ContentType="application/vnd.openxmlformats-officedocument.presentationml.slideLayout+xml"/>
  <Default Extension="png" ContentType="image/png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26.xml" ContentType="application/vnd.openxmlformats-officedocument.presentationml.slide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slideLayouts/slideLayout5.xml" ContentType="application/vnd.openxmlformats-officedocument.presentationml.slideLayout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24.xml" ContentType="application/vnd.openxmlformats-officedocument.presentationml.slide+xml"/>
  <Override PartName="/ppt/slides/slide33.xml" ContentType="application/vnd.openxmlformats-officedocument.presentationml.slide+xml"/>
  <Override PartName="/ppt/slides/slide35.xml" ContentType="application/vnd.openxmlformats-officedocument.presentationml.slide+xml"/>
  <Override PartName="/ppt/slideLayouts/slideLayout3.xml" ContentType="application/vnd.openxmlformats-officedocument.presentationml.slideLayout+xml"/>
  <Default Extension="jpeg" ContentType="image/jpeg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71" r:id="rId3"/>
    <p:sldId id="272" r:id="rId4"/>
    <p:sldId id="273" r:id="rId5"/>
    <p:sldId id="274" r:id="rId6"/>
    <p:sldId id="275" r:id="rId7"/>
    <p:sldId id="259" r:id="rId8"/>
    <p:sldId id="260" r:id="rId9"/>
    <p:sldId id="261" r:id="rId10"/>
    <p:sldId id="262" r:id="rId11"/>
    <p:sldId id="276" r:id="rId12"/>
    <p:sldId id="277" r:id="rId13"/>
    <p:sldId id="263" r:id="rId14"/>
    <p:sldId id="265" r:id="rId15"/>
    <p:sldId id="266" r:id="rId16"/>
    <p:sldId id="267" r:id="rId17"/>
    <p:sldId id="268" r:id="rId18"/>
    <p:sldId id="269" r:id="rId19"/>
    <p:sldId id="278" r:id="rId20"/>
    <p:sldId id="279" r:id="rId21"/>
    <p:sldId id="280" r:id="rId22"/>
    <p:sldId id="281" r:id="rId23"/>
    <p:sldId id="282" r:id="rId24"/>
    <p:sldId id="283" r:id="rId25"/>
    <p:sldId id="284" r:id="rId26"/>
    <p:sldId id="270" r:id="rId27"/>
    <p:sldId id="285" r:id="rId28"/>
    <p:sldId id="286" r:id="rId29"/>
    <p:sldId id="287" r:id="rId30"/>
    <p:sldId id="288" r:id="rId31"/>
    <p:sldId id="289" r:id="rId32"/>
    <p:sldId id="290" r:id="rId33"/>
    <p:sldId id="291" r:id="rId34"/>
    <p:sldId id="292" r:id="rId35"/>
    <p:sldId id="293" r:id="rId36"/>
    <p:sldId id="264" r:id="rId37"/>
    <p:sldId id="294" r:id="rId38"/>
    <p:sldId id="295" r:id="rId39"/>
    <p:sldId id="296" r:id="rId4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 xmlns="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xmlns="" val="0"/>
    </p:ext>
    <p:ext uri="{D31A062A-798A-4329-ABDD-BBA856620510}">
      <p14:defaultImageDpi xmlns:p14="http://schemas.microsoft.com/office/powerpoint/2010/main" xmlns="" val="32767"/>
    </p:ext>
    <p:ext uri="{FD5EFAAD-0ECE-453E-9831-46B23BE46B34}">
      <p15:chartTrackingRefBased xmlns:p15="http://schemas.microsoft.com/office/powerpoint/2012/main" xmlns="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horzBarState="maximized">
    <p:restoredLeft sz="15987" autoAdjust="0"/>
    <p:restoredTop sz="94660"/>
  </p:normalViewPr>
  <p:slideViewPr>
    <p:cSldViewPr snapToGrid="0">
      <p:cViewPr varScale="1">
        <p:scale>
          <a:sx n="44" d="100"/>
          <a:sy n="44" d="100"/>
        </p:scale>
        <p:origin x="-108" y="-76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35B3E28E-18CE-48AC-B6DC-8A8656CDEDB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xmlns="" id="{2B6A52DD-2FAB-4A70-B6D2-95F094A8B4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04BAD745-F79C-4969-B66B-32EAF85AEB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233E07-AC5D-4A66-9D8F-502DF1D54D74}" type="datetimeFigureOut">
              <a:rPr lang="en-SG" smtClean="0"/>
              <a:pPr/>
              <a:t>2/5/2026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1C786EE0-F04B-4BBE-8583-F02BC47C4A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9A99FA26-9A64-457F-8D29-D065353FF9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464D15-4076-4753-9929-926202C46B32}" type="slidenum">
              <a:rPr lang="en-SG" smtClean="0"/>
              <a:pPr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xmlns="" val="26679223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B55AF50E-259D-4420-9188-F51DD2BAFD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A73F7E3F-7470-4510-A780-183E65AC18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A54D4AD1-EA5B-4614-A5E6-D63FC76F35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233E07-AC5D-4A66-9D8F-502DF1D54D74}" type="datetimeFigureOut">
              <a:rPr lang="en-SG" smtClean="0"/>
              <a:pPr/>
              <a:t>2/5/2026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718FB14E-3AD2-47F4-A1D1-E1C9AC9885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A17876F6-21A2-4792-B530-0A93D3DBC8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464D15-4076-4753-9929-926202C46B32}" type="slidenum">
              <a:rPr lang="en-SG" smtClean="0"/>
              <a:pPr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xmlns="" val="29934519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56B6865F-0872-4848-9520-4A864C6024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F0AC7D33-E69A-4B17-A1A3-EE468AAB63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072E0E53-7128-4B7B-A804-96C3DFBB3B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233E07-AC5D-4A66-9D8F-502DF1D54D74}" type="datetimeFigureOut">
              <a:rPr lang="en-SG" smtClean="0"/>
              <a:pPr/>
              <a:t>2/5/2026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5B6BECC3-1CCF-43E3-958B-064CE362C5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120A9F1B-A0D5-4299-91F8-A52B32E0FC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464D15-4076-4753-9929-926202C46B32}" type="slidenum">
              <a:rPr lang="en-SG" smtClean="0"/>
              <a:pPr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xmlns="" val="39599360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8F9F2B6E-2A11-419C-9C74-50A4095041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D4E0461F-DECA-4D9E-B39B-D6350255325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xmlns="" id="{ED21C229-1E37-4349-B92D-45D8027964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xmlns="" id="{9CF20FF1-9E73-47C2-841C-37A7861B81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233E07-AC5D-4A66-9D8F-502DF1D54D74}" type="datetimeFigureOut">
              <a:rPr lang="en-SG" smtClean="0"/>
              <a:pPr/>
              <a:t>2/5/2026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xmlns="" id="{2F30EA0D-F4E5-4D2C-A310-EBF53519CA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xmlns="" id="{CF787CF5-3FEA-4D0A-9F31-87D4A8BFAF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464D15-4076-4753-9929-926202C46B32}" type="slidenum">
              <a:rPr lang="en-SG" smtClean="0"/>
              <a:pPr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xmlns="" val="35211831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5F64066D-E371-4B98-91E9-0205C29A38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6D291F3E-6BB8-40EA-9642-81AC285756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xmlns="" id="{E3D71627-C43B-41B9-93D1-AC127EDF175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xmlns="" id="{5729F57F-2C4A-426A-B528-A9A6B27490E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xmlns="" id="{108BBCD7-113F-42D8-808C-51BE80459DA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xmlns="" id="{5F58795B-42BC-4C90-9D35-999C22D272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233E07-AC5D-4A66-9D8F-502DF1D54D74}" type="datetimeFigureOut">
              <a:rPr lang="en-SG" smtClean="0"/>
              <a:pPr/>
              <a:t>2/5/2026</a:t>
            </a:fld>
            <a:endParaRPr lang="en-SG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xmlns="" id="{861A241B-A482-4DAF-AD71-BA7868572B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xmlns="" id="{0C6BBAEC-4E21-45B9-BBFD-9985DE6368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464D15-4076-4753-9929-926202C46B32}" type="slidenum">
              <a:rPr lang="en-SG" smtClean="0"/>
              <a:pPr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xmlns="" val="914358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52F449E6-7ECD-49C3-BBCA-72C0674AAB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xmlns="" id="{14BF4CAD-2675-48FF-8155-9287FBE772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233E07-AC5D-4A66-9D8F-502DF1D54D74}" type="datetimeFigureOut">
              <a:rPr lang="en-SG" smtClean="0"/>
              <a:pPr/>
              <a:t>2/5/2026</a:t>
            </a:fld>
            <a:endParaRPr lang="en-SG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xmlns="" id="{8FFBF989-35FF-4401-A869-05969EAB71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xmlns="" id="{EA4B274A-A165-4443-9574-895CE8597D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464D15-4076-4753-9929-926202C46B32}" type="slidenum">
              <a:rPr lang="en-SG" smtClean="0"/>
              <a:pPr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xmlns="" val="12042352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xmlns="" id="{3636E2EB-85F6-469D-914B-2EDEB5DC10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233E07-AC5D-4A66-9D8F-502DF1D54D74}" type="datetimeFigureOut">
              <a:rPr lang="en-SG" smtClean="0"/>
              <a:pPr/>
              <a:t>2/5/2026</a:t>
            </a:fld>
            <a:endParaRPr lang="en-SG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xmlns="" id="{6871A4C5-FEB3-494D-8286-AFA5B25B8D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C7C7AE82-9387-4C55-89BB-24A45AD505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464D15-4076-4753-9929-926202C46B32}" type="slidenum">
              <a:rPr lang="en-SG" smtClean="0"/>
              <a:pPr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xmlns="" val="30138255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B23E936D-8829-4BB8-A867-54E0457C0D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88A3C72F-CEE9-48FB-9F11-D0586F2ED1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xmlns="" id="{C4C40591-FB62-4D16-8640-1C1A1B5E6D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xmlns="" id="{E7838D76-9F15-4280-9050-14326E6BFB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233E07-AC5D-4A66-9D8F-502DF1D54D74}" type="datetimeFigureOut">
              <a:rPr lang="en-SG" smtClean="0"/>
              <a:pPr/>
              <a:t>2/5/2026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xmlns="" id="{76F20088-3883-4889-97AF-802D607B17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xmlns="" id="{0734916A-9F25-4A31-8882-DBF7DB057B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464D15-4076-4753-9929-926202C46B32}" type="slidenum">
              <a:rPr lang="en-SG" smtClean="0"/>
              <a:pPr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xmlns="" val="18825920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9B2AB50C-175F-4F42-A189-809867FA96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xmlns="" id="{8E890ACF-AFD2-4AB2-821E-F00C5F31A5F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xmlns="" id="{60043709-C786-4B05-99B9-88AEC37D966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xmlns="" id="{D22D6C43-B6F1-408C-8A0F-770601C25F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233E07-AC5D-4A66-9D8F-502DF1D54D74}" type="datetimeFigureOut">
              <a:rPr lang="en-SG" smtClean="0"/>
              <a:pPr/>
              <a:t>2/5/2026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xmlns="" id="{0678BD1D-21CC-4DE7-BEE1-D623B02A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xmlns="" id="{FEA3AE7A-6AFE-4DC8-8036-9C9684DA82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464D15-4076-4753-9929-926202C46B32}" type="slidenum">
              <a:rPr lang="en-SG" smtClean="0"/>
              <a:pPr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xmlns="" val="12591846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3AAA867B-006D-4CFD-B0EC-6278F9C6F3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xmlns="" id="{6B68286A-F7B1-4E68-85D2-589B8E6EB3D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0ABE87C5-816E-492F-A0B6-37580D37F9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233E07-AC5D-4A66-9D8F-502DF1D54D74}" type="datetimeFigureOut">
              <a:rPr lang="en-SG" smtClean="0"/>
              <a:pPr/>
              <a:t>2/5/2026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CCCB506B-7592-40AA-96EF-65E8E107D9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60B3A27B-7FBB-4800-A8DA-288A2A7FA3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464D15-4076-4753-9929-926202C46B32}" type="slidenum">
              <a:rPr lang="en-SG" smtClean="0"/>
              <a:pPr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xmlns="" val="17899930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xmlns="" id="{E3CAE2E0-E6B1-495D-AC76-5924F353B30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xmlns="" id="{14D381DB-6117-4A94-B30D-F3575482587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D9F0CC51-792E-4BE0-B368-1BAD7EC305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233E07-AC5D-4A66-9D8F-502DF1D54D74}" type="datetimeFigureOut">
              <a:rPr lang="en-SG" smtClean="0"/>
              <a:pPr/>
              <a:t>2/5/2026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671D2F8B-58E9-4E4B-BAE5-CFEBD5297B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B7291426-4EDB-4891-B650-32D85684F4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464D15-4076-4753-9929-926202C46B32}" type="slidenum">
              <a:rPr lang="en-SG" smtClean="0"/>
              <a:pPr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xmlns="" val="22646616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xmlns="" id="{565E2B54-3CD0-4C6D-91BB-5B801A35BF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7E131115-64CF-40C8-98C8-CCA45F6254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335DEB0A-461F-440E-B604-1DF75527DA2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9233E07-AC5D-4A66-9D8F-502DF1D54D74}" type="datetimeFigureOut">
              <a:rPr lang="en-SG" smtClean="0"/>
              <a:pPr/>
              <a:t>2/5/2026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3A0B83EB-4DE8-4EB6-BBCA-61BE02C9F44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AF537C43-4A9B-4640-A015-72897086917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464D15-4076-4753-9929-926202C46B32}" type="slidenum">
              <a:rPr lang="en-SG" smtClean="0"/>
              <a:pPr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xmlns="" val="32896851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astral.sh/uv/" TargetMode="External"/><Relationship Id="rId2" Type="http://schemas.openxmlformats.org/officeDocument/2006/relationships/hyperlink" Target="https://cursor.com/download" TargetMode="Externa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platform.deepseek.com/api_keys" TargetMode="External"/><Relationship Id="rId2" Type="http://schemas.openxmlformats.org/officeDocument/2006/relationships/hyperlink" Target="https://aistudio.google.com/api-keys?project=test-441309" TargetMode="Externa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hyperlink" Target="http://pushover.net/" TargetMode="Externa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54DF952D-8CBE-44DE-B2A1-0F588A32493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AI Engineer Agentic Track</a:t>
            </a:r>
            <a:endParaRPr lang="en-SG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xmlns="" id="{1AA444F2-998C-4660-B8E0-DBD77EAC799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SG"/>
          </a:p>
        </p:txBody>
      </p:sp>
    </p:spTree>
    <p:extLst>
      <p:ext uri="{BB962C8B-B14F-4D97-AF65-F5344CB8AC3E}">
        <p14:creationId xmlns:p14="http://schemas.microsoft.com/office/powerpoint/2010/main" xmlns="" val="30325324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 smtClean="0"/>
              <a:t>n8n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SG" dirty="0" smtClean="0"/>
              <a:t>Open source workflow automation tool</a:t>
            </a:r>
          </a:p>
          <a:p>
            <a:r>
              <a:rPr lang="en-SG" dirty="0" smtClean="0"/>
              <a:t>No code/lo-code</a:t>
            </a:r>
          </a:p>
          <a:p>
            <a:r>
              <a:rPr lang="en-SG" dirty="0" smtClean="0"/>
              <a:t>Agent</a:t>
            </a:r>
          </a:p>
          <a:p>
            <a:pPr lvl="1"/>
            <a:r>
              <a:rPr lang="en-SG" dirty="0" smtClean="0"/>
              <a:t>Chat model (API key)</a:t>
            </a:r>
          </a:p>
          <a:p>
            <a:pPr lvl="2"/>
            <a:r>
              <a:rPr lang="en-SG" dirty="0" smtClean="0"/>
              <a:t>Gpt-4o-mini</a:t>
            </a:r>
          </a:p>
          <a:p>
            <a:pPr lvl="1"/>
            <a:r>
              <a:rPr lang="en-SG" dirty="0" smtClean="0"/>
              <a:t>Tool</a:t>
            </a:r>
          </a:p>
          <a:p>
            <a:pPr lvl="2"/>
            <a:r>
              <a:rPr lang="en-SG" dirty="0" smtClean="0"/>
              <a:t>Philip Hue </a:t>
            </a:r>
            <a:r>
              <a:rPr lang="en-SG" dirty="0" err="1" smtClean="0"/>
              <a:t>lightbulb</a:t>
            </a:r>
            <a:endParaRPr 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 smtClean="0"/>
              <a:t>Course intro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SG" dirty="0" smtClean="0"/>
              <a:t>Theory</a:t>
            </a:r>
          </a:p>
          <a:p>
            <a:r>
              <a:rPr lang="en-SG" dirty="0" smtClean="0"/>
              <a:t>Frameworks</a:t>
            </a:r>
          </a:p>
          <a:p>
            <a:r>
              <a:rPr lang="en-SG" dirty="0" smtClean="0"/>
              <a:t>Projects</a:t>
            </a:r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 smtClean="0"/>
              <a:t>Lesson Plan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SG" dirty="0" smtClean="0"/>
              <a:t>Week1 Foundations</a:t>
            </a:r>
          </a:p>
          <a:p>
            <a:r>
              <a:rPr lang="en-SG" dirty="0" smtClean="0"/>
              <a:t>Week2 </a:t>
            </a:r>
            <a:r>
              <a:rPr lang="en-SG" dirty="0" err="1" smtClean="0"/>
              <a:t>OpenAI</a:t>
            </a:r>
            <a:r>
              <a:rPr lang="en-SG" dirty="0" smtClean="0"/>
              <a:t> Agents SDK</a:t>
            </a:r>
          </a:p>
          <a:p>
            <a:r>
              <a:rPr lang="en-SG" dirty="0" smtClean="0"/>
              <a:t>Week3 Crew AI</a:t>
            </a:r>
          </a:p>
          <a:p>
            <a:r>
              <a:rPr lang="en-SG" dirty="0" smtClean="0"/>
              <a:t>Week4 </a:t>
            </a:r>
            <a:r>
              <a:rPr lang="en-SG" dirty="0" err="1" smtClean="0"/>
              <a:t>LangGraph</a:t>
            </a:r>
            <a:endParaRPr lang="en-SG" dirty="0" smtClean="0"/>
          </a:p>
          <a:p>
            <a:r>
              <a:rPr lang="en-SG" dirty="0" smtClean="0"/>
              <a:t>Week5 MS </a:t>
            </a:r>
            <a:r>
              <a:rPr lang="en-SG" dirty="0" err="1" smtClean="0"/>
              <a:t>AutoGen</a:t>
            </a:r>
            <a:endParaRPr lang="en-SG" dirty="0" smtClean="0"/>
          </a:p>
          <a:p>
            <a:r>
              <a:rPr lang="en-SG" dirty="0" smtClean="0"/>
              <a:t>Week6 MCP</a:t>
            </a:r>
            <a:endParaRPr 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SG" dirty="0" smtClean="0"/>
              <a:t>Blue box: New</a:t>
            </a:r>
          </a:p>
          <a:p>
            <a:r>
              <a:rPr lang="en-SG" dirty="0" smtClean="0"/>
              <a:t>Yellow: Project</a:t>
            </a:r>
          </a:p>
          <a:p>
            <a:r>
              <a:rPr lang="en-SG" dirty="0" smtClean="0"/>
              <a:t>Bright yellow: Major project</a:t>
            </a:r>
            <a:endParaRPr lang="en-US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73CE9E01-EB1A-4CB8-AC8A-A20D0D1418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 who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84D92A84-0FF1-4808-81BF-3058E2244D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Python coder</a:t>
            </a:r>
          </a:p>
          <a:p>
            <a:r>
              <a:rPr lang="en-US" dirty="0"/>
              <a:t>Ai engineer</a:t>
            </a:r>
          </a:p>
          <a:p>
            <a:r>
              <a:rPr lang="en-US" dirty="0"/>
              <a:t>Agent </a:t>
            </a:r>
            <a:r>
              <a:rPr lang="en-US" dirty="0" smtClean="0"/>
              <a:t>engineer</a:t>
            </a:r>
          </a:p>
          <a:p>
            <a:pPr>
              <a:buNone/>
            </a:pPr>
            <a:endParaRPr lang="en-SG" dirty="0" smtClean="0"/>
          </a:p>
          <a:p>
            <a:pPr>
              <a:buNone/>
            </a:pPr>
            <a:r>
              <a:rPr lang="en-SG" dirty="0" smtClean="0"/>
              <a:t>Using </a:t>
            </a:r>
            <a:r>
              <a:rPr lang="en-SG" dirty="0" err="1" smtClean="0"/>
              <a:t>py</a:t>
            </a:r>
            <a:r>
              <a:rPr lang="en-SG" dirty="0" smtClean="0"/>
              <a:t> and </a:t>
            </a:r>
            <a:r>
              <a:rPr lang="en-SG" dirty="0" err="1" smtClean="0"/>
              <a:t>ipynb</a:t>
            </a:r>
            <a:r>
              <a:rPr lang="en-SG" dirty="0" smtClean="0"/>
              <a:t> in this course</a:t>
            </a:r>
            <a:endParaRPr lang="en-US" dirty="0"/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Can take LLM engineering course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xmlns="" val="7746290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5FF0256A-0B1A-4081-911D-42235E9E03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Tools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9EAC19C5-838A-474B-A502-EABC580DB2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Cursor is AI platform powered by </a:t>
            </a:r>
            <a:r>
              <a:rPr lang="en-US" dirty="0" smtClean="0"/>
              <a:t>LLM</a:t>
            </a:r>
          </a:p>
          <a:p>
            <a:pPr lvl="1"/>
            <a:r>
              <a:rPr lang="en-SG" dirty="0" smtClean="0"/>
              <a:t>Build on top of </a:t>
            </a:r>
            <a:r>
              <a:rPr lang="en-SG" dirty="0" err="1" smtClean="0"/>
              <a:t>VSCode</a:t>
            </a:r>
            <a:endParaRPr lang="en-SG" dirty="0" smtClean="0"/>
          </a:p>
          <a:p>
            <a:pPr lvl="1"/>
            <a:r>
              <a:rPr lang="en-SG" dirty="0" smtClean="0"/>
              <a:t>AI features</a:t>
            </a:r>
            <a:endParaRPr lang="en-US" dirty="0"/>
          </a:p>
          <a:p>
            <a:r>
              <a:rPr lang="en-US" dirty="0" smtClean="0"/>
              <a:t>UV</a:t>
            </a:r>
          </a:p>
          <a:p>
            <a:pPr lvl="1"/>
            <a:r>
              <a:rPr lang="en-SG" dirty="0" err="1" smtClean="0"/>
              <a:t>CrewAI</a:t>
            </a:r>
            <a:r>
              <a:rPr lang="en-SG" dirty="0" smtClean="0"/>
              <a:t> is built on UV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xmlns="" val="34916951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3B3D7ADA-595E-423D-A86D-6F06E6DECF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API cost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781F4E2E-B83A-4464-915E-BEFF38D8A3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Deepseek</a:t>
            </a:r>
            <a:r>
              <a:rPr lang="en-US" dirty="0"/>
              <a:t> lower cost than </a:t>
            </a:r>
            <a:r>
              <a:rPr lang="en-US" dirty="0" err="1"/>
              <a:t>OpenAI</a:t>
            </a:r>
            <a:endParaRPr lang="en-US" dirty="0"/>
          </a:p>
          <a:p>
            <a:r>
              <a:rPr lang="en-US" dirty="0" err="1"/>
              <a:t>Ollama</a:t>
            </a:r>
            <a:r>
              <a:rPr lang="en-US" dirty="0"/>
              <a:t> for 0 cost but with trade-offs</a:t>
            </a:r>
          </a:p>
          <a:p>
            <a:r>
              <a:rPr lang="en-US" dirty="0"/>
              <a:t>For this course, &lt; $25.</a:t>
            </a:r>
          </a:p>
          <a:p>
            <a:r>
              <a:rPr lang="en-US" dirty="0"/>
              <a:t>Cost is actually quite low comparing the need to maintain the hardware.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xmlns="" val="2974420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6045983A-AE9C-4F80-BAD5-C87458E8EF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Ed Donner </a:t>
            </a:r>
            <a:r>
              <a:rPr lang="en-US" dirty="0" err="1"/>
              <a:t>github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CCC6298C-5613-4B3B-B4DF-1038AEFB40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SG" dirty="0" smtClean="0"/>
              <a:t>MP Morgan</a:t>
            </a:r>
          </a:p>
          <a:p>
            <a:r>
              <a:rPr lang="en-SG" dirty="0" smtClean="0"/>
              <a:t>London -&gt; Tokyo -&gt; New York</a:t>
            </a:r>
          </a:p>
          <a:p>
            <a:r>
              <a:rPr lang="en-SG" dirty="0" smtClean="0"/>
              <a:t>Company Nebula</a:t>
            </a:r>
          </a:p>
          <a:p>
            <a:r>
              <a:rPr lang="en-SG" dirty="0" smtClean="0"/>
              <a:t>Company </a:t>
            </a:r>
            <a:r>
              <a:rPr lang="en-SG" dirty="0" err="1" smtClean="0"/>
              <a:t>nTech</a:t>
            </a:r>
            <a:r>
              <a:rPr lang="en-SG" dirty="0" smtClean="0"/>
              <a:t> acquired.</a:t>
            </a:r>
          </a:p>
          <a:p>
            <a:r>
              <a:rPr lang="en-SG" dirty="0" smtClean="0"/>
              <a:t>LLM Engineering Course</a:t>
            </a:r>
          </a:p>
          <a:p>
            <a:r>
              <a:rPr lang="en-SG" dirty="0" smtClean="0"/>
              <a:t>Connect </a:t>
            </a:r>
            <a:r>
              <a:rPr lang="en-SG" dirty="0"/>
              <a:t>via </a:t>
            </a:r>
            <a:r>
              <a:rPr lang="en-SG" dirty="0" err="1"/>
              <a:t>linkedin</a:t>
            </a:r>
            <a:endParaRPr lang="en-SG" dirty="0"/>
          </a:p>
          <a:p>
            <a:r>
              <a:rPr lang="en-SG" dirty="0"/>
              <a:t>https://github.com/ed-donner/agents</a:t>
            </a:r>
          </a:p>
        </p:txBody>
      </p:sp>
    </p:spTree>
    <p:extLst>
      <p:ext uri="{BB962C8B-B14F-4D97-AF65-F5344CB8AC3E}">
        <p14:creationId xmlns:p14="http://schemas.microsoft.com/office/powerpoint/2010/main" xmlns="" val="101163942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8961C0A3-BC63-465F-B6DD-DC8A661193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Setup on Windows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94779657-1A4C-475F-A0A0-2765B8EB38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 err="1" smtClean="0"/>
              <a:t>Gotchas</a:t>
            </a:r>
            <a:r>
              <a:rPr lang="en-US" dirty="0" smtClean="0"/>
              <a:t> for Windows</a:t>
            </a:r>
          </a:p>
          <a:p>
            <a:pPr lvl="1"/>
            <a:r>
              <a:rPr lang="en-US" dirty="0" smtClean="0"/>
              <a:t>Filename length limit</a:t>
            </a:r>
          </a:p>
          <a:p>
            <a:pPr lvl="1"/>
            <a:r>
              <a:rPr lang="en-SG" dirty="0" smtClean="0"/>
              <a:t>Antivirus</a:t>
            </a:r>
            <a:endParaRPr lang="en-US" dirty="0" smtClean="0"/>
          </a:p>
          <a:p>
            <a:r>
              <a:rPr lang="en-US" dirty="0" err="1" smtClean="0"/>
              <a:t>Git</a:t>
            </a:r>
            <a:r>
              <a:rPr lang="en-US" dirty="0" smtClean="0"/>
              <a:t> </a:t>
            </a:r>
            <a:r>
              <a:rPr lang="en-US" dirty="0"/>
              <a:t>clone repo</a:t>
            </a:r>
          </a:p>
          <a:p>
            <a:r>
              <a:rPr lang="en-US" dirty="0"/>
              <a:t>Install cursor (</a:t>
            </a:r>
            <a:r>
              <a:rPr lang="en-US" dirty="0">
                <a:hlinkClick r:id="rId2"/>
              </a:rPr>
              <a:t>https://cursor.com/download</a:t>
            </a:r>
            <a:r>
              <a:rPr lang="en-US" dirty="0"/>
              <a:t>)</a:t>
            </a:r>
          </a:p>
          <a:p>
            <a:r>
              <a:rPr lang="en-US" dirty="0" err="1"/>
              <a:t>Uv</a:t>
            </a:r>
            <a:r>
              <a:rPr lang="en-US" dirty="0"/>
              <a:t> package manager </a:t>
            </a:r>
            <a:r>
              <a:rPr lang="en-US" dirty="0">
                <a:hlinkClick r:id="rId3"/>
              </a:rPr>
              <a:t>(https://docs.astral.sh/uv</a:t>
            </a:r>
            <a:r>
              <a:rPr lang="en-US" dirty="0" smtClean="0">
                <a:hlinkClick r:id="rId3"/>
              </a:rPr>
              <a:t>/</a:t>
            </a:r>
            <a:r>
              <a:rPr lang="en-US" dirty="0" smtClean="0"/>
              <a:t>)</a:t>
            </a:r>
          </a:p>
          <a:p>
            <a:pPr lvl="1"/>
            <a:r>
              <a:rPr lang="en-SG" dirty="0" smtClean="0"/>
              <a:t>Astral company</a:t>
            </a:r>
          </a:p>
          <a:p>
            <a:pPr lvl="1"/>
            <a:r>
              <a:rPr lang="en-SG" dirty="0" err="1" smtClean="0"/>
              <a:t>uv</a:t>
            </a:r>
            <a:r>
              <a:rPr lang="en-SG" dirty="0" smtClean="0"/>
              <a:t> –version to check if install.</a:t>
            </a:r>
            <a:endParaRPr lang="en-US" dirty="0"/>
          </a:p>
          <a:p>
            <a:pPr lvl="1"/>
            <a:r>
              <a:rPr lang="en-US" dirty="0" err="1"/>
              <a:t>uv</a:t>
            </a:r>
            <a:r>
              <a:rPr lang="en-US" dirty="0"/>
              <a:t> sync in Cursor Terminal </a:t>
            </a:r>
            <a:r>
              <a:rPr lang="en-US" dirty="0" smtClean="0"/>
              <a:t>(fast. Take much less than an hour)</a:t>
            </a:r>
          </a:p>
          <a:p>
            <a:pPr lvl="2"/>
            <a:r>
              <a:rPr lang="en-SG" dirty="0" smtClean="0"/>
              <a:t>It creates an virtual </a:t>
            </a:r>
            <a:r>
              <a:rPr lang="en-SG" dirty="0" err="1" smtClean="0"/>
              <a:t>env</a:t>
            </a:r>
            <a:r>
              <a:rPr lang="en-SG" dirty="0" smtClean="0"/>
              <a:t> (.</a:t>
            </a:r>
            <a:r>
              <a:rPr lang="en-SG" dirty="0" err="1" smtClean="0"/>
              <a:t>venv</a:t>
            </a:r>
            <a:r>
              <a:rPr lang="en-SG" dirty="0" smtClean="0"/>
              <a:t>)</a:t>
            </a:r>
          </a:p>
          <a:p>
            <a:pPr lvl="2"/>
            <a:r>
              <a:rPr lang="en-SG" dirty="0" smtClean="0"/>
              <a:t>Use </a:t>
            </a:r>
            <a:r>
              <a:rPr lang="en-SG" dirty="0" err="1" smtClean="0"/>
              <a:t>uv</a:t>
            </a:r>
            <a:r>
              <a:rPr lang="en-SG" dirty="0" smtClean="0"/>
              <a:t> run instead of python run</a:t>
            </a:r>
            <a:endParaRPr lang="en-US" dirty="0"/>
          </a:p>
          <a:p>
            <a:r>
              <a:rPr lang="en-US" dirty="0"/>
              <a:t>Get API key in Open-AI or other </a:t>
            </a:r>
            <a:r>
              <a:rPr lang="en-US" dirty="0" smtClean="0"/>
              <a:t>alternative</a:t>
            </a:r>
          </a:p>
          <a:p>
            <a:pPr lvl="1"/>
            <a:r>
              <a:rPr lang="en-SG" dirty="0" smtClean="0"/>
              <a:t>Billing</a:t>
            </a:r>
          </a:p>
          <a:p>
            <a:pPr lvl="1"/>
            <a:r>
              <a:rPr lang="en-SG" dirty="0" smtClean="0"/>
              <a:t>Secret key</a:t>
            </a:r>
          </a:p>
          <a:p>
            <a:r>
              <a:rPr lang="en-SG" dirty="0" smtClean="0"/>
              <a:t>Create .</a:t>
            </a:r>
            <a:r>
              <a:rPr lang="en-SG" dirty="0" err="1" smtClean="0"/>
              <a:t>env</a:t>
            </a:r>
            <a:r>
              <a:rPr lang="en-SG" dirty="0" smtClean="0"/>
              <a:t> file to put in secret key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xmlns="" val="42480334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 smtClean="0"/>
              <a:t>Use </a:t>
            </a:r>
            <a:r>
              <a:rPr lang="en-SG" dirty="0" err="1" smtClean="0"/>
              <a:t>ollama</a:t>
            </a:r>
            <a:r>
              <a:rPr lang="en-SG" dirty="0" smtClean="0"/>
              <a:t> instead of </a:t>
            </a:r>
            <a:r>
              <a:rPr lang="en-SG" dirty="0" err="1" smtClean="0"/>
              <a:t>OpenAI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SG" dirty="0" err="1" smtClean="0"/>
              <a:t>Ollama</a:t>
            </a:r>
            <a:r>
              <a:rPr lang="en-SG" dirty="0" smtClean="0"/>
              <a:t> –version: check if installed</a:t>
            </a:r>
          </a:p>
          <a:p>
            <a:r>
              <a:rPr lang="en-SG" dirty="0" err="1" smtClean="0"/>
              <a:t>Ollama</a:t>
            </a:r>
            <a:r>
              <a:rPr lang="en-SG" dirty="0" smtClean="0"/>
              <a:t> run llama3.2: download model to your computer</a:t>
            </a:r>
          </a:p>
          <a:p>
            <a:r>
              <a:rPr lang="en-SG" dirty="0" err="1" smtClean="0"/>
              <a:t>Ollama</a:t>
            </a:r>
            <a:r>
              <a:rPr lang="en-SG" dirty="0" smtClean="0"/>
              <a:t> </a:t>
            </a:r>
          </a:p>
          <a:p>
            <a:pPr lvl="1"/>
            <a:r>
              <a:rPr lang="en-SG" dirty="0" smtClean="0"/>
              <a:t>llama3.2: (2GB)</a:t>
            </a:r>
          </a:p>
          <a:p>
            <a:pPr lvl="2"/>
            <a:r>
              <a:rPr lang="en-SG" dirty="0" smtClean="0"/>
              <a:t>3B parameters</a:t>
            </a:r>
          </a:p>
          <a:p>
            <a:pPr lvl="1"/>
            <a:r>
              <a:rPr lang="en-SG" dirty="0" smtClean="0"/>
              <a:t>Llama3.2:1b (1.3GB)</a:t>
            </a:r>
          </a:p>
          <a:p>
            <a:pPr lvl="2"/>
            <a:r>
              <a:rPr lang="en-SG" dirty="0" smtClean="0"/>
              <a:t>1B parameters</a:t>
            </a:r>
          </a:p>
          <a:p>
            <a:r>
              <a:rPr lang="en-SG" dirty="0" smtClean="0"/>
              <a:t>Model=mistral (by Mistral AI)</a:t>
            </a:r>
          </a:p>
          <a:p>
            <a:pPr lvl="1"/>
            <a:r>
              <a:rPr lang="en-SG" dirty="0" smtClean="0"/>
              <a:t>Mistral (4.4GB)</a:t>
            </a:r>
          </a:p>
          <a:p>
            <a:pPr lvl="2"/>
            <a:r>
              <a:rPr lang="en-SG" dirty="0" smtClean="0"/>
              <a:t>7B parameters</a:t>
            </a:r>
          </a:p>
          <a:p>
            <a:endParaRPr lang="en-SG" dirty="0" smtClean="0"/>
          </a:p>
          <a:p>
            <a:pPr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SG" dirty="0" smtClean="0"/>
              <a:t>Cursor has issues opening </a:t>
            </a:r>
            <a:r>
              <a:rPr lang="en-SG" dirty="0" err="1" smtClean="0"/>
              <a:t>ipynb</a:t>
            </a:r>
            <a:r>
              <a:rPr lang="en-SG" dirty="0" smtClean="0"/>
              <a:t>, Terminal. Use VSC instead.</a:t>
            </a:r>
          </a:p>
          <a:p>
            <a:r>
              <a:rPr lang="en-SG" dirty="0" smtClean="0"/>
              <a:t>Install </a:t>
            </a:r>
            <a:r>
              <a:rPr lang="en-SG" dirty="0" err="1" smtClean="0"/>
              <a:t>Jupyter</a:t>
            </a:r>
            <a:r>
              <a:rPr lang="en-SG" dirty="0" smtClean="0"/>
              <a:t> extension for VSC for </a:t>
            </a:r>
            <a:r>
              <a:rPr lang="en-SG" dirty="0" err="1" smtClean="0"/>
              <a:t>ipynb</a:t>
            </a:r>
            <a:endParaRPr lang="en-US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49E2218F-540B-47C2-9786-8508B41A6C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Agentic AI framework</a:t>
            </a:r>
            <a:endParaRPr lang="en-SG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xmlns="" id="{FAD2DB17-1942-4E63-A5CC-02C3F178B16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xmlns="" val="4023378947"/>
              </p:ext>
            </p:extLst>
          </p:nvPr>
        </p:nvGraphicFramePr>
        <p:xfrm>
          <a:off x="838200" y="1825625"/>
          <a:ext cx="10515600" cy="1752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xmlns="" val="1942258773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xmlns="" val="90404814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S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8453084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No </a:t>
                      </a:r>
                      <a:r>
                        <a:rPr lang="en-US" dirty="0" smtClean="0"/>
                        <a:t>framework (Week1)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 smtClean="0"/>
                        <a:t>Anthropic</a:t>
                      </a:r>
                      <a:r>
                        <a:rPr lang="en-US" baseline="0" dirty="0" smtClean="0"/>
                        <a:t> </a:t>
                      </a:r>
                      <a:r>
                        <a:rPr lang="en-US" dirty="0" smtClean="0"/>
                        <a:t>MCP (Week6)</a:t>
                      </a:r>
                    </a:p>
                    <a:p>
                      <a:r>
                        <a:rPr lang="en-SG" dirty="0" err="1" smtClean="0"/>
                        <a:t>Opensource</a:t>
                      </a:r>
                      <a:r>
                        <a:rPr lang="en-SG" dirty="0" smtClean="0"/>
                        <a:t>. Standard interface</a:t>
                      </a:r>
                      <a:endParaRPr lang="en-S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862806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OpenAI</a:t>
                      </a:r>
                      <a:r>
                        <a:rPr lang="en-US" dirty="0"/>
                        <a:t> Agents </a:t>
                      </a:r>
                      <a:r>
                        <a:rPr lang="en-US" dirty="0" smtClean="0"/>
                        <a:t>SDK (Week2)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Crew </a:t>
                      </a:r>
                      <a:r>
                        <a:rPr lang="en-US" dirty="0" smtClean="0"/>
                        <a:t>AI (Week3)</a:t>
                      </a:r>
                      <a:endParaRPr lang="en-S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11660412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 smtClean="0"/>
                        <a:t>LangGraph</a:t>
                      </a:r>
                      <a:r>
                        <a:rPr lang="en-US" dirty="0" smtClean="0"/>
                        <a:t> (Week4)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MS </a:t>
                      </a:r>
                      <a:r>
                        <a:rPr lang="en-US" dirty="0" err="1" smtClean="0"/>
                        <a:t>AutoGen</a:t>
                      </a:r>
                      <a:r>
                        <a:rPr lang="en-US" dirty="0" smtClean="0"/>
                        <a:t> (Week5)</a:t>
                      </a:r>
                      <a:endParaRPr lang="en-S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199598687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xmlns="" val="38196354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53F2270C-C64A-4468-8C76-CD7C162A3E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56F7D9D1-F7C9-431A-9F2F-D27874872F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Tools is just json</a:t>
            </a:r>
          </a:p>
          <a:p>
            <a:r>
              <a:rPr lang="en-US" dirty="0"/>
              <a:t>Use for loop and if statements to handle different tools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xmlns="" val="34590508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 err="1" smtClean="0"/>
              <a:t>AutoGen</a:t>
            </a:r>
            <a:r>
              <a:rPr lang="en-SG" dirty="0" smtClean="0"/>
              <a:t> (AG)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SG" dirty="0" smtClean="0"/>
              <a:t>From Microsoft</a:t>
            </a:r>
          </a:p>
          <a:p>
            <a:r>
              <a:rPr lang="en-SG" dirty="0" smtClean="0"/>
              <a:t>Solve issue with </a:t>
            </a:r>
            <a:r>
              <a:rPr lang="en-SG" dirty="0" err="1" smtClean="0"/>
              <a:t>observability</a:t>
            </a:r>
            <a:r>
              <a:rPr lang="en-SG" dirty="0" smtClean="0"/>
              <a:t> (do u know what is going on)</a:t>
            </a:r>
          </a:p>
          <a:p>
            <a:r>
              <a:rPr lang="en-SG" dirty="0" smtClean="0"/>
              <a:t>Version: 0.2 -&gt; 0.4 (Jan2025) -&gt; 0.5.1</a:t>
            </a:r>
          </a:p>
          <a:p>
            <a:r>
              <a:rPr lang="en-SG" dirty="0" smtClean="0"/>
              <a:t>Drama:</a:t>
            </a:r>
          </a:p>
          <a:p>
            <a:pPr lvl="1"/>
            <a:r>
              <a:rPr lang="en-SG" dirty="0" smtClean="0"/>
              <a:t>MS engineer left and join Google.</a:t>
            </a:r>
          </a:p>
          <a:p>
            <a:pPr lvl="1"/>
            <a:r>
              <a:rPr lang="en-SG" dirty="0" smtClean="0"/>
              <a:t>Create AG2 (</a:t>
            </a:r>
            <a:r>
              <a:rPr lang="en-SG" dirty="0" err="1" smtClean="0"/>
              <a:t>AgentOS</a:t>
            </a:r>
            <a:r>
              <a:rPr lang="en-SG" dirty="0" smtClean="0"/>
              <a:t> 2 compatible with </a:t>
            </a:r>
            <a:r>
              <a:rPr lang="en-SG" dirty="0" err="1" smtClean="0"/>
              <a:t>AutoGen</a:t>
            </a:r>
            <a:r>
              <a:rPr lang="en-SG" dirty="0" smtClean="0"/>
              <a:t> 0.2)</a:t>
            </a:r>
          </a:p>
          <a:p>
            <a:pPr lvl="1"/>
            <a:r>
              <a:rPr lang="en-SG" dirty="0" smtClean="0"/>
              <a:t>Discord, many forum, pip install </a:t>
            </a:r>
            <a:r>
              <a:rPr lang="en-SG" dirty="0" err="1" smtClean="0"/>
              <a:t>autogen</a:t>
            </a:r>
            <a:r>
              <a:rPr lang="en-SG" dirty="0" smtClean="0"/>
              <a:t> is AG2</a:t>
            </a:r>
            <a:endParaRPr lang="en-US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SG" dirty="0" err="1" smtClean="0"/>
              <a:t>AutoGen</a:t>
            </a:r>
            <a:r>
              <a:rPr lang="en-SG" dirty="0" smtClean="0"/>
              <a:t> Core (runtime) -&gt; focus on these 2</a:t>
            </a:r>
          </a:p>
          <a:p>
            <a:r>
              <a:rPr lang="en-SG" dirty="0" err="1" smtClean="0"/>
              <a:t>AutoGen</a:t>
            </a:r>
            <a:r>
              <a:rPr lang="en-SG" dirty="0" smtClean="0"/>
              <a:t> </a:t>
            </a:r>
            <a:r>
              <a:rPr lang="en-SG" dirty="0" err="1" smtClean="0"/>
              <a:t>AgentChat</a:t>
            </a:r>
            <a:r>
              <a:rPr lang="en-SG" dirty="0" smtClean="0"/>
              <a:t> (lightweight) -&gt; focus on this more</a:t>
            </a:r>
          </a:p>
          <a:p>
            <a:r>
              <a:rPr lang="en-SG" dirty="0" smtClean="0"/>
              <a:t>Studio (research, </a:t>
            </a:r>
            <a:r>
              <a:rPr lang="en-SG" dirty="0" err="1" smtClean="0"/>
              <a:t>opensource</a:t>
            </a:r>
            <a:r>
              <a:rPr lang="en-SG" dirty="0" smtClean="0"/>
              <a:t> contribution)</a:t>
            </a:r>
          </a:p>
          <a:p>
            <a:r>
              <a:rPr lang="en-SG" dirty="0" err="1" smtClean="0"/>
              <a:t>Magentic</a:t>
            </a:r>
            <a:r>
              <a:rPr lang="en-SG" dirty="0" smtClean="0"/>
              <a:t> One CLI</a:t>
            </a:r>
            <a:endParaRPr lang="en-US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SG" dirty="0" smtClean="0"/>
              <a:t>Models: LLM</a:t>
            </a:r>
          </a:p>
          <a:p>
            <a:r>
              <a:rPr lang="en-SG" dirty="0" smtClean="0"/>
              <a:t>Messages: events, </a:t>
            </a:r>
            <a:r>
              <a:rPr lang="en-SG" dirty="0" err="1" smtClean="0"/>
              <a:t>msg</a:t>
            </a:r>
            <a:r>
              <a:rPr lang="en-SG" dirty="0" smtClean="0"/>
              <a:t> bet LLM</a:t>
            </a:r>
          </a:p>
          <a:p>
            <a:r>
              <a:rPr lang="en-SG" dirty="0" smtClean="0"/>
              <a:t>Agents: carry out task</a:t>
            </a:r>
          </a:p>
          <a:p>
            <a:r>
              <a:rPr lang="en-SG" dirty="0" smtClean="0"/>
              <a:t>Teams: group of agent</a:t>
            </a:r>
            <a:endParaRPr lang="en-US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 smtClean="0"/>
              <a:t>Model Control Protocol (MCP)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SG" dirty="0" smtClean="0"/>
              <a:t>From </a:t>
            </a:r>
            <a:r>
              <a:rPr lang="en-SG" dirty="0" err="1" smtClean="0"/>
              <a:t>Anthropic</a:t>
            </a:r>
            <a:endParaRPr lang="en-SG" dirty="0" smtClean="0"/>
          </a:p>
          <a:p>
            <a:r>
              <a:rPr lang="en-SG" dirty="0" smtClean="0"/>
              <a:t>Agreement instead of code.</a:t>
            </a:r>
          </a:p>
          <a:p>
            <a:r>
              <a:rPr lang="en-SG" dirty="0" smtClean="0"/>
              <a:t>Similar in concept to </a:t>
            </a:r>
            <a:r>
              <a:rPr lang="en-SG" smtClean="0"/>
              <a:t>LangChain</a:t>
            </a:r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SG" dirty="0" smtClean="0"/>
              <a:t>Trying to use VSC instead of Cursor (more AI integration, but may be buggy).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 smtClean="0"/>
              <a:t>1_lab1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 smtClean="0"/>
              <a:t>load_dotenv</a:t>
            </a:r>
            <a:r>
              <a:rPr lang="en-US" dirty="0" smtClean="0"/>
              <a:t>(override=True): load .</a:t>
            </a:r>
            <a:r>
              <a:rPr lang="en-US" dirty="0" err="1" smtClean="0"/>
              <a:t>env</a:t>
            </a:r>
            <a:r>
              <a:rPr lang="en-US" dirty="0" smtClean="0"/>
              <a:t> which has the </a:t>
            </a:r>
            <a:r>
              <a:rPr lang="en-US" dirty="0" err="1" smtClean="0"/>
              <a:t>api_key</a:t>
            </a:r>
            <a:endParaRPr lang="en-US" dirty="0" smtClean="0"/>
          </a:p>
          <a:p>
            <a:r>
              <a:rPr lang="en-SG" dirty="0" err="1" smtClean="0"/>
              <a:t>OpenAI</a:t>
            </a:r>
            <a:r>
              <a:rPr lang="en-SG" dirty="0" smtClean="0"/>
              <a:t>() is a generic function provided by </a:t>
            </a:r>
            <a:r>
              <a:rPr lang="en-SG" dirty="0" err="1" smtClean="0"/>
              <a:t>OpenAI</a:t>
            </a:r>
            <a:r>
              <a:rPr lang="en-SG" dirty="0" smtClean="0"/>
              <a:t>. Can use it to call other AI platform like </a:t>
            </a:r>
            <a:r>
              <a:rPr lang="en-SG" dirty="0" err="1" smtClean="0"/>
              <a:t>ollama</a:t>
            </a:r>
            <a:r>
              <a:rPr lang="en-SG" dirty="0" smtClean="0"/>
              <a:t>.</a:t>
            </a:r>
          </a:p>
          <a:p>
            <a:r>
              <a:rPr lang="en-SG" dirty="0" smtClean="0"/>
              <a:t>Messages is a list of </a:t>
            </a:r>
            <a:r>
              <a:rPr lang="en-SG" dirty="0" err="1" smtClean="0"/>
              <a:t>dict</a:t>
            </a:r>
            <a:r>
              <a:rPr lang="en-SG" dirty="0" smtClean="0"/>
              <a:t> with role (user) and content (question)</a:t>
            </a:r>
            <a:endParaRPr lang="en-US" dirty="0" smtClean="0"/>
          </a:p>
          <a:p>
            <a:r>
              <a:rPr lang="en-SG" dirty="0" smtClean="0"/>
              <a:t>Display(Markdown()) to display nicely.</a:t>
            </a:r>
            <a:endParaRPr lang="en-US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 smtClean="0"/>
              <a:t>6 week course</a:t>
            </a:r>
            <a:endParaRPr lang="en-US" dirty="0"/>
          </a:p>
        </p:txBody>
      </p:sp>
      <p:pic>
        <p:nvPicPr>
          <p:cNvPr id="1026" name="Picture 2" descr="C:\Users\kinda\Downloads\learncsc.udemy.com_course_the-complete-agentic-ai-engineering-course_learn_lecture_49770895.png"/>
          <p:cNvPicPr>
            <a:picLocks noGrp="1" noChangeAspect="1" noChangeArrowheads="1"/>
          </p:cNvPicPr>
          <p:nvPr>
            <p:ph idx="1"/>
          </p:nvPr>
        </p:nvPicPr>
        <p:blipFill>
          <a:blip r:embed="rId2"/>
          <a:srcRect/>
          <a:stretch>
            <a:fillRect/>
          </a:stretch>
        </p:blipFill>
        <p:spPr bwMode="auto">
          <a:xfrm>
            <a:off x="2673087" y="1825625"/>
            <a:ext cx="6845825" cy="4351338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 smtClean="0"/>
              <a:t>What is Agents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SG" dirty="0" smtClean="0"/>
              <a:t>AI Agents are programs where LLM outputs control the workflow.</a:t>
            </a:r>
          </a:p>
          <a:p>
            <a:r>
              <a:rPr lang="en-SG" dirty="0" err="1" smtClean="0"/>
              <a:t>Anthropic</a:t>
            </a:r>
            <a:r>
              <a:rPr lang="en-SG" dirty="0" smtClean="0"/>
              <a:t>:</a:t>
            </a:r>
          </a:p>
          <a:p>
            <a:pPr lvl="1"/>
            <a:r>
              <a:rPr lang="en-SG" dirty="0" smtClean="0"/>
              <a:t>Workflows</a:t>
            </a:r>
          </a:p>
          <a:p>
            <a:pPr lvl="1"/>
            <a:r>
              <a:rPr lang="en-SG" dirty="0" smtClean="0"/>
              <a:t>Agents</a:t>
            </a:r>
            <a:endParaRPr lang="en-US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 smtClean="0"/>
              <a:t>Workflow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SG" dirty="0" smtClean="0"/>
              <a:t>Prompt chaining</a:t>
            </a:r>
          </a:p>
          <a:p>
            <a:pPr lvl="1"/>
            <a:r>
              <a:rPr lang="en-SG" dirty="0" smtClean="0"/>
              <a:t>Work on each task very specific and very well.</a:t>
            </a:r>
          </a:p>
          <a:p>
            <a:r>
              <a:rPr lang="en-SG" dirty="0" smtClean="0"/>
              <a:t>Routing</a:t>
            </a:r>
          </a:p>
          <a:p>
            <a:r>
              <a:rPr lang="en-SG" dirty="0" smtClean="0"/>
              <a:t>Parallelization</a:t>
            </a:r>
          </a:p>
          <a:p>
            <a:r>
              <a:rPr lang="en-SG" dirty="0" smtClean="0"/>
              <a:t>Orchestrator-worker</a:t>
            </a:r>
          </a:p>
          <a:p>
            <a:r>
              <a:rPr lang="en-SG" dirty="0" smtClean="0"/>
              <a:t>Evaluator-optimizer</a:t>
            </a:r>
          </a:p>
          <a:p>
            <a:endParaRPr lang="en-SG" dirty="0" smtClean="0"/>
          </a:p>
          <a:p>
            <a:r>
              <a:rPr lang="en-SG" dirty="0" smtClean="0"/>
              <a:t>NB: Blue is our code, Yellow is LLM model</a:t>
            </a:r>
            <a:endParaRPr lang="en-US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 smtClean="0"/>
              <a:t>Agents </a:t>
            </a:r>
            <a:r>
              <a:rPr lang="en-SG" dirty="0" err="1" smtClean="0"/>
              <a:t>vs</a:t>
            </a:r>
            <a:r>
              <a:rPr lang="en-SG" dirty="0" smtClean="0"/>
              <a:t> workflow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SG" dirty="0" smtClean="0"/>
              <a:t>Agents is more flexible, more loose, more uncertainty, to solve more complex problem</a:t>
            </a:r>
          </a:p>
          <a:p>
            <a:pPr lvl="1"/>
            <a:r>
              <a:rPr lang="en-SG" dirty="0" smtClean="0"/>
              <a:t>How long it will take</a:t>
            </a:r>
          </a:p>
          <a:p>
            <a:pPr lvl="1"/>
            <a:r>
              <a:rPr lang="en-SG" dirty="0" smtClean="0"/>
              <a:t>How much it will cost in term of API call</a:t>
            </a:r>
          </a:p>
          <a:p>
            <a:pPr lvl="1"/>
            <a:r>
              <a:rPr lang="en-SG" dirty="0" smtClean="0"/>
              <a:t>Quality of output</a:t>
            </a:r>
            <a:endParaRPr lang="en-US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 smtClean="0"/>
              <a:t>Lesson 11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SG" dirty="0" err="1" smtClean="0"/>
              <a:t>Grok</a:t>
            </a:r>
            <a:r>
              <a:rPr lang="en-SG" dirty="0" smtClean="0"/>
              <a:t>: from X</a:t>
            </a:r>
          </a:p>
          <a:p>
            <a:r>
              <a:rPr lang="en-SG" dirty="0" err="1" smtClean="0"/>
              <a:t>Deepseek</a:t>
            </a:r>
            <a:r>
              <a:rPr lang="en-SG" dirty="0" smtClean="0"/>
              <a:t>: use 30% resources than other with similar results. Innovation. Not necessarily the best results.</a:t>
            </a:r>
            <a:endParaRPr lang="en-US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 smtClean="0"/>
              <a:t>Vellum </a:t>
            </a:r>
            <a:r>
              <a:rPr lang="en-SG" dirty="0" err="1" smtClean="0"/>
              <a:t>leaderboard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https://www.vellum.ai/llm-leaderboard</a:t>
            </a:r>
            <a:endParaRPr lang="en-US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 smtClean="0"/>
              <a:t>Set up API key from vendor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SG" dirty="0" smtClean="0"/>
              <a:t>Google: Google AI Studio: </a:t>
            </a:r>
            <a:r>
              <a:rPr lang="en-SG" dirty="0" smtClean="0">
                <a:hlinkClick r:id="rId2"/>
              </a:rPr>
              <a:t>https://aistudio.google.com/api-keys?project=test-441309</a:t>
            </a:r>
            <a:endParaRPr lang="en-SG" dirty="0" smtClean="0"/>
          </a:p>
          <a:p>
            <a:r>
              <a:rPr lang="en-SG" dirty="0" err="1" smtClean="0"/>
              <a:t>Anthropic</a:t>
            </a:r>
            <a:r>
              <a:rPr lang="en-SG" dirty="0" smtClean="0"/>
              <a:t>: Claude Console: https://platform.claude.com/dashboard</a:t>
            </a:r>
          </a:p>
          <a:p>
            <a:r>
              <a:rPr lang="en-SG" dirty="0" err="1" smtClean="0"/>
              <a:t>Deepseek</a:t>
            </a:r>
            <a:r>
              <a:rPr lang="en-SG" dirty="0" smtClean="0"/>
              <a:t>: </a:t>
            </a:r>
            <a:r>
              <a:rPr lang="en-SG" dirty="0" err="1" smtClean="0"/>
              <a:t>Deepseek</a:t>
            </a:r>
            <a:r>
              <a:rPr lang="en-SG" dirty="0" smtClean="0"/>
              <a:t> Platform: </a:t>
            </a:r>
            <a:r>
              <a:rPr lang="en-SG" dirty="0" smtClean="0">
                <a:hlinkClick r:id="rId3"/>
              </a:rPr>
              <a:t>https://platform.deepseek.com/api_keys</a:t>
            </a:r>
            <a:endParaRPr lang="en-SG" dirty="0" smtClean="0"/>
          </a:p>
          <a:p>
            <a:r>
              <a:rPr lang="en-SG" dirty="0" err="1" smtClean="0"/>
              <a:t>Groq</a:t>
            </a:r>
            <a:r>
              <a:rPr lang="en-SG" dirty="0" smtClean="0"/>
              <a:t>: </a:t>
            </a:r>
            <a:r>
              <a:rPr lang="en-SG" dirty="0" err="1" smtClean="0"/>
              <a:t>Groq</a:t>
            </a:r>
            <a:r>
              <a:rPr lang="en-SG" dirty="0" smtClean="0"/>
              <a:t> Cloud: https://console.groq.com/dashboard/metrics</a:t>
            </a:r>
            <a:endParaRPr lang="en-US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 smtClean="0"/>
              <a:t>Where to use role=system </a:t>
            </a:r>
            <a:r>
              <a:rPr lang="en-SG" dirty="0" err="1" smtClean="0"/>
              <a:t>vs</a:t>
            </a:r>
            <a:r>
              <a:rPr lang="en-SG" dirty="0" smtClean="0"/>
              <a:t> user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SG" dirty="0" smtClean="0"/>
              <a:t>Use system to define the rules of the game </a:t>
            </a:r>
            <a:r>
              <a:rPr lang="en-US" dirty="0" smtClean="0"/>
              <a:t>define </a:t>
            </a:r>
            <a:r>
              <a:rPr lang="en-US" b="1" dirty="0" smtClean="0"/>
              <a:t>how the model should behave overall</a:t>
            </a:r>
            <a:r>
              <a:rPr lang="en-US" dirty="0" smtClean="0"/>
              <a:t>. Set </a:t>
            </a:r>
            <a:r>
              <a:rPr lang="en-US" smtClean="0"/>
              <a:t>overall context.</a:t>
            </a:r>
            <a:endParaRPr lang="en-US" dirty="0" smtClean="0"/>
          </a:p>
          <a:p>
            <a:r>
              <a:rPr lang="en-SG" dirty="0" smtClean="0"/>
              <a:t>Use user for </a:t>
            </a:r>
            <a:r>
              <a:rPr lang="en-US" dirty="0" smtClean="0"/>
              <a:t>This is what the human asks.</a:t>
            </a:r>
            <a:endParaRPr lang="en-US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SG" dirty="0" smtClean="0"/>
              <a:t>Claude did not use </a:t>
            </a:r>
            <a:r>
              <a:rPr lang="en-SG" dirty="0" err="1" smtClean="0"/>
              <a:t>OpenAI</a:t>
            </a:r>
            <a:r>
              <a:rPr lang="en-SG" dirty="0" smtClean="0"/>
              <a:t>() call</a:t>
            </a:r>
          </a:p>
          <a:p>
            <a:r>
              <a:rPr lang="en-SG" dirty="0" err="1" smtClean="0"/>
              <a:t>OpenAI</a:t>
            </a:r>
            <a:r>
              <a:rPr lang="en-SG" dirty="0" smtClean="0"/>
              <a:t>() is a lightweight library wrapper that issues http call.</a:t>
            </a:r>
          </a:p>
          <a:p>
            <a:r>
              <a:rPr lang="en-SG" dirty="0" smtClean="0"/>
              <a:t>Other vendor just need to switch endpoint (</a:t>
            </a:r>
            <a:r>
              <a:rPr lang="en-SG" dirty="0" err="1" smtClean="0"/>
              <a:t>base_url</a:t>
            </a:r>
            <a:r>
              <a:rPr lang="en-SG" dirty="0" smtClean="0"/>
              <a:t>=)</a:t>
            </a:r>
          </a:p>
          <a:p>
            <a:r>
              <a:rPr lang="en-SG" dirty="0" smtClean="0"/>
              <a:t>Ollama3.3 is too large for home computer (70B)</a:t>
            </a:r>
          </a:p>
          <a:p>
            <a:r>
              <a:rPr lang="en-SG" dirty="0" smtClean="0"/>
              <a:t>Ollama3.2 gives an incomplete answer.</a:t>
            </a:r>
          </a:p>
          <a:p>
            <a:r>
              <a:rPr lang="en-SG" dirty="0" smtClean="0"/>
              <a:t>F””” for multiple lines.</a:t>
            </a:r>
            <a:endParaRPr lang="en-US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 err="1" smtClean="0"/>
              <a:t>Agentic</a:t>
            </a:r>
            <a:r>
              <a:rPr lang="en-SG" dirty="0" smtClean="0"/>
              <a:t> AI </a:t>
            </a:r>
            <a:r>
              <a:rPr lang="en-SG" dirty="0" err="1" smtClean="0"/>
              <a:t>fw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SG" dirty="0" err="1" smtClean="0"/>
              <a:t>Langgraph</a:t>
            </a:r>
            <a:r>
              <a:rPr lang="en-SG" dirty="0" smtClean="0"/>
              <a:t> and </a:t>
            </a:r>
            <a:r>
              <a:rPr lang="en-SG" dirty="0" err="1" smtClean="0"/>
              <a:t>autogen</a:t>
            </a:r>
            <a:r>
              <a:rPr lang="en-SG" dirty="0" smtClean="0"/>
              <a:t> is more heavyweight. Steeper learning curve</a:t>
            </a:r>
            <a:endParaRPr lang="en-US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 smtClean="0"/>
              <a:t>resources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SG" dirty="0" smtClean="0"/>
              <a:t>Extra data</a:t>
            </a:r>
          </a:p>
          <a:p>
            <a:r>
              <a:rPr lang="en-SG" dirty="0" smtClean="0"/>
              <a:t>Technique like RAG (LLM course)</a:t>
            </a:r>
          </a:p>
          <a:p>
            <a:pPr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 smtClean="0"/>
              <a:t>tool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SG" dirty="0" smtClean="0"/>
              <a:t>Query database</a:t>
            </a:r>
          </a:p>
          <a:p>
            <a:r>
              <a:rPr lang="en-SG" dirty="0" smtClean="0"/>
              <a:t>Message other LLM</a:t>
            </a:r>
          </a:p>
          <a:p>
            <a:r>
              <a:rPr lang="en-SG" dirty="0" smtClean="0"/>
              <a:t>Access computer stuff</a:t>
            </a:r>
          </a:p>
          <a:p>
            <a:r>
              <a:rPr lang="en-SG" dirty="0" smtClean="0"/>
              <a:t>Actually is u give LLM a set of tool. They will reply which tool they want to use.</a:t>
            </a:r>
            <a:endParaRPr lang="en-US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SG" dirty="0" err="1" smtClean="0"/>
              <a:t>Gradio</a:t>
            </a:r>
            <a:r>
              <a:rPr lang="en-SG" dirty="0" smtClean="0"/>
              <a:t> is for frontend engineer. Nice frontend tool</a:t>
            </a:r>
          </a:p>
          <a:p>
            <a:r>
              <a:rPr lang="en-SG" dirty="0" smtClean="0"/>
              <a:t>Take longer to load library.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 err="1" smtClean="0"/>
              <a:t>Pydantic</a:t>
            </a:r>
            <a:r>
              <a:rPr lang="en-SG" dirty="0" smtClean="0"/>
              <a:t> model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SG" dirty="0" smtClean="0"/>
              <a:t>Use class to describe a model</a:t>
            </a:r>
          </a:p>
          <a:p>
            <a:r>
              <a:rPr lang="en-SG" dirty="0" smtClean="0"/>
              <a:t>Structured output: require LLM to return output of that form</a:t>
            </a:r>
          </a:p>
          <a:p>
            <a:pPr lvl="1"/>
            <a:r>
              <a:rPr lang="en-SG" dirty="0" err="1" smtClean="0"/>
              <a:t>Response_format</a:t>
            </a:r>
            <a:r>
              <a:rPr lang="en-SG" dirty="0" smtClean="0"/>
              <a:t>=Evaluation class</a:t>
            </a:r>
          </a:p>
          <a:p>
            <a:pPr lvl="1"/>
            <a:r>
              <a:rPr lang="en-SG" dirty="0" smtClean="0"/>
              <a:t>parse</a:t>
            </a:r>
            <a:endParaRPr lang="en-US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 smtClean="0"/>
              <a:t>Pig </a:t>
            </a:r>
            <a:r>
              <a:rPr lang="en-SG" dirty="0" err="1" smtClean="0"/>
              <a:t>latin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SG" dirty="0" smtClean="0"/>
              <a:t>Word with letters rearranged. Most likely </a:t>
            </a:r>
            <a:r>
              <a:rPr lang="en-SG" smtClean="0"/>
              <a:t>cannot understand.</a:t>
            </a:r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D03C4D14-E308-479D-B763-229C75940C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Pushover Tool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523E285D-BFF9-413F-B3A7-50236E960A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http://pushover.net</a:t>
            </a:r>
            <a:endParaRPr lang="en-US" dirty="0"/>
          </a:p>
          <a:p>
            <a:r>
              <a:rPr lang="en-US" dirty="0"/>
              <a:t>Free</a:t>
            </a:r>
          </a:p>
          <a:p>
            <a:r>
              <a:rPr lang="en-US" dirty="0"/>
              <a:t>Send </a:t>
            </a:r>
            <a:r>
              <a:rPr lang="en-US" dirty="0" err="1"/>
              <a:t>sms</a:t>
            </a:r>
            <a:r>
              <a:rPr lang="en-US" dirty="0"/>
              <a:t> to </a:t>
            </a:r>
            <a:r>
              <a:rPr lang="en-US" dirty="0" err="1"/>
              <a:t>ur</a:t>
            </a:r>
            <a:r>
              <a:rPr lang="en-US" dirty="0"/>
              <a:t> </a:t>
            </a:r>
            <a:r>
              <a:rPr lang="en-US" dirty="0" smtClean="0"/>
              <a:t>phone</a:t>
            </a:r>
          </a:p>
          <a:p>
            <a:r>
              <a:rPr lang="en-SG" dirty="0" smtClean="0"/>
              <a:t>Need to install a app on </a:t>
            </a:r>
            <a:r>
              <a:rPr lang="en-SG" dirty="0" err="1" smtClean="0"/>
              <a:t>ur</a:t>
            </a:r>
            <a:r>
              <a:rPr lang="en-SG" dirty="0" smtClean="0"/>
              <a:t> phone. 30 day trials</a:t>
            </a:r>
          </a:p>
          <a:p>
            <a:r>
              <a:rPr lang="en-SG" dirty="0" smtClean="0"/>
              <a:t>Can send 10k message free per month</a:t>
            </a:r>
          </a:p>
        </p:txBody>
      </p:sp>
    </p:spTree>
    <p:extLst>
      <p:ext uri="{BB962C8B-B14F-4D97-AF65-F5344CB8AC3E}">
        <p14:creationId xmlns:p14="http://schemas.microsoft.com/office/powerpoint/2010/main" xmlns="" val="246724246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 smtClean="0"/>
              <a:t>Week1 Day5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SG" dirty="0" smtClean="0"/>
              <a:t>Create tool to be used.</a:t>
            </a:r>
          </a:p>
          <a:p>
            <a:r>
              <a:rPr lang="en-SG" dirty="0" smtClean="0"/>
              <a:t>Give LLM the ability to use tool. Passed in as list of </a:t>
            </a:r>
            <a:r>
              <a:rPr lang="en-SG" dirty="0" err="1" smtClean="0"/>
              <a:t>json</a:t>
            </a:r>
            <a:endParaRPr lang="en-SG" dirty="0" smtClean="0"/>
          </a:p>
          <a:p>
            <a:r>
              <a:rPr lang="en-US" dirty="0" smtClean="0"/>
              <a:t>Python shortcut: </a:t>
            </a:r>
            <a:r>
              <a:rPr lang="en-US" dirty="0" err="1" smtClean="0"/>
              <a:t>globals</a:t>
            </a:r>
            <a:r>
              <a:rPr lang="en-US" dirty="0" smtClean="0"/>
              <a:t>()["</a:t>
            </a:r>
            <a:r>
              <a:rPr lang="en-US" dirty="0" err="1" smtClean="0"/>
              <a:t>record_unknown_question</a:t>
            </a:r>
            <a:r>
              <a:rPr lang="en-US" dirty="0" smtClean="0"/>
              <a:t>"]("this is a really hard question")</a:t>
            </a:r>
          </a:p>
          <a:p>
            <a:pPr lvl="1"/>
            <a:r>
              <a:rPr lang="en-SG" dirty="0" smtClean="0"/>
              <a:t>Call the function </a:t>
            </a:r>
            <a:r>
              <a:rPr lang="en-SG" dirty="0" err="1" smtClean="0"/>
              <a:t>record_unknown_question</a:t>
            </a:r>
            <a:r>
              <a:rPr lang="en-SG" dirty="0" smtClean="0"/>
              <a:t> in global scope with the function argument </a:t>
            </a:r>
            <a:r>
              <a:rPr lang="en-US" dirty="0" smtClean="0"/>
              <a:t>"this is a really hard question</a:t>
            </a:r>
            <a:r>
              <a:rPr lang="en-US" dirty="0" smtClean="0"/>
              <a:t>")</a:t>
            </a:r>
          </a:p>
          <a:p>
            <a:pPr lvl="1"/>
            <a:r>
              <a:rPr lang="en-SG" dirty="0" smtClean="0"/>
              <a:t>Prevent the need for the if statement</a:t>
            </a:r>
          </a:p>
          <a:p>
            <a:r>
              <a:rPr lang="en-SG" dirty="0" smtClean="0"/>
              <a:t>Repetition in prompting is never a bad thing. Increase the chance of getting what u want.</a:t>
            </a:r>
            <a:endParaRPr lang="en-US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SG" dirty="0" smtClean="0"/>
              <a:t>Package the chat as app.py to be deployed to </a:t>
            </a:r>
            <a:r>
              <a:rPr lang="en-SG" dirty="0" err="1" smtClean="0"/>
              <a:t>HuggingFace</a:t>
            </a:r>
            <a:r>
              <a:rPr lang="en-SG" dirty="0" smtClean="0"/>
              <a:t> as </a:t>
            </a:r>
            <a:r>
              <a:rPr lang="en-SG" dirty="0" err="1" smtClean="0"/>
              <a:t>ur</a:t>
            </a:r>
            <a:r>
              <a:rPr lang="en-SG" dirty="0" smtClean="0"/>
              <a:t> assistant for other to chat with u.</a:t>
            </a:r>
          </a:p>
          <a:p>
            <a:r>
              <a:rPr lang="en-SG" dirty="0" err="1" smtClean="0"/>
              <a:t>Uv</a:t>
            </a:r>
            <a:r>
              <a:rPr lang="en-SG" dirty="0" smtClean="0"/>
              <a:t> run app.py</a:t>
            </a:r>
          </a:p>
          <a:p>
            <a:r>
              <a:rPr lang="en-SG" dirty="0" smtClean="0"/>
              <a:t>Deploy on </a:t>
            </a:r>
            <a:r>
              <a:rPr lang="en-SG" dirty="0" err="1" smtClean="0"/>
              <a:t>Huggingface</a:t>
            </a:r>
            <a:r>
              <a:rPr lang="en-SG" dirty="0" smtClean="0"/>
              <a:t>. Require </a:t>
            </a:r>
            <a:r>
              <a:rPr lang="en-SG" dirty="0" err="1" smtClean="0"/>
              <a:t>openai</a:t>
            </a:r>
            <a:r>
              <a:rPr lang="en-SG" dirty="0" smtClean="0"/>
              <a:t> </a:t>
            </a:r>
            <a:r>
              <a:rPr lang="en-SG" dirty="0" err="1" smtClean="0"/>
              <a:t>api</a:t>
            </a:r>
            <a:r>
              <a:rPr lang="en-SG" dirty="0" smtClean="0"/>
              <a:t> key as secret.</a:t>
            </a:r>
          </a:p>
          <a:p>
            <a:r>
              <a:rPr lang="en-SG" dirty="0" err="1" smtClean="0"/>
              <a:t>Gradio</a:t>
            </a:r>
            <a:r>
              <a:rPr lang="en-SG" dirty="0" smtClean="0"/>
              <a:t> deploy</a:t>
            </a:r>
          </a:p>
          <a:p>
            <a:pPr lvl="1"/>
            <a:r>
              <a:rPr lang="en-SG" dirty="0" err="1" smtClean="0"/>
              <a:t>Cpu</a:t>
            </a:r>
            <a:r>
              <a:rPr lang="en-SG" dirty="0" smtClean="0"/>
              <a:t>-basic as Spaces hardware (free for </a:t>
            </a:r>
            <a:r>
              <a:rPr lang="en-SG" dirty="0" err="1" smtClean="0"/>
              <a:t>HuggingFace</a:t>
            </a:r>
            <a:r>
              <a:rPr lang="en-SG" dirty="0" smtClean="0"/>
              <a:t>)</a:t>
            </a:r>
            <a:endParaRPr lang="en-US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 smtClean="0"/>
              <a:t>Week1 Day5 extra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SG" dirty="0" smtClean="0"/>
              <a:t>For recent model like gpt-5.2, </a:t>
            </a:r>
            <a:r>
              <a:rPr lang="en-SG" dirty="0" err="1" smtClean="0"/>
              <a:t>uuse</a:t>
            </a:r>
            <a:r>
              <a:rPr lang="en-SG" dirty="0" smtClean="0"/>
              <a:t> </a:t>
            </a:r>
            <a:r>
              <a:rPr lang="en-SG" dirty="0" err="1" smtClean="0"/>
              <a:t>reasoning_efforts</a:t>
            </a:r>
            <a:r>
              <a:rPr lang="en-SG" dirty="0" smtClean="0"/>
              <a:t>=“none” for it not to </a:t>
            </a:r>
            <a:r>
              <a:rPr lang="en-SG" dirty="0" err="1" smtClean="0"/>
              <a:t>overthink</a:t>
            </a:r>
            <a:r>
              <a:rPr lang="en-SG" dirty="0" smtClean="0"/>
              <a:t> and use too much token.</a:t>
            </a:r>
          </a:p>
          <a:p>
            <a:r>
              <a:rPr lang="en-SG" dirty="0" smtClean="0"/>
              <a:t>Agent </a:t>
            </a:r>
            <a:r>
              <a:rPr lang="en-SG" dirty="0" err="1" smtClean="0"/>
              <a:t>ownself</a:t>
            </a:r>
            <a:r>
              <a:rPr lang="en-SG" dirty="0" smtClean="0"/>
              <a:t> plan to do list to perform a task, and strike off when it has completed.</a:t>
            </a:r>
          </a:p>
          <a:p>
            <a:r>
              <a:rPr lang="en-SG" dirty="0" smtClean="0"/>
              <a:t>Ollama-3.2 is not powerful to </a:t>
            </a:r>
            <a:r>
              <a:rPr lang="en-SG" smtClean="0"/>
              <a:t>do this.</a:t>
            </a:r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868</TotalTime>
  <Words>1114</Words>
  <Application>Microsoft Office PowerPoint</Application>
  <PresentationFormat>Custom</PresentationFormat>
  <Paragraphs>195</Paragraphs>
  <Slides>39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0" baseType="lpstr">
      <vt:lpstr>Office Theme</vt:lpstr>
      <vt:lpstr>AI Engineer Agentic Track</vt:lpstr>
      <vt:lpstr>n8n</vt:lpstr>
      <vt:lpstr>Course intro</vt:lpstr>
      <vt:lpstr>Lesson Plan</vt:lpstr>
      <vt:lpstr>Slide 5</vt:lpstr>
      <vt:lpstr>For who</vt:lpstr>
      <vt:lpstr>Tools</vt:lpstr>
      <vt:lpstr>API cost</vt:lpstr>
      <vt:lpstr>Ed Donner github</vt:lpstr>
      <vt:lpstr>Setup on Windows</vt:lpstr>
      <vt:lpstr>Use ollama instead of OpenAI</vt:lpstr>
      <vt:lpstr>Slide 12</vt:lpstr>
      <vt:lpstr>Agentic AI framework</vt:lpstr>
      <vt:lpstr>Slide 14</vt:lpstr>
      <vt:lpstr>AutoGen (AG)</vt:lpstr>
      <vt:lpstr>Slide 16</vt:lpstr>
      <vt:lpstr>Slide 17</vt:lpstr>
      <vt:lpstr>Model Control Protocol (MCP)</vt:lpstr>
      <vt:lpstr>Slide 19</vt:lpstr>
      <vt:lpstr>1_lab1</vt:lpstr>
      <vt:lpstr>6 week course</vt:lpstr>
      <vt:lpstr>What is Agents</vt:lpstr>
      <vt:lpstr>Workflow</vt:lpstr>
      <vt:lpstr>Agents vs workflow</vt:lpstr>
      <vt:lpstr>Lesson 11</vt:lpstr>
      <vt:lpstr>Vellum leaderboard</vt:lpstr>
      <vt:lpstr>Set up API key from vendor</vt:lpstr>
      <vt:lpstr>Where to use role=system vs user</vt:lpstr>
      <vt:lpstr>Slide 29</vt:lpstr>
      <vt:lpstr>Agentic AI fw</vt:lpstr>
      <vt:lpstr>resources</vt:lpstr>
      <vt:lpstr>tool</vt:lpstr>
      <vt:lpstr>Slide 33</vt:lpstr>
      <vt:lpstr>Pydantic model</vt:lpstr>
      <vt:lpstr>Pig latin</vt:lpstr>
      <vt:lpstr>Pushover Tool</vt:lpstr>
      <vt:lpstr>Week1 Day5</vt:lpstr>
      <vt:lpstr>Slide 38</vt:lpstr>
      <vt:lpstr>Week1 Day5 extra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Engineer Agentic Track</dc:title>
  <dc:creator>Huang Wenjun</dc:creator>
  <cp:lastModifiedBy>Wenjun Huang</cp:lastModifiedBy>
  <cp:revision>105</cp:revision>
  <dcterms:created xsi:type="dcterms:W3CDTF">2026-04-15T05:10:34Z</dcterms:created>
  <dcterms:modified xsi:type="dcterms:W3CDTF">2026-05-01T18:14:31Z</dcterms:modified>
</cp:coreProperties>
</file>